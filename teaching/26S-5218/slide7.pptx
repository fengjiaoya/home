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  <p:sldMasterId id="2147483698" r:id="rId2"/>
    <p:sldMasterId id="2147483751" r:id="rId3"/>
  </p:sldMasterIdLst>
  <p:notesMasterIdLst>
    <p:notesMasterId r:id="rId61"/>
  </p:notesMasterIdLst>
  <p:sldIdLst>
    <p:sldId id="894" r:id="rId4"/>
    <p:sldId id="1196" r:id="rId5"/>
    <p:sldId id="1160" r:id="rId6"/>
    <p:sldId id="293" r:id="rId7"/>
    <p:sldId id="310" r:id="rId8"/>
    <p:sldId id="316" r:id="rId9"/>
    <p:sldId id="317" r:id="rId10"/>
    <p:sldId id="318" r:id="rId11"/>
    <p:sldId id="319" r:id="rId12"/>
    <p:sldId id="321" r:id="rId13"/>
    <p:sldId id="323" r:id="rId14"/>
    <p:sldId id="325" r:id="rId15"/>
    <p:sldId id="327" r:id="rId16"/>
    <p:sldId id="329" r:id="rId17"/>
    <p:sldId id="330" r:id="rId18"/>
    <p:sldId id="331" r:id="rId19"/>
    <p:sldId id="332" r:id="rId20"/>
    <p:sldId id="334" r:id="rId21"/>
    <p:sldId id="338" r:id="rId22"/>
    <p:sldId id="339" r:id="rId23"/>
    <p:sldId id="340" r:id="rId24"/>
    <p:sldId id="341" r:id="rId25"/>
    <p:sldId id="342" r:id="rId26"/>
    <p:sldId id="343" r:id="rId27"/>
    <p:sldId id="345" r:id="rId28"/>
    <p:sldId id="344" r:id="rId29"/>
    <p:sldId id="354" r:id="rId30"/>
    <p:sldId id="355" r:id="rId31"/>
    <p:sldId id="356" r:id="rId32"/>
    <p:sldId id="357" r:id="rId33"/>
    <p:sldId id="1123" r:id="rId34"/>
    <p:sldId id="1124" r:id="rId35"/>
    <p:sldId id="1125" r:id="rId36"/>
    <p:sldId id="1126" r:id="rId37"/>
    <p:sldId id="1127" r:id="rId38"/>
    <p:sldId id="1128" r:id="rId39"/>
    <p:sldId id="1129" r:id="rId40"/>
    <p:sldId id="1130" r:id="rId41"/>
    <p:sldId id="361" r:id="rId42"/>
    <p:sldId id="362" r:id="rId43"/>
    <p:sldId id="363" r:id="rId44"/>
    <p:sldId id="364" r:id="rId45"/>
    <p:sldId id="365" r:id="rId46"/>
    <p:sldId id="366" r:id="rId47"/>
    <p:sldId id="367" r:id="rId48"/>
    <p:sldId id="1220" r:id="rId49"/>
    <p:sldId id="382" r:id="rId50"/>
    <p:sldId id="384" r:id="rId51"/>
    <p:sldId id="385" r:id="rId52"/>
    <p:sldId id="386" r:id="rId53"/>
    <p:sldId id="387" r:id="rId54"/>
    <p:sldId id="388" r:id="rId55"/>
    <p:sldId id="389" r:id="rId56"/>
    <p:sldId id="390" r:id="rId57"/>
    <p:sldId id="391" r:id="rId58"/>
    <p:sldId id="393" r:id="rId59"/>
    <p:sldId id="1219" r:id="rId6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64" autoAdjust="0"/>
    <p:restoredTop sz="95342" autoAdjust="0"/>
  </p:normalViewPr>
  <p:slideViewPr>
    <p:cSldViewPr snapToGrid="0">
      <p:cViewPr varScale="1">
        <p:scale>
          <a:sx n="121" d="100"/>
          <a:sy n="121" d="100"/>
        </p:scale>
        <p:origin x="1504" y="17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76956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3946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3.xml"/><Relationship Id="rId21" Type="http://schemas.openxmlformats.org/officeDocument/2006/relationships/slide" Target="slides/slide18.xml"/><Relationship Id="rId34" Type="http://schemas.openxmlformats.org/officeDocument/2006/relationships/slide" Target="slides/slide31.xml"/><Relationship Id="rId42" Type="http://schemas.openxmlformats.org/officeDocument/2006/relationships/slide" Target="slides/slide39.xml"/><Relationship Id="rId47" Type="http://schemas.openxmlformats.org/officeDocument/2006/relationships/slide" Target="slides/slide44.xml"/><Relationship Id="rId50" Type="http://schemas.openxmlformats.org/officeDocument/2006/relationships/slide" Target="slides/slide47.xml"/><Relationship Id="rId55" Type="http://schemas.openxmlformats.org/officeDocument/2006/relationships/slide" Target="slides/slide52.xml"/><Relationship Id="rId63" Type="http://schemas.openxmlformats.org/officeDocument/2006/relationships/viewProps" Target="viewProps.xml"/><Relationship Id="rId7" Type="http://schemas.openxmlformats.org/officeDocument/2006/relationships/slide" Target="slides/slide4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9" Type="http://schemas.openxmlformats.org/officeDocument/2006/relationships/slide" Target="slides/slide26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slide" Target="slides/slide34.xml"/><Relationship Id="rId40" Type="http://schemas.openxmlformats.org/officeDocument/2006/relationships/slide" Target="slides/slide37.xml"/><Relationship Id="rId45" Type="http://schemas.openxmlformats.org/officeDocument/2006/relationships/slide" Target="slides/slide42.xml"/><Relationship Id="rId53" Type="http://schemas.openxmlformats.org/officeDocument/2006/relationships/slide" Target="slides/slide50.xml"/><Relationship Id="rId58" Type="http://schemas.openxmlformats.org/officeDocument/2006/relationships/slide" Target="slides/slide55.xml"/><Relationship Id="rId5" Type="http://schemas.openxmlformats.org/officeDocument/2006/relationships/slide" Target="slides/slide2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slide" Target="slides/slide32.xml"/><Relationship Id="rId43" Type="http://schemas.openxmlformats.org/officeDocument/2006/relationships/slide" Target="slides/slide40.xml"/><Relationship Id="rId48" Type="http://schemas.openxmlformats.org/officeDocument/2006/relationships/slide" Target="slides/slide45.xml"/><Relationship Id="rId56" Type="http://schemas.openxmlformats.org/officeDocument/2006/relationships/slide" Target="slides/slide53.xml"/><Relationship Id="rId64" Type="http://schemas.openxmlformats.org/officeDocument/2006/relationships/theme" Target="theme/theme1.xml"/><Relationship Id="rId8" Type="http://schemas.openxmlformats.org/officeDocument/2006/relationships/slide" Target="slides/slide5.xml"/><Relationship Id="rId51" Type="http://schemas.openxmlformats.org/officeDocument/2006/relationships/slide" Target="slides/slide48.xml"/><Relationship Id="rId3" Type="http://schemas.openxmlformats.org/officeDocument/2006/relationships/slideMaster" Target="slideMasters/slideMaster3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slide" Target="slides/slide35.xml"/><Relationship Id="rId46" Type="http://schemas.openxmlformats.org/officeDocument/2006/relationships/slide" Target="slides/slide43.xml"/><Relationship Id="rId59" Type="http://schemas.openxmlformats.org/officeDocument/2006/relationships/slide" Target="slides/slide56.xml"/><Relationship Id="rId20" Type="http://schemas.openxmlformats.org/officeDocument/2006/relationships/slide" Target="slides/slide17.xml"/><Relationship Id="rId41" Type="http://schemas.openxmlformats.org/officeDocument/2006/relationships/slide" Target="slides/slide38.xml"/><Relationship Id="rId54" Type="http://schemas.openxmlformats.org/officeDocument/2006/relationships/slide" Target="slides/slide51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slide" Target="slides/slide33.xml"/><Relationship Id="rId49" Type="http://schemas.openxmlformats.org/officeDocument/2006/relationships/slide" Target="slides/slide46.xml"/><Relationship Id="rId57" Type="http://schemas.openxmlformats.org/officeDocument/2006/relationships/slide" Target="slides/slide54.xml"/><Relationship Id="rId10" Type="http://schemas.openxmlformats.org/officeDocument/2006/relationships/slide" Target="slides/slide7.xml"/><Relationship Id="rId31" Type="http://schemas.openxmlformats.org/officeDocument/2006/relationships/slide" Target="slides/slide28.xml"/><Relationship Id="rId44" Type="http://schemas.openxmlformats.org/officeDocument/2006/relationships/slide" Target="slides/slide41.xml"/><Relationship Id="rId52" Type="http://schemas.openxmlformats.org/officeDocument/2006/relationships/slide" Target="slides/slide49.xml"/><Relationship Id="rId60" Type="http://schemas.openxmlformats.org/officeDocument/2006/relationships/slide" Target="slides/slide57.xml"/><Relationship Id="rId65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9" Type="http://schemas.openxmlformats.org/officeDocument/2006/relationships/slide" Target="slides/slide3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BBD37736-4DC9-4C05-99A7-856CCC231FA5}" type="datetimeFigureOut">
              <a:rPr lang="en-US" smtClean="0"/>
              <a:pPr/>
              <a:t>2/12/26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Garamond" panose="02020404030301010803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Garamond" panose="02020404030301010803" pitchFamily="18" charset="0"/>
              </a:defRPr>
            </a:lvl1pPr>
          </a:lstStyle>
          <a:p>
            <a:fld id="{75BAD559-58E6-437A-A7FE-2E6C4DB0F6C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86956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4009DEB-A5ED-49DA-809F-4D64373B3F6A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702980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855480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082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6336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6155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886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073793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36314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7105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27016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39137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74459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FC5DC77-7C19-4AA4-9C27-39BEB7A3F62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262204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4A0DF96-F274-40C6-8142-9F4ED797B6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43312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041A47-FF51-43AB-82AD-45D840BE49A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348427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3CF883-9037-4649-B81A-A2FA8621590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5974913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2B5DE19-B031-43C7-B1CB-D71B5632CF3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752941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56815C0-C340-4A98-BF85-5972EC8AFB6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653645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49CC560-433A-44F2-A9BA-561058AC0F7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1757390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60B1B3B-3055-4F48-9C4D-6FFC21F54EF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1662978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93B097-3F3A-4075-9FDE-596C28BC585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173695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53CE724-AEEC-4C44-9D97-4D101E2740F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62490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896736E-E5E8-4C72-AB85-17B5117D4D0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97265056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, Conten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499F7B-DFAA-4C75-86B5-BF4240374D84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6577756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648200" y="1600200"/>
            <a:ext cx="40386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57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8200" y="3938588"/>
            <a:ext cx="40386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E3ECB5-3106-453D-BD8F-CA698256CE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793364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322898" y="2586346"/>
            <a:ext cx="498202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‹#›</a:t>
            </a:fld>
            <a:endParaRPr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9921054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tx1"/>
                </a:solidFill>
                <a:latin typeface="Garamond" panose="02020404030301010803" pitchFamily="18" charset="0"/>
                <a:cs typeface="Arial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308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‹#›</a:t>
            </a:fld>
            <a:endParaRPr dirty="0">
              <a:latin typeface="Garamond" panose="020204040303010108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210749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75520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059357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63220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27688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88640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09372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150340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01653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8451927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257224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71176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8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Garamond" panose="02020404030301010803" pitchFamily="18" charset="0"/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495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Garamond" panose="02020404030301010803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latin typeface="Garamond" panose="02020404030301010803" pitchFamily="18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latin typeface="Garamond" panose="02020404030301010803" pitchFamily="18" charset="0"/>
                <a:cs typeface="+mn-cs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latin typeface="Garamond" panose="02020404030301010803" pitchFamily="18" charset="0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E43C076-EA39-46E2-BCC8-6E8E15F3E8C3}" type="slidenum">
              <a:rPr lang="en-US" altLang="en-US" smtClean="0">
                <a:cs typeface="Arial" panose="020B06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en-US" altLang="en-US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9585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  <p:sldLayoutId id="2147483700" r:id="rId2"/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24" r:id="rId14"/>
    <p:sldLayoutId id="2147483725" r:id="rId15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Garamond" panose="02020404030301010803" pitchFamily="18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Garamond" panose="02020404030301010803" pitchFamily="18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Garamond" panose="02020404030301010803" pitchFamily="18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Garamond" panose="02020404030301010803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Garamond" panose="02020404030301010803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Garamond" panose="02020404030301010803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F7FD94-9782-41F3-B2A5-0D7934C54F0C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2/12/26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A9CEBD-06BE-4342-B09A-C7EEE98F9B13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45626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jpg"/><Relationship Id="rId13" Type="http://schemas.openxmlformats.org/officeDocument/2006/relationships/image" Target="../media/image16.jp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11" Type="http://schemas.openxmlformats.org/officeDocument/2006/relationships/image" Target="../media/image14.jpg"/><Relationship Id="rId5" Type="http://schemas.openxmlformats.org/officeDocument/2006/relationships/image" Target="../media/image8.jpg"/><Relationship Id="rId10" Type="http://schemas.openxmlformats.org/officeDocument/2006/relationships/image" Target="../media/image13.jpg"/><Relationship Id="rId4" Type="http://schemas.openxmlformats.org/officeDocument/2006/relationships/image" Target="../media/image7.jpg"/><Relationship Id="rId9" Type="http://schemas.openxmlformats.org/officeDocument/2006/relationships/image" Target="../media/image12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jpg"/><Relationship Id="rId12" Type="http://schemas.openxmlformats.org/officeDocument/2006/relationships/image" Target="../media/image27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jpg"/><Relationship Id="rId11" Type="http://schemas.openxmlformats.org/officeDocument/2006/relationships/image" Target="../media/image26.jpg"/><Relationship Id="rId5" Type="http://schemas.openxmlformats.org/officeDocument/2006/relationships/image" Target="../media/image20.jpg"/><Relationship Id="rId15" Type="http://schemas.openxmlformats.org/officeDocument/2006/relationships/image" Target="../media/image30.png"/><Relationship Id="rId10" Type="http://schemas.openxmlformats.org/officeDocument/2006/relationships/image" Target="../media/image25.jpg"/><Relationship Id="rId4" Type="http://schemas.openxmlformats.org/officeDocument/2006/relationships/image" Target="../media/image19.png"/><Relationship Id="rId9" Type="http://schemas.openxmlformats.org/officeDocument/2006/relationships/image" Target="../media/image24.jpg"/><Relationship Id="rId14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2.jpg"/><Relationship Id="rId4" Type="http://schemas.openxmlformats.org/officeDocument/2006/relationships/image" Target="../media/image3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6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4.jpg"/><Relationship Id="rId5" Type="http://schemas.openxmlformats.org/officeDocument/2006/relationships/image" Target="../media/image35.png"/><Relationship Id="rId4" Type="http://schemas.openxmlformats.org/officeDocument/2006/relationships/image" Target="../media/image33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8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3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40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3.jpg"/><Relationship Id="rId5" Type="http://schemas.openxmlformats.org/officeDocument/2006/relationships/image" Target="../media/image39.png"/><Relationship Id="rId4" Type="http://schemas.openxmlformats.org/officeDocument/2006/relationships/image" Target="../media/image3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7" Type="http://schemas.openxmlformats.org/officeDocument/2006/relationships/image" Target="../media/image38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34.jpg"/><Relationship Id="rId5" Type="http://schemas.openxmlformats.org/officeDocument/2006/relationships/image" Target="../media/image33.jpg"/><Relationship Id="rId4" Type="http://schemas.openxmlformats.org/officeDocument/2006/relationships/image" Target="../media/image4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3.jpg"/><Relationship Id="rId4" Type="http://schemas.openxmlformats.org/officeDocument/2006/relationships/image" Target="../media/image34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7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34.jpg"/><Relationship Id="rId4" Type="http://schemas.openxmlformats.org/officeDocument/2006/relationships/image" Target="../media/image33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3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44.jpg"/><Relationship Id="rId4" Type="http://schemas.openxmlformats.org/officeDocument/2006/relationships/image" Target="../media/image43.jp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jpg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56.png"/><Relationship Id="rId4" Type="http://schemas.openxmlformats.org/officeDocument/2006/relationships/image" Target="../media/image55.png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3.jpg"/><Relationship Id="rId3" Type="http://schemas.openxmlformats.org/officeDocument/2006/relationships/image" Target="../media/image58.jpg"/><Relationship Id="rId7" Type="http://schemas.openxmlformats.org/officeDocument/2006/relationships/image" Target="../media/image62.jpg"/><Relationship Id="rId2" Type="http://schemas.openxmlformats.org/officeDocument/2006/relationships/image" Target="../media/image57.jp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61.jpg"/><Relationship Id="rId5" Type="http://schemas.openxmlformats.org/officeDocument/2006/relationships/image" Target="../media/image60.jpg"/><Relationship Id="rId4" Type="http://schemas.openxmlformats.org/officeDocument/2006/relationships/image" Target="../media/image59.jpg"/><Relationship Id="rId9" Type="http://schemas.openxmlformats.org/officeDocument/2006/relationships/image" Target="../media/image64.jp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6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slideLayout" Target="../slideLayouts/slideLayout25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7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4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4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7" Type="http://schemas.openxmlformats.org/officeDocument/2006/relationships/image" Target="../media/image77.png"/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jpg"/><Relationship Id="rId13" Type="http://schemas.openxmlformats.org/officeDocument/2006/relationships/image" Target="../media/image84.jpg"/><Relationship Id="rId3" Type="http://schemas.openxmlformats.org/officeDocument/2006/relationships/image" Target="../media/image79.png"/><Relationship Id="rId7" Type="http://schemas.openxmlformats.org/officeDocument/2006/relationships/image" Target="../media/image23.png"/><Relationship Id="rId12" Type="http://schemas.openxmlformats.org/officeDocument/2006/relationships/image" Target="../media/image83.png"/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2.jpg"/><Relationship Id="rId11" Type="http://schemas.openxmlformats.org/officeDocument/2006/relationships/image" Target="../media/image82.png"/><Relationship Id="rId5" Type="http://schemas.openxmlformats.org/officeDocument/2006/relationships/image" Target="../media/image81.png"/><Relationship Id="rId15" Type="http://schemas.openxmlformats.org/officeDocument/2006/relationships/image" Target="../media/image85.png"/><Relationship Id="rId10" Type="http://schemas.openxmlformats.org/officeDocument/2006/relationships/image" Target="../media/image26.jpg"/><Relationship Id="rId4" Type="http://schemas.openxmlformats.org/officeDocument/2006/relationships/image" Target="../media/image80.png"/><Relationship Id="rId9" Type="http://schemas.openxmlformats.org/officeDocument/2006/relationships/image" Target="../media/image25.jpg"/><Relationship Id="rId14" Type="http://schemas.openxmlformats.org/officeDocument/2006/relationships/image" Target="../media/image21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8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7" Type="http://schemas.openxmlformats.org/officeDocument/2006/relationships/image" Target="../media/image9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4" Type="http://schemas.openxmlformats.org/officeDocument/2006/relationships/image" Target="../media/image91.png"/><Relationship Id="rId9" Type="http://schemas.openxmlformats.org/officeDocument/2006/relationships/image" Target="../media/image94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6.png"/><Relationship Id="rId5" Type="http://schemas.openxmlformats.org/officeDocument/2006/relationships/image" Target="../media/image95.png"/><Relationship Id="rId10" Type="http://schemas.openxmlformats.org/officeDocument/2006/relationships/image" Target="../media/image94.png"/><Relationship Id="rId4" Type="http://schemas.openxmlformats.org/officeDocument/2006/relationships/image" Target="../media/image91.png"/><Relationship Id="rId9" Type="http://schemas.openxmlformats.org/officeDocument/2006/relationships/image" Target="../media/image93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12" Type="http://schemas.openxmlformats.org/officeDocument/2006/relationships/image" Target="../media/image99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6.png"/><Relationship Id="rId11" Type="http://schemas.openxmlformats.org/officeDocument/2006/relationships/image" Target="../media/image98.png"/><Relationship Id="rId5" Type="http://schemas.openxmlformats.org/officeDocument/2006/relationships/image" Target="../media/image95.png"/><Relationship Id="rId10" Type="http://schemas.openxmlformats.org/officeDocument/2006/relationships/image" Target="../media/image94.png"/><Relationship Id="rId4" Type="http://schemas.openxmlformats.org/officeDocument/2006/relationships/image" Target="../media/image91.png"/><Relationship Id="rId9" Type="http://schemas.openxmlformats.org/officeDocument/2006/relationships/image" Target="../media/image93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13" Type="http://schemas.openxmlformats.org/officeDocument/2006/relationships/image" Target="../media/image99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12" Type="http://schemas.openxmlformats.org/officeDocument/2006/relationships/image" Target="../media/image98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6.png"/><Relationship Id="rId11" Type="http://schemas.openxmlformats.org/officeDocument/2006/relationships/image" Target="../media/image94.png"/><Relationship Id="rId5" Type="http://schemas.openxmlformats.org/officeDocument/2006/relationships/image" Target="../media/image95.png"/><Relationship Id="rId10" Type="http://schemas.openxmlformats.org/officeDocument/2006/relationships/image" Target="../media/image93.png"/><Relationship Id="rId4" Type="http://schemas.openxmlformats.org/officeDocument/2006/relationships/image" Target="../media/image91.png"/><Relationship Id="rId9" Type="http://schemas.openxmlformats.org/officeDocument/2006/relationships/image" Target="../media/image100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7.png"/><Relationship Id="rId3" Type="http://schemas.openxmlformats.org/officeDocument/2006/relationships/image" Target="../media/image90.png"/><Relationship Id="rId7" Type="http://schemas.openxmlformats.org/officeDocument/2006/relationships/image" Target="../media/image92.png"/><Relationship Id="rId12" Type="http://schemas.openxmlformats.org/officeDocument/2006/relationships/image" Target="../media/image94.png"/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6.png"/><Relationship Id="rId11" Type="http://schemas.openxmlformats.org/officeDocument/2006/relationships/image" Target="../media/image93.png"/><Relationship Id="rId5" Type="http://schemas.openxmlformats.org/officeDocument/2006/relationships/image" Target="../media/image95.png"/><Relationship Id="rId10" Type="http://schemas.openxmlformats.org/officeDocument/2006/relationships/image" Target="../media/image101.png"/><Relationship Id="rId4" Type="http://schemas.openxmlformats.org/officeDocument/2006/relationships/image" Target="../media/image91.png"/><Relationship Id="rId9" Type="http://schemas.openxmlformats.org/officeDocument/2006/relationships/image" Target="../media/image100.png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00.png"/><Relationship Id="rId3" Type="http://schemas.openxmlformats.org/officeDocument/2006/relationships/image" Target="../media/image103.png"/><Relationship Id="rId7" Type="http://schemas.openxmlformats.org/officeDocument/2006/relationships/image" Target="../media/image90.png"/><Relationship Id="rId12" Type="http://schemas.openxmlformats.org/officeDocument/2006/relationships/image" Target="../media/image97.png"/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4.png"/><Relationship Id="rId11" Type="http://schemas.openxmlformats.org/officeDocument/2006/relationships/image" Target="../media/image92.png"/><Relationship Id="rId5" Type="http://schemas.openxmlformats.org/officeDocument/2006/relationships/image" Target="../media/image93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87.png"/><Relationship Id="rId9" Type="http://schemas.openxmlformats.org/officeDocument/2006/relationships/image" Target="../media/image95.png"/><Relationship Id="rId14" Type="http://schemas.openxmlformats.org/officeDocument/2006/relationships/image" Target="../media/image104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00.png"/><Relationship Id="rId3" Type="http://schemas.openxmlformats.org/officeDocument/2006/relationships/image" Target="../media/image103.png"/><Relationship Id="rId7" Type="http://schemas.openxmlformats.org/officeDocument/2006/relationships/image" Target="../media/image90.png"/><Relationship Id="rId12" Type="http://schemas.openxmlformats.org/officeDocument/2006/relationships/image" Target="../media/image97.png"/><Relationship Id="rId2" Type="http://schemas.openxmlformats.org/officeDocument/2006/relationships/image" Target="../media/image102.png"/><Relationship Id="rId16" Type="http://schemas.openxmlformats.org/officeDocument/2006/relationships/image" Target="../media/image105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94.png"/><Relationship Id="rId11" Type="http://schemas.openxmlformats.org/officeDocument/2006/relationships/image" Target="../media/image92.png"/><Relationship Id="rId5" Type="http://schemas.openxmlformats.org/officeDocument/2006/relationships/image" Target="../media/image93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87.png"/><Relationship Id="rId9" Type="http://schemas.openxmlformats.org/officeDocument/2006/relationships/image" Target="../media/image95.png"/><Relationship Id="rId14" Type="http://schemas.openxmlformats.org/officeDocument/2006/relationships/image" Target="../media/image104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91.png"/><Relationship Id="rId13" Type="http://schemas.openxmlformats.org/officeDocument/2006/relationships/image" Target="../media/image100.png"/><Relationship Id="rId3" Type="http://schemas.openxmlformats.org/officeDocument/2006/relationships/image" Target="../media/image103.png"/><Relationship Id="rId7" Type="http://schemas.openxmlformats.org/officeDocument/2006/relationships/image" Target="../media/image90.png"/><Relationship Id="rId12" Type="http://schemas.openxmlformats.org/officeDocument/2006/relationships/image" Target="../media/image97.png"/><Relationship Id="rId17" Type="http://schemas.openxmlformats.org/officeDocument/2006/relationships/image" Target="../media/image105.png"/><Relationship Id="rId2" Type="http://schemas.openxmlformats.org/officeDocument/2006/relationships/image" Target="../media/image102.png"/><Relationship Id="rId16" Type="http://schemas.openxmlformats.org/officeDocument/2006/relationships/image" Target="../media/image106.png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4.png"/><Relationship Id="rId11" Type="http://schemas.openxmlformats.org/officeDocument/2006/relationships/image" Target="../media/image92.png"/><Relationship Id="rId5" Type="http://schemas.openxmlformats.org/officeDocument/2006/relationships/image" Target="../media/image93.png"/><Relationship Id="rId15" Type="http://schemas.openxmlformats.org/officeDocument/2006/relationships/image" Target="../media/image101.png"/><Relationship Id="rId10" Type="http://schemas.openxmlformats.org/officeDocument/2006/relationships/image" Target="../media/image96.png"/><Relationship Id="rId4" Type="http://schemas.openxmlformats.org/officeDocument/2006/relationships/image" Target="../media/image87.png"/><Relationship Id="rId9" Type="http://schemas.openxmlformats.org/officeDocument/2006/relationships/image" Target="../media/image95.png"/><Relationship Id="rId14" Type="http://schemas.openxmlformats.org/officeDocument/2006/relationships/image" Target="../media/image104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Logo, company name&#10;&#10;Description automatically generated">
            <a:extLst>
              <a:ext uri="{FF2B5EF4-FFF2-40B4-BE49-F238E27FC236}">
                <a16:creationId xmlns:a16="http://schemas.microsoft.com/office/drawing/2014/main" id="{A2844304-8D4E-49AC-99A9-CC54E13E855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10" y="46895"/>
            <a:ext cx="1841888" cy="594497"/>
          </a:xfrm>
          <a:prstGeom prst="rect">
            <a:avLst/>
          </a:prstGeom>
          <a:effectLst>
            <a:reflection stA="15000" endPos="65000" dist="50800" dir="5400000" sy="-100000" algn="bl" rotWithShape="0"/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CE12115-B5CE-453C-967D-DFFC315D5FB5}"/>
              </a:ext>
            </a:extLst>
          </p:cNvPr>
          <p:cNvSpPr/>
          <p:nvPr/>
        </p:nvSpPr>
        <p:spPr>
          <a:xfrm>
            <a:off x="0" y="1336432"/>
            <a:ext cx="9144000" cy="15464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CSCE 5218</a:t>
            </a:r>
            <a:endParaRPr kumimoji="0" lang="en-US" sz="4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Deep Learning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CE2FFFAB-39EF-4ACC-9EF6-A3A1475FC4D4}"/>
              </a:ext>
            </a:extLst>
          </p:cNvPr>
          <p:cNvCxnSpPr>
            <a:cxnSpLocks/>
          </p:cNvCxnSpPr>
          <p:nvPr/>
        </p:nvCxnSpPr>
        <p:spPr>
          <a:xfrm>
            <a:off x="614362" y="3052641"/>
            <a:ext cx="7915275" cy="0"/>
          </a:xfrm>
          <a:prstGeom prst="line">
            <a:avLst/>
          </a:prstGeom>
          <a:ln w="38100">
            <a:solidFill>
              <a:srgbClr val="007B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36DB69BA-A1E7-4F07-9D08-D763F6B04D39}"/>
              </a:ext>
            </a:extLst>
          </p:cNvPr>
          <p:cNvSpPr/>
          <p:nvPr/>
        </p:nvSpPr>
        <p:spPr>
          <a:xfrm>
            <a:off x="614361" y="3409042"/>
            <a:ext cx="7915275" cy="942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Neural Network Training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A77A988-A29A-4D86-87FC-7064D9BC0171}"/>
              </a:ext>
            </a:extLst>
          </p:cNvPr>
          <p:cNvSpPr/>
          <p:nvPr/>
        </p:nvSpPr>
        <p:spPr>
          <a:xfrm>
            <a:off x="0" y="6400803"/>
            <a:ext cx="7915275" cy="45719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Slides adapted from Adriana </a:t>
            </a:r>
            <a:r>
              <a:rPr kumimoji="0" lang="en-US" sz="2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Arial" panose="020B0604020202020204" pitchFamily="34" charset="0"/>
              </a:rPr>
              <a:t>Kovashka</a:t>
            </a:r>
            <a:endParaRPr kumimoji="0" lang="en-US" sz="2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68961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33A38-ECC2-486F-9EE0-CCAEBDAFE9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858000"/>
          </a:xfrm>
        </p:spPr>
        <p:txBody>
          <a:bodyPr>
            <a:normAutofit/>
          </a:bodyPr>
          <a:lstStyle/>
          <a:p>
            <a:r>
              <a:rPr lang="en-US" sz="5400" dirty="0"/>
              <a:t>Computation graphs</a:t>
            </a:r>
          </a:p>
        </p:txBody>
      </p:sp>
    </p:spTree>
    <p:extLst>
      <p:ext uri="{BB962C8B-B14F-4D97-AF65-F5344CB8AC3E}">
        <p14:creationId xmlns:p14="http://schemas.microsoft.com/office/powerpoint/2010/main" val="112033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7475E6-07C1-444E-9A26-8B7794437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do we compute the gradient?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E5549-025F-40C2-8D9D-71538AE3A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Derive on paper? Tedious </a:t>
            </a:r>
          </a:p>
          <a:p>
            <a:r>
              <a:rPr lang="en-US" dirty="0"/>
              <a:t>What about vector-valued functions?</a:t>
            </a:r>
          </a:p>
        </p:txBody>
      </p:sp>
    </p:spTree>
    <p:extLst>
      <p:ext uri="{BB962C8B-B14F-4D97-AF65-F5344CB8AC3E}">
        <p14:creationId xmlns:p14="http://schemas.microsoft.com/office/powerpoint/2010/main" val="3862637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000783" y="1953097"/>
            <a:ext cx="1534160" cy="533400"/>
            <a:chOff x="2000783" y="1095847"/>
            <a:chExt cx="1534160" cy="533400"/>
          </a:xfrm>
        </p:grpSpPr>
        <p:sp>
          <p:nvSpPr>
            <p:cNvPr id="3" name="object 3"/>
            <p:cNvSpPr/>
            <p:nvPr/>
          </p:nvSpPr>
          <p:spPr>
            <a:xfrm>
              <a:off x="2019833" y="1114897"/>
              <a:ext cx="1495409" cy="46672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010308" y="1105372"/>
              <a:ext cx="1515110" cy="514350"/>
            </a:xfrm>
            <a:custGeom>
              <a:avLst/>
              <a:gdLst/>
              <a:ahLst/>
              <a:cxnLst/>
              <a:rect l="l" t="t" r="r" b="b"/>
              <a:pathLst>
                <a:path w="1515110" h="514350">
                  <a:moveTo>
                    <a:pt x="0" y="0"/>
                  </a:moveTo>
                  <a:lnTo>
                    <a:pt x="1514484" y="0"/>
                  </a:lnTo>
                  <a:lnTo>
                    <a:pt x="1514484" y="514348"/>
                  </a:lnTo>
                  <a:lnTo>
                    <a:pt x="0" y="51434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71573" y="2167797"/>
            <a:ext cx="375285" cy="600164"/>
          </a:xfrm>
          <a:prstGeom prst="rect">
            <a:avLst/>
          </a:prstGeom>
          <a:solidFill>
            <a:srgbClr val="F2F2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 algn="ctr">
              <a:spcBef>
                <a:spcPts val="1165"/>
              </a:spcBef>
            </a:pPr>
            <a:r>
              <a:rPr sz="1400" dirty="0">
                <a:latin typeface="Garamond" panose="02020404030301010803" pitchFamily="18" charset="0"/>
                <a:cs typeface="Arial"/>
              </a:rPr>
              <a:t>x</a:t>
            </a:r>
          </a:p>
        </p:txBody>
      </p:sp>
      <p:grpSp>
        <p:nvGrpSpPr>
          <p:cNvPr id="6" name="object 6"/>
          <p:cNvGrpSpPr/>
          <p:nvPr/>
        </p:nvGrpSpPr>
        <p:grpSpPr>
          <a:xfrm>
            <a:off x="1670834" y="2601884"/>
            <a:ext cx="590550" cy="337820"/>
            <a:chOff x="1670834" y="1744634"/>
            <a:chExt cx="590550" cy="337820"/>
          </a:xfrm>
        </p:grpSpPr>
        <p:sp>
          <p:nvSpPr>
            <p:cNvPr id="7" name="object 7"/>
            <p:cNvSpPr/>
            <p:nvPr/>
          </p:nvSpPr>
          <p:spPr>
            <a:xfrm>
              <a:off x="1675596" y="1749396"/>
              <a:ext cx="543560" cy="307340"/>
            </a:xfrm>
            <a:custGeom>
              <a:avLst/>
              <a:gdLst/>
              <a:ahLst/>
              <a:cxnLst/>
              <a:rect l="l" t="t" r="r" b="b"/>
              <a:pathLst>
                <a:path w="543560" h="307339">
                  <a:moveTo>
                    <a:pt x="0" y="0"/>
                  </a:moveTo>
                  <a:lnTo>
                    <a:pt x="543046" y="306976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210902" y="2042675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45369" y="34967"/>
                  </a:moveTo>
                  <a:lnTo>
                    <a:pt x="0" y="27392"/>
                  </a:lnTo>
                  <a:lnTo>
                    <a:pt x="15482" y="0"/>
                  </a:lnTo>
                  <a:lnTo>
                    <a:pt x="45369" y="34967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2210902" y="2042675"/>
              <a:ext cx="45720" cy="35560"/>
            </a:xfrm>
            <a:custGeom>
              <a:avLst/>
              <a:gdLst/>
              <a:ahLst/>
              <a:cxnLst/>
              <a:rect l="l" t="t" r="r" b="b"/>
              <a:pathLst>
                <a:path w="45719" h="35560">
                  <a:moveTo>
                    <a:pt x="0" y="27392"/>
                  </a:moveTo>
                  <a:lnTo>
                    <a:pt x="45369" y="34967"/>
                  </a:lnTo>
                  <a:lnTo>
                    <a:pt x="15482" y="0"/>
                  </a:lnTo>
                  <a:lnTo>
                    <a:pt x="0" y="27392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513049" y="3253745"/>
            <a:ext cx="934085" cy="600164"/>
          </a:xfrm>
          <a:prstGeom prst="rect">
            <a:avLst/>
          </a:prstGeom>
          <a:solidFill>
            <a:srgbClr val="F2F2F2"/>
          </a:solidFill>
          <a:ln w="9524">
            <a:solidFill>
              <a:srgbClr val="000000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1500" dirty="0">
              <a:latin typeface="Times New Roman"/>
              <a:cs typeface="Times New Roman"/>
            </a:endParaRPr>
          </a:p>
          <a:p>
            <a:pPr algn="ctr">
              <a:spcBef>
                <a:spcPts val="1165"/>
              </a:spcBef>
            </a:pPr>
            <a:r>
              <a:rPr sz="1400" dirty="0">
                <a:latin typeface="Garamond" panose="02020404030301010803" pitchFamily="18" charset="0"/>
                <a:cs typeface="Arial"/>
              </a:rPr>
              <a:t>W</a:t>
            </a:r>
          </a:p>
        </p:txBody>
      </p:sp>
      <p:grpSp>
        <p:nvGrpSpPr>
          <p:cNvPr id="11" name="object 11"/>
          <p:cNvGrpSpPr/>
          <p:nvPr/>
        </p:nvGrpSpPr>
        <p:grpSpPr>
          <a:xfrm>
            <a:off x="1617296" y="2790609"/>
            <a:ext cx="3500754" cy="986155"/>
            <a:chOff x="1617296" y="1933358"/>
            <a:chExt cx="3500754" cy="986155"/>
          </a:xfrm>
        </p:grpSpPr>
        <p:sp>
          <p:nvSpPr>
            <p:cNvPr id="12" name="object 12"/>
            <p:cNvSpPr/>
            <p:nvPr/>
          </p:nvSpPr>
          <p:spPr>
            <a:xfrm>
              <a:off x="1622059" y="2430360"/>
              <a:ext cx="633095" cy="484505"/>
            </a:xfrm>
            <a:custGeom>
              <a:avLst/>
              <a:gdLst/>
              <a:ahLst/>
              <a:cxnLst/>
              <a:rect l="l" t="t" r="r" b="b"/>
              <a:pathLst>
                <a:path w="633094" h="484505">
                  <a:moveTo>
                    <a:pt x="0" y="483984"/>
                  </a:moveTo>
                  <a:lnTo>
                    <a:pt x="632901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245402" y="2404102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69">
                  <a:moveTo>
                    <a:pt x="19114" y="38754"/>
                  </a:moveTo>
                  <a:lnTo>
                    <a:pt x="0" y="13759"/>
                  </a:lnTo>
                  <a:lnTo>
                    <a:pt x="43894" y="0"/>
                  </a:lnTo>
                  <a:lnTo>
                    <a:pt x="19114" y="3875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2245402" y="2404102"/>
              <a:ext cx="44450" cy="39370"/>
            </a:xfrm>
            <a:custGeom>
              <a:avLst/>
              <a:gdLst/>
              <a:ahLst/>
              <a:cxnLst/>
              <a:rect l="l" t="t" r="r" b="b"/>
              <a:pathLst>
                <a:path w="44450" h="39369">
                  <a:moveTo>
                    <a:pt x="19114" y="38754"/>
                  </a:moveTo>
                  <a:lnTo>
                    <a:pt x="43894" y="0"/>
                  </a:lnTo>
                  <a:lnTo>
                    <a:pt x="0" y="13759"/>
                  </a:lnTo>
                  <a:lnTo>
                    <a:pt x="19114" y="3875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2420045" y="1938121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8"/>
                  </a:moveTo>
                  <a:lnTo>
                    <a:pt x="265254" y="619123"/>
                  </a:lnTo>
                  <a:lnTo>
                    <a:pt x="221355" y="609320"/>
                  </a:lnTo>
                  <a:lnTo>
                    <a:pt x="180033" y="593570"/>
                  </a:lnTo>
                  <a:lnTo>
                    <a:pt x="141770" y="572354"/>
                  </a:lnTo>
                  <a:lnTo>
                    <a:pt x="107046" y="546154"/>
                  </a:lnTo>
                  <a:lnTo>
                    <a:pt x="76343" y="515451"/>
                  </a:lnTo>
                  <a:lnTo>
                    <a:pt x="50143" y="480727"/>
                  </a:lnTo>
                  <a:lnTo>
                    <a:pt x="28928" y="442463"/>
                  </a:lnTo>
                  <a:lnTo>
                    <a:pt x="13177" y="401141"/>
                  </a:lnTo>
                  <a:lnTo>
                    <a:pt x="3374" y="357243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7" y="221356"/>
                  </a:lnTo>
                  <a:lnTo>
                    <a:pt x="28928" y="180034"/>
                  </a:lnTo>
                  <a:lnTo>
                    <a:pt x="50143" y="141771"/>
                  </a:lnTo>
                  <a:lnTo>
                    <a:pt x="76343" y="107047"/>
                  </a:lnTo>
                  <a:lnTo>
                    <a:pt x="107046" y="76344"/>
                  </a:lnTo>
                  <a:lnTo>
                    <a:pt x="141770" y="50144"/>
                  </a:lnTo>
                  <a:lnTo>
                    <a:pt x="180033" y="28928"/>
                  </a:lnTo>
                  <a:lnTo>
                    <a:pt x="221355" y="13178"/>
                  </a:lnTo>
                  <a:lnTo>
                    <a:pt x="265254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2" y="15278"/>
                  </a:lnTo>
                  <a:lnTo>
                    <a:pt x="452424" y="33857"/>
                  </a:lnTo>
                  <a:lnTo>
                    <a:pt x="493954" y="59267"/>
                  </a:lnTo>
                  <a:lnTo>
                    <a:pt x="531323" y="91162"/>
                  </a:lnTo>
                  <a:lnTo>
                    <a:pt x="563222" y="128541"/>
                  </a:lnTo>
                  <a:lnTo>
                    <a:pt x="588635" y="170076"/>
                  </a:lnTo>
                  <a:lnTo>
                    <a:pt x="607217" y="214929"/>
                  </a:lnTo>
                  <a:lnTo>
                    <a:pt x="618620" y="262265"/>
                  </a:lnTo>
                  <a:lnTo>
                    <a:pt x="622498" y="311249"/>
                  </a:lnTo>
                  <a:lnTo>
                    <a:pt x="619124" y="357243"/>
                  </a:lnTo>
                  <a:lnTo>
                    <a:pt x="609320" y="401141"/>
                  </a:lnTo>
                  <a:lnTo>
                    <a:pt x="593570" y="442463"/>
                  </a:lnTo>
                  <a:lnTo>
                    <a:pt x="572354" y="480727"/>
                  </a:lnTo>
                  <a:lnTo>
                    <a:pt x="546155" y="515451"/>
                  </a:lnTo>
                  <a:lnTo>
                    <a:pt x="515452" y="546154"/>
                  </a:lnTo>
                  <a:lnTo>
                    <a:pt x="480728" y="572354"/>
                  </a:lnTo>
                  <a:lnTo>
                    <a:pt x="442464" y="593570"/>
                  </a:lnTo>
                  <a:lnTo>
                    <a:pt x="401142" y="609320"/>
                  </a:lnTo>
                  <a:lnTo>
                    <a:pt x="357243" y="619123"/>
                  </a:lnTo>
                  <a:lnTo>
                    <a:pt x="311249" y="622498"/>
                  </a:lnTo>
                  <a:close/>
                </a:path>
              </a:pathLst>
            </a:custGeom>
            <a:solidFill>
              <a:srgbClr val="C8DAF7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2420045" y="1938121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7" y="221356"/>
                  </a:lnTo>
                  <a:lnTo>
                    <a:pt x="28928" y="180034"/>
                  </a:lnTo>
                  <a:lnTo>
                    <a:pt x="50143" y="141771"/>
                  </a:lnTo>
                  <a:lnTo>
                    <a:pt x="76343" y="107047"/>
                  </a:lnTo>
                  <a:lnTo>
                    <a:pt x="107046" y="76344"/>
                  </a:lnTo>
                  <a:lnTo>
                    <a:pt x="141770" y="50144"/>
                  </a:lnTo>
                  <a:lnTo>
                    <a:pt x="180033" y="28928"/>
                  </a:lnTo>
                  <a:lnTo>
                    <a:pt x="221355" y="13178"/>
                  </a:lnTo>
                  <a:lnTo>
                    <a:pt x="265254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2" y="15278"/>
                  </a:lnTo>
                  <a:lnTo>
                    <a:pt x="452424" y="33857"/>
                  </a:lnTo>
                  <a:lnTo>
                    <a:pt x="493954" y="59267"/>
                  </a:lnTo>
                  <a:lnTo>
                    <a:pt x="531323" y="91162"/>
                  </a:lnTo>
                  <a:lnTo>
                    <a:pt x="563222" y="128541"/>
                  </a:lnTo>
                  <a:lnTo>
                    <a:pt x="588635" y="170076"/>
                  </a:lnTo>
                  <a:lnTo>
                    <a:pt x="607217" y="214929"/>
                  </a:lnTo>
                  <a:lnTo>
                    <a:pt x="618620" y="262265"/>
                  </a:lnTo>
                  <a:lnTo>
                    <a:pt x="622498" y="311249"/>
                  </a:lnTo>
                  <a:lnTo>
                    <a:pt x="619124" y="357243"/>
                  </a:lnTo>
                  <a:lnTo>
                    <a:pt x="609320" y="401141"/>
                  </a:lnTo>
                  <a:lnTo>
                    <a:pt x="593570" y="442463"/>
                  </a:lnTo>
                  <a:lnTo>
                    <a:pt x="572354" y="480727"/>
                  </a:lnTo>
                  <a:lnTo>
                    <a:pt x="546154" y="515451"/>
                  </a:lnTo>
                  <a:lnTo>
                    <a:pt x="515452" y="546154"/>
                  </a:lnTo>
                  <a:lnTo>
                    <a:pt x="480728" y="572354"/>
                  </a:lnTo>
                  <a:lnTo>
                    <a:pt x="442464" y="593570"/>
                  </a:lnTo>
                  <a:lnTo>
                    <a:pt x="401142" y="609320"/>
                  </a:lnTo>
                  <a:lnTo>
                    <a:pt x="357243" y="619123"/>
                  </a:lnTo>
                  <a:lnTo>
                    <a:pt x="311249" y="622498"/>
                  </a:lnTo>
                  <a:lnTo>
                    <a:pt x="265254" y="619123"/>
                  </a:lnTo>
                  <a:lnTo>
                    <a:pt x="221355" y="609320"/>
                  </a:lnTo>
                  <a:lnTo>
                    <a:pt x="180033" y="593570"/>
                  </a:lnTo>
                  <a:lnTo>
                    <a:pt x="141770" y="572354"/>
                  </a:lnTo>
                  <a:lnTo>
                    <a:pt x="107046" y="546154"/>
                  </a:lnTo>
                  <a:lnTo>
                    <a:pt x="76343" y="515451"/>
                  </a:lnTo>
                  <a:lnTo>
                    <a:pt x="50143" y="480727"/>
                  </a:lnTo>
                  <a:lnTo>
                    <a:pt x="28928" y="442463"/>
                  </a:lnTo>
                  <a:lnTo>
                    <a:pt x="13177" y="401141"/>
                  </a:lnTo>
                  <a:lnTo>
                    <a:pt x="3374" y="357243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4490391" y="1938121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8"/>
                  </a:moveTo>
                  <a:lnTo>
                    <a:pt x="265254" y="619123"/>
                  </a:lnTo>
                  <a:lnTo>
                    <a:pt x="221355" y="609320"/>
                  </a:lnTo>
                  <a:lnTo>
                    <a:pt x="180033" y="593570"/>
                  </a:lnTo>
                  <a:lnTo>
                    <a:pt x="141770" y="572354"/>
                  </a:lnTo>
                  <a:lnTo>
                    <a:pt x="107046" y="546154"/>
                  </a:lnTo>
                  <a:lnTo>
                    <a:pt x="76343" y="515451"/>
                  </a:lnTo>
                  <a:lnTo>
                    <a:pt x="50143" y="480727"/>
                  </a:lnTo>
                  <a:lnTo>
                    <a:pt x="28928" y="442463"/>
                  </a:lnTo>
                  <a:lnTo>
                    <a:pt x="13177" y="401141"/>
                  </a:lnTo>
                  <a:lnTo>
                    <a:pt x="3374" y="357243"/>
                  </a:lnTo>
                  <a:lnTo>
                    <a:pt x="0" y="311249"/>
                  </a:lnTo>
                  <a:lnTo>
                    <a:pt x="3374" y="265255"/>
                  </a:lnTo>
                  <a:lnTo>
                    <a:pt x="13177" y="221356"/>
                  </a:lnTo>
                  <a:lnTo>
                    <a:pt x="28928" y="180034"/>
                  </a:lnTo>
                  <a:lnTo>
                    <a:pt x="50143" y="141771"/>
                  </a:lnTo>
                  <a:lnTo>
                    <a:pt x="76343" y="107047"/>
                  </a:lnTo>
                  <a:lnTo>
                    <a:pt x="107046" y="76344"/>
                  </a:lnTo>
                  <a:lnTo>
                    <a:pt x="141770" y="50144"/>
                  </a:lnTo>
                  <a:lnTo>
                    <a:pt x="180033" y="28928"/>
                  </a:lnTo>
                  <a:lnTo>
                    <a:pt x="221355" y="13178"/>
                  </a:lnTo>
                  <a:lnTo>
                    <a:pt x="265254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2" y="15278"/>
                  </a:lnTo>
                  <a:lnTo>
                    <a:pt x="452424" y="33857"/>
                  </a:lnTo>
                  <a:lnTo>
                    <a:pt x="493954" y="59267"/>
                  </a:lnTo>
                  <a:lnTo>
                    <a:pt x="531323" y="91162"/>
                  </a:lnTo>
                  <a:lnTo>
                    <a:pt x="563222" y="128541"/>
                  </a:lnTo>
                  <a:lnTo>
                    <a:pt x="588635" y="170076"/>
                  </a:lnTo>
                  <a:lnTo>
                    <a:pt x="607217" y="214929"/>
                  </a:lnTo>
                  <a:lnTo>
                    <a:pt x="618620" y="262265"/>
                  </a:lnTo>
                  <a:lnTo>
                    <a:pt x="622498" y="311249"/>
                  </a:lnTo>
                  <a:lnTo>
                    <a:pt x="619124" y="357243"/>
                  </a:lnTo>
                  <a:lnTo>
                    <a:pt x="609320" y="401141"/>
                  </a:lnTo>
                  <a:lnTo>
                    <a:pt x="593570" y="442463"/>
                  </a:lnTo>
                  <a:lnTo>
                    <a:pt x="572354" y="480727"/>
                  </a:lnTo>
                  <a:lnTo>
                    <a:pt x="546155" y="515451"/>
                  </a:lnTo>
                  <a:lnTo>
                    <a:pt x="515452" y="546154"/>
                  </a:lnTo>
                  <a:lnTo>
                    <a:pt x="480728" y="572354"/>
                  </a:lnTo>
                  <a:lnTo>
                    <a:pt x="442464" y="593570"/>
                  </a:lnTo>
                  <a:lnTo>
                    <a:pt x="401142" y="609320"/>
                  </a:lnTo>
                  <a:lnTo>
                    <a:pt x="357243" y="619123"/>
                  </a:lnTo>
                  <a:lnTo>
                    <a:pt x="311249" y="622498"/>
                  </a:lnTo>
                  <a:close/>
                </a:path>
              </a:pathLst>
            </a:custGeom>
            <a:solidFill>
              <a:srgbClr val="F4CCCC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490390" y="1938121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5"/>
                  </a:lnTo>
                  <a:lnTo>
                    <a:pt x="13177" y="221356"/>
                  </a:lnTo>
                  <a:lnTo>
                    <a:pt x="28928" y="180034"/>
                  </a:lnTo>
                  <a:lnTo>
                    <a:pt x="50143" y="141771"/>
                  </a:lnTo>
                  <a:lnTo>
                    <a:pt x="76343" y="107047"/>
                  </a:lnTo>
                  <a:lnTo>
                    <a:pt x="107046" y="76344"/>
                  </a:lnTo>
                  <a:lnTo>
                    <a:pt x="141770" y="50144"/>
                  </a:lnTo>
                  <a:lnTo>
                    <a:pt x="180033" y="28928"/>
                  </a:lnTo>
                  <a:lnTo>
                    <a:pt x="221355" y="13178"/>
                  </a:lnTo>
                  <a:lnTo>
                    <a:pt x="265254" y="3374"/>
                  </a:lnTo>
                  <a:lnTo>
                    <a:pt x="311249" y="0"/>
                  </a:lnTo>
                  <a:lnTo>
                    <a:pt x="360234" y="3877"/>
                  </a:lnTo>
                  <a:lnTo>
                    <a:pt x="407572" y="15278"/>
                  </a:lnTo>
                  <a:lnTo>
                    <a:pt x="452424" y="33857"/>
                  </a:lnTo>
                  <a:lnTo>
                    <a:pt x="493954" y="59267"/>
                  </a:lnTo>
                  <a:lnTo>
                    <a:pt x="531323" y="91162"/>
                  </a:lnTo>
                  <a:lnTo>
                    <a:pt x="563222" y="128541"/>
                  </a:lnTo>
                  <a:lnTo>
                    <a:pt x="588635" y="170076"/>
                  </a:lnTo>
                  <a:lnTo>
                    <a:pt x="607217" y="214929"/>
                  </a:lnTo>
                  <a:lnTo>
                    <a:pt x="618620" y="262265"/>
                  </a:lnTo>
                  <a:lnTo>
                    <a:pt x="622498" y="311249"/>
                  </a:lnTo>
                  <a:lnTo>
                    <a:pt x="619124" y="357243"/>
                  </a:lnTo>
                  <a:lnTo>
                    <a:pt x="609320" y="401141"/>
                  </a:lnTo>
                  <a:lnTo>
                    <a:pt x="593570" y="442463"/>
                  </a:lnTo>
                  <a:lnTo>
                    <a:pt x="572354" y="480727"/>
                  </a:lnTo>
                  <a:lnTo>
                    <a:pt x="546154" y="515451"/>
                  </a:lnTo>
                  <a:lnTo>
                    <a:pt x="515452" y="546154"/>
                  </a:lnTo>
                  <a:lnTo>
                    <a:pt x="480728" y="572354"/>
                  </a:lnTo>
                  <a:lnTo>
                    <a:pt x="442464" y="593570"/>
                  </a:lnTo>
                  <a:lnTo>
                    <a:pt x="401142" y="609320"/>
                  </a:lnTo>
                  <a:lnTo>
                    <a:pt x="357243" y="619123"/>
                  </a:lnTo>
                  <a:lnTo>
                    <a:pt x="311249" y="622498"/>
                  </a:lnTo>
                  <a:lnTo>
                    <a:pt x="265254" y="619123"/>
                  </a:lnTo>
                  <a:lnTo>
                    <a:pt x="221355" y="609320"/>
                  </a:lnTo>
                  <a:lnTo>
                    <a:pt x="180033" y="593570"/>
                  </a:lnTo>
                  <a:lnTo>
                    <a:pt x="141770" y="572354"/>
                  </a:lnTo>
                  <a:lnTo>
                    <a:pt x="107046" y="546154"/>
                  </a:lnTo>
                  <a:lnTo>
                    <a:pt x="76343" y="515451"/>
                  </a:lnTo>
                  <a:lnTo>
                    <a:pt x="50143" y="480727"/>
                  </a:lnTo>
                  <a:lnTo>
                    <a:pt x="28928" y="442463"/>
                  </a:lnTo>
                  <a:lnTo>
                    <a:pt x="13177" y="401141"/>
                  </a:lnTo>
                  <a:lnTo>
                    <a:pt x="3374" y="357243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3171019" y="3086126"/>
            <a:ext cx="1237615" cy="41275"/>
            <a:chOff x="3171018" y="2228875"/>
            <a:chExt cx="1237615" cy="41275"/>
          </a:xfrm>
        </p:grpSpPr>
        <p:sp>
          <p:nvSpPr>
            <p:cNvPr id="20" name="object 20"/>
            <p:cNvSpPr/>
            <p:nvPr/>
          </p:nvSpPr>
          <p:spPr>
            <a:xfrm>
              <a:off x="3171018" y="2249370"/>
              <a:ext cx="1189355" cy="0"/>
            </a:xfrm>
            <a:custGeom>
              <a:avLst/>
              <a:gdLst/>
              <a:ahLst/>
              <a:cxnLst/>
              <a:rect l="l" t="t" r="r" b="b"/>
              <a:pathLst>
                <a:path w="1189354">
                  <a:moveTo>
                    <a:pt x="0" y="0"/>
                  </a:moveTo>
                  <a:lnTo>
                    <a:pt x="1189347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4360366" y="22336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4360366" y="22336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23" name="object 23"/>
          <p:cNvGrpSpPr/>
          <p:nvPr/>
        </p:nvGrpSpPr>
        <p:grpSpPr>
          <a:xfrm>
            <a:off x="3886967" y="1950061"/>
            <a:ext cx="4498340" cy="516255"/>
            <a:chOff x="3886967" y="1092810"/>
            <a:chExt cx="4498340" cy="516255"/>
          </a:xfrm>
        </p:grpSpPr>
        <p:sp>
          <p:nvSpPr>
            <p:cNvPr id="24" name="object 24"/>
            <p:cNvSpPr/>
            <p:nvPr/>
          </p:nvSpPr>
          <p:spPr>
            <a:xfrm>
              <a:off x="3906017" y="1111860"/>
              <a:ext cx="4459815" cy="47812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896491" y="1102335"/>
              <a:ext cx="4479290" cy="497205"/>
            </a:xfrm>
            <a:custGeom>
              <a:avLst/>
              <a:gdLst/>
              <a:ahLst/>
              <a:cxnLst/>
              <a:rect l="l" t="t" r="r" b="b"/>
              <a:pathLst>
                <a:path w="4479290" h="497205">
                  <a:moveTo>
                    <a:pt x="0" y="0"/>
                  </a:moveTo>
                  <a:lnTo>
                    <a:pt x="4478865" y="0"/>
                  </a:lnTo>
                  <a:lnTo>
                    <a:pt x="4478865" y="497173"/>
                  </a:lnTo>
                  <a:lnTo>
                    <a:pt x="0" y="49717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4664765" y="2966034"/>
            <a:ext cx="274320" cy="258212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46355" marR="5080" indent="-34290">
              <a:lnSpc>
                <a:spcPct val="101600"/>
              </a:lnSpc>
              <a:spcBef>
                <a:spcPts val="85"/>
              </a:spcBef>
            </a:pPr>
            <a:r>
              <a:rPr sz="800" spc="-5" dirty="0">
                <a:latin typeface="Garamond" panose="02020404030301010803" pitchFamily="18" charset="0"/>
                <a:cs typeface="Arial"/>
              </a:rPr>
              <a:t>hinge  loss</a:t>
            </a:r>
            <a:endParaRPr sz="8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5305239" y="3086126"/>
            <a:ext cx="802640" cy="41275"/>
            <a:chOff x="5305239" y="2228875"/>
            <a:chExt cx="802640" cy="41275"/>
          </a:xfrm>
        </p:grpSpPr>
        <p:sp>
          <p:nvSpPr>
            <p:cNvPr id="28" name="object 28"/>
            <p:cNvSpPr/>
            <p:nvPr/>
          </p:nvSpPr>
          <p:spPr>
            <a:xfrm>
              <a:off x="5305239" y="2249370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7540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059287" y="22336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059287" y="22336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1" name="object 31"/>
          <p:cNvGrpSpPr/>
          <p:nvPr/>
        </p:nvGrpSpPr>
        <p:grpSpPr>
          <a:xfrm>
            <a:off x="1679834" y="3318583"/>
            <a:ext cx="4823460" cy="998855"/>
            <a:chOff x="1679834" y="2461332"/>
            <a:chExt cx="4823460" cy="998855"/>
          </a:xfrm>
        </p:grpSpPr>
        <p:sp>
          <p:nvSpPr>
            <p:cNvPr id="32" name="object 32"/>
            <p:cNvSpPr/>
            <p:nvPr/>
          </p:nvSpPr>
          <p:spPr>
            <a:xfrm>
              <a:off x="1684596" y="2509319"/>
              <a:ext cx="4798695" cy="668655"/>
            </a:xfrm>
            <a:custGeom>
              <a:avLst/>
              <a:gdLst/>
              <a:ahLst/>
              <a:cxnLst/>
              <a:rect l="l" t="t" r="r" b="b"/>
              <a:pathLst>
                <a:path w="4798695" h="668655">
                  <a:moveTo>
                    <a:pt x="0" y="668248"/>
                  </a:moveTo>
                  <a:lnTo>
                    <a:pt x="4798190" y="668248"/>
                  </a:lnTo>
                  <a:lnTo>
                    <a:pt x="4798190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467062" y="246609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0" y="43224"/>
                  </a:lnTo>
                  <a:lnTo>
                    <a:pt x="15724" y="0"/>
                  </a:lnTo>
                  <a:lnTo>
                    <a:pt x="31449" y="4322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467062" y="2466095"/>
              <a:ext cx="31750" cy="43815"/>
            </a:xfrm>
            <a:custGeom>
              <a:avLst/>
              <a:gdLst/>
              <a:ahLst/>
              <a:cxnLst/>
              <a:rect l="l" t="t" r="r" b="b"/>
              <a:pathLst>
                <a:path w="31750" h="43814">
                  <a:moveTo>
                    <a:pt x="31449" y="43224"/>
                  </a:moveTo>
                  <a:lnTo>
                    <a:pt x="15724" y="0"/>
                  </a:lnTo>
                  <a:lnTo>
                    <a:pt x="0" y="43224"/>
                  </a:lnTo>
                  <a:lnTo>
                    <a:pt x="31449" y="4322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4676240" y="2832569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311249" y="622498"/>
                  </a:moveTo>
                  <a:lnTo>
                    <a:pt x="265254" y="619124"/>
                  </a:lnTo>
                  <a:lnTo>
                    <a:pt x="221355" y="609320"/>
                  </a:lnTo>
                  <a:lnTo>
                    <a:pt x="180033" y="593570"/>
                  </a:lnTo>
                  <a:lnTo>
                    <a:pt x="141770" y="572354"/>
                  </a:lnTo>
                  <a:lnTo>
                    <a:pt x="107046" y="546155"/>
                  </a:lnTo>
                  <a:lnTo>
                    <a:pt x="76343" y="515452"/>
                  </a:lnTo>
                  <a:lnTo>
                    <a:pt x="50143" y="480728"/>
                  </a:lnTo>
                  <a:lnTo>
                    <a:pt x="28928" y="442464"/>
                  </a:lnTo>
                  <a:lnTo>
                    <a:pt x="13177" y="401142"/>
                  </a:lnTo>
                  <a:lnTo>
                    <a:pt x="3374" y="357243"/>
                  </a:lnTo>
                  <a:lnTo>
                    <a:pt x="0" y="311249"/>
                  </a:lnTo>
                  <a:lnTo>
                    <a:pt x="3374" y="265254"/>
                  </a:lnTo>
                  <a:lnTo>
                    <a:pt x="13177" y="221355"/>
                  </a:lnTo>
                  <a:lnTo>
                    <a:pt x="28928" y="180033"/>
                  </a:lnTo>
                  <a:lnTo>
                    <a:pt x="50143" y="141770"/>
                  </a:lnTo>
                  <a:lnTo>
                    <a:pt x="76343" y="107046"/>
                  </a:lnTo>
                  <a:lnTo>
                    <a:pt x="107046" y="76343"/>
                  </a:lnTo>
                  <a:lnTo>
                    <a:pt x="141770" y="50143"/>
                  </a:lnTo>
                  <a:lnTo>
                    <a:pt x="180033" y="28928"/>
                  </a:lnTo>
                  <a:lnTo>
                    <a:pt x="221355" y="13177"/>
                  </a:lnTo>
                  <a:lnTo>
                    <a:pt x="265254" y="3374"/>
                  </a:lnTo>
                  <a:lnTo>
                    <a:pt x="311249" y="0"/>
                  </a:lnTo>
                  <a:lnTo>
                    <a:pt x="360234" y="3878"/>
                  </a:lnTo>
                  <a:lnTo>
                    <a:pt x="407572" y="15281"/>
                  </a:lnTo>
                  <a:lnTo>
                    <a:pt x="452424" y="33863"/>
                  </a:lnTo>
                  <a:lnTo>
                    <a:pt x="493954" y="59276"/>
                  </a:lnTo>
                  <a:lnTo>
                    <a:pt x="531323" y="91174"/>
                  </a:lnTo>
                  <a:lnTo>
                    <a:pt x="563222" y="128544"/>
                  </a:lnTo>
                  <a:lnTo>
                    <a:pt x="588635" y="170073"/>
                  </a:lnTo>
                  <a:lnTo>
                    <a:pt x="607217" y="214926"/>
                  </a:lnTo>
                  <a:lnTo>
                    <a:pt x="618620" y="262264"/>
                  </a:lnTo>
                  <a:lnTo>
                    <a:pt x="622498" y="311249"/>
                  </a:lnTo>
                  <a:lnTo>
                    <a:pt x="619124" y="357243"/>
                  </a:lnTo>
                  <a:lnTo>
                    <a:pt x="609320" y="401142"/>
                  </a:lnTo>
                  <a:lnTo>
                    <a:pt x="593570" y="442464"/>
                  </a:lnTo>
                  <a:lnTo>
                    <a:pt x="572354" y="480728"/>
                  </a:lnTo>
                  <a:lnTo>
                    <a:pt x="546155" y="515452"/>
                  </a:lnTo>
                  <a:lnTo>
                    <a:pt x="515452" y="546155"/>
                  </a:lnTo>
                  <a:lnTo>
                    <a:pt x="480728" y="572354"/>
                  </a:lnTo>
                  <a:lnTo>
                    <a:pt x="442464" y="593570"/>
                  </a:lnTo>
                  <a:lnTo>
                    <a:pt x="401142" y="609320"/>
                  </a:lnTo>
                  <a:lnTo>
                    <a:pt x="357243" y="619124"/>
                  </a:lnTo>
                  <a:lnTo>
                    <a:pt x="311249" y="622498"/>
                  </a:lnTo>
                  <a:close/>
                </a:path>
              </a:pathLst>
            </a:custGeom>
            <a:solidFill>
              <a:srgbClr val="B6D6A8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4676240" y="2832569"/>
              <a:ext cx="622935" cy="622935"/>
            </a:xfrm>
            <a:custGeom>
              <a:avLst/>
              <a:gdLst/>
              <a:ahLst/>
              <a:cxnLst/>
              <a:rect l="l" t="t" r="r" b="b"/>
              <a:pathLst>
                <a:path w="622935" h="622935">
                  <a:moveTo>
                    <a:pt x="0" y="311249"/>
                  </a:moveTo>
                  <a:lnTo>
                    <a:pt x="3374" y="265254"/>
                  </a:lnTo>
                  <a:lnTo>
                    <a:pt x="13177" y="221355"/>
                  </a:lnTo>
                  <a:lnTo>
                    <a:pt x="28928" y="180033"/>
                  </a:lnTo>
                  <a:lnTo>
                    <a:pt x="50143" y="141770"/>
                  </a:lnTo>
                  <a:lnTo>
                    <a:pt x="76343" y="107046"/>
                  </a:lnTo>
                  <a:lnTo>
                    <a:pt x="107046" y="76343"/>
                  </a:lnTo>
                  <a:lnTo>
                    <a:pt x="141770" y="50143"/>
                  </a:lnTo>
                  <a:lnTo>
                    <a:pt x="180033" y="28928"/>
                  </a:lnTo>
                  <a:lnTo>
                    <a:pt x="221355" y="13177"/>
                  </a:lnTo>
                  <a:lnTo>
                    <a:pt x="265254" y="3374"/>
                  </a:lnTo>
                  <a:lnTo>
                    <a:pt x="311249" y="0"/>
                  </a:lnTo>
                  <a:lnTo>
                    <a:pt x="360234" y="3878"/>
                  </a:lnTo>
                  <a:lnTo>
                    <a:pt x="407572" y="15281"/>
                  </a:lnTo>
                  <a:lnTo>
                    <a:pt x="452424" y="33863"/>
                  </a:lnTo>
                  <a:lnTo>
                    <a:pt x="493954" y="59276"/>
                  </a:lnTo>
                  <a:lnTo>
                    <a:pt x="531323" y="91174"/>
                  </a:lnTo>
                  <a:lnTo>
                    <a:pt x="563222" y="128544"/>
                  </a:lnTo>
                  <a:lnTo>
                    <a:pt x="588635" y="170073"/>
                  </a:lnTo>
                  <a:lnTo>
                    <a:pt x="607217" y="214926"/>
                  </a:lnTo>
                  <a:lnTo>
                    <a:pt x="618620" y="262264"/>
                  </a:lnTo>
                  <a:lnTo>
                    <a:pt x="622498" y="311249"/>
                  </a:lnTo>
                  <a:lnTo>
                    <a:pt x="619124" y="357243"/>
                  </a:lnTo>
                  <a:lnTo>
                    <a:pt x="609320" y="401142"/>
                  </a:lnTo>
                  <a:lnTo>
                    <a:pt x="593570" y="442464"/>
                  </a:lnTo>
                  <a:lnTo>
                    <a:pt x="572354" y="480728"/>
                  </a:lnTo>
                  <a:lnTo>
                    <a:pt x="546154" y="515452"/>
                  </a:lnTo>
                  <a:lnTo>
                    <a:pt x="515452" y="546154"/>
                  </a:lnTo>
                  <a:lnTo>
                    <a:pt x="480728" y="572354"/>
                  </a:lnTo>
                  <a:lnTo>
                    <a:pt x="442464" y="593570"/>
                  </a:lnTo>
                  <a:lnTo>
                    <a:pt x="401142" y="609320"/>
                  </a:lnTo>
                  <a:lnTo>
                    <a:pt x="357243" y="619124"/>
                  </a:lnTo>
                  <a:lnTo>
                    <a:pt x="311249" y="622498"/>
                  </a:lnTo>
                  <a:lnTo>
                    <a:pt x="265254" y="619124"/>
                  </a:lnTo>
                  <a:lnTo>
                    <a:pt x="221355" y="609320"/>
                  </a:lnTo>
                  <a:lnTo>
                    <a:pt x="180033" y="593570"/>
                  </a:lnTo>
                  <a:lnTo>
                    <a:pt x="141770" y="572354"/>
                  </a:lnTo>
                  <a:lnTo>
                    <a:pt x="107046" y="546154"/>
                  </a:lnTo>
                  <a:lnTo>
                    <a:pt x="76343" y="515452"/>
                  </a:lnTo>
                  <a:lnTo>
                    <a:pt x="50143" y="480728"/>
                  </a:lnTo>
                  <a:lnTo>
                    <a:pt x="28928" y="442464"/>
                  </a:lnTo>
                  <a:lnTo>
                    <a:pt x="13177" y="401142"/>
                  </a:lnTo>
                  <a:lnTo>
                    <a:pt x="3374" y="357243"/>
                  </a:lnTo>
                  <a:lnTo>
                    <a:pt x="0" y="31124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4892247" y="3841110"/>
            <a:ext cx="190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Garamond" panose="02020404030301010803" pitchFamily="18" charset="0"/>
                <a:cs typeface="Arial"/>
              </a:rPr>
              <a:t>R</a:t>
            </a:r>
          </a:p>
        </p:txBody>
      </p:sp>
      <p:grpSp>
        <p:nvGrpSpPr>
          <p:cNvPr id="38" name="object 38"/>
          <p:cNvGrpSpPr/>
          <p:nvPr/>
        </p:nvGrpSpPr>
        <p:grpSpPr>
          <a:xfrm>
            <a:off x="5385740" y="2899059"/>
            <a:ext cx="1304925" cy="1743075"/>
            <a:chOff x="5385739" y="2041808"/>
            <a:chExt cx="1304925" cy="1743075"/>
          </a:xfrm>
        </p:grpSpPr>
        <p:sp>
          <p:nvSpPr>
            <p:cNvPr id="39" name="object 39"/>
            <p:cNvSpPr/>
            <p:nvPr/>
          </p:nvSpPr>
          <p:spPr>
            <a:xfrm>
              <a:off x="5404789" y="3360168"/>
              <a:ext cx="811198" cy="4055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5395264" y="3350643"/>
              <a:ext cx="830580" cy="424815"/>
            </a:xfrm>
            <a:custGeom>
              <a:avLst/>
              <a:gdLst/>
              <a:ahLst/>
              <a:cxnLst/>
              <a:rect l="l" t="t" r="r" b="b"/>
              <a:pathLst>
                <a:path w="830579" h="424814">
                  <a:moveTo>
                    <a:pt x="0" y="0"/>
                  </a:moveTo>
                  <a:lnTo>
                    <a:pt x="830248" y="0"/>
                  </a:lnTo>
                  <a:lnTo>
                    <a:pt x="830248" y="424649"/>
                  </a:lnTo>
                  <a:lnTo>
                    <a:pt x="0" y="4246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6279987" y="2046570"/>
              <a:ext cx="405765" cy="405765"/>
            </a:xfrm>
            <a:custGeom>
              <a:avLst/>
              <a:gdLst/>
              <a:ahLst/>
              <a:cxnLst/>
              <a:rect l="l" t="t" r="r" b="b"/>
              <a:pathLst>
                <a:path w="405765" h="405764">
                  <a:moveTo>
                    <a:pt x="202799" y="405599"/>
                  </a:moveTo>
                  <a:lnTo>
                    <a:pt x="156300" y="400243"/>
                  </a:lnTo>
                  <a:lnTo>
                    <a:pt x="113614" y="384986"/>
                  </a:lnTo>
                  <a:lnTo>
                    <a:pt x="75960" y="361046"/>
                  </a:lnTo>
                  <a:lnTo>
                    <a:pt x="44553" y="329640"/>
                  </a:lnTo>
                  <a:lnTo>
                    <a:pt x="20613" y="291985"/>
                  </a:lnTo>
                  <a:lnTo>
                    <a:pt x="5356" y="249299"/>
                  </a:lnTo>
                  <a:lnTo>
                    <a:pt x="0" y="202799"/>
                  </a:lnTo>
                  <a:lnTo>
                    <a:pt x="5356" y="156299"/>
                  </a:lnTo>
                  <a:lnTo>
                    <a:pt x="20613" y="113613"/>
                  </a:lnTo>
                  <a:lnTo>
                    <a:pt x="44553" y="75959"/>
                  </a:lnTo>
                  <a:lnTo>
                    <a:pt x="75960" y="44553"/>
                  </a:lnTo>
                  <a:lnTo>
                    <a:pt x="113614" y="20612"/>
                  </a:lnTo>
                  <a:lnTo>
                    <a:pt x="156300" y="5356"/>
                  </a:lnTo>
                  <a:lnTo>
                    <a:pt x="202799" y="0"/>
                  </a:lnTo>
                  <a:lnTo>
                    <a:pt x="242544" y="3932"/>
                  </a:lnTo>
                  <a:lnTo>
                    <a:pt x="280405" y="15437"/>
                  </a:lnTo>
                  <a:lnTo>
                    <a:pt x="315313" y="34072"/>
                  </a:lnTo>
                  <a:lnTo>
                    <a:pt x="346199" y="59397"/>
                  </a:lnTo>
                  <a:lnTo>
                    <a:pt x="371522" y="90285"/>
                  </a:lnTo>
                  <a:lnTo>
                    <a:pt x="390158" y="125191"/>
                  </a:lnTo>
                  <a:lnTo>
                    <a:pt x="401665" y="163050"/>
                  </a:lnTo>
                  <a:lnTo>
                    <a:pt x="405599" y="202799"/>
                  </a:lnTo>
                  <a:lnTo>
                    <a:pt x="400242" y="249299"/>
                  </a:lnTo>
                  <a:lnTo>
                    <a:pt x="384985" y="291985"/>
                  </a:lnTo>
                  <a:lnTo>
                    <a:pt x="361045" y="329640"/>
                  </a:lnTo>
                  <a:lnTo>
                    <a:pt x="329638" y="361046"/>
                  </a:lnTo>
                  <a:lnTo>
                    <a:pt x="291984" y="384986"/>
                  </a:lnTo>
                  <a:lnTo>
                    <a:pt x="249298" y="400243"/>
                  </a:lnTo>
                  <a:lnTo>
                    <a:pt x="202799" y="405599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279987" y="2046570"/>
              <a:ext cx="405765" cy="405765"/>
            </a:xfrm>
            <a:custGeom>
              <a:avLst/>
              <a:gdLst/>
              <a:ahLst/>
              <a:cxnLst/>
              <a:rect l="l" t="t" r="r" b="b"/>
              <a:pathLst>
                <a:path w="405765" h="405764">
                  <a:moveTo>
                    <a:pt x="0" y="202799"/>
                  </a:moveTo>
                  <a:lnTo>
                    <a:pt x="5356" y="156299"/>
                  </a:lnTo>
                  <a:lnTo>
                    <a:pt x="20613" y="113613"/>
                  </a:lnTo>
                  <a:lnTo>
                    <a:pt x="44553" y="75959"/>
                  </a:lnTo>
                  <a:lnTo>
                    <a:pt x="75960" y="44553"/>
                  </a:lnTo>
                  <a:lnTo>
                    <a:pt x="113614" y="20612"/>
                  </a:lnTo>
                  <a:lnTo>
                    <a:pt x="156300" y="5356"/>
                  </a:lnTo>
                  <a:lnTo>
                    <a:pt x="202799" y="0"/>
                  </a:lnTo>
                  <a:lnTo>
                    <a:pt x="242544" y="3932"/>
                  </a:lnTo>
                  <a:lnTo>
                    <a:pt x="280405" y="15437"/>
                  </a:lnTo>
                  <a:lnTo>
                    <a:pt x="315313" y="34072"/>
                  </a:lnTo>
                  <a:lnTo>
                    <a:pt x="346199" y="59397"/>
                  </a:lnTo>
                  <a:lnTo>
                    <a:pt x="371522" y="90285"/>
                  </a:lnTo>
                  <a:lnTo>
                    <a:pt x="390158" y="125191"/>
                  </a:lnTo>
                  <a:lnTo>
                    <a:pt x="401665" y="163050"/>
                  </a:lnTo>
                  <a:lnTo>
                    <a:pt x="405599" y="202799"/>
                  </a:lnTo>
                  <a:lnTo>
                    <a:pt x="400242" y="249299"/>
                  </a:lnTo>
                  <a:lnTo>
                    <a:pt x="384985" y="291985"/>
                  </a:lnTo>
                  <a:lnTo>
                    <a:pt x="361045" y="329640"/>
                  </a:lnTo>
                  <a:lnTo>
                    <a:pt x="329638" y="361046"/>
                  </a:lnTo>
                  <a:lnTo>
                    <a:pt x="291984" y="384986"/>
                  </a:lnTo>
                  <a:lnTo>
                    <a:pt x="249298" y="400243"/>
                  </a:lnTo>
                  <a:lnTo>
                    <a:pt x="202799" y="405599"/>
                  </a:lnTo>
                  <a:lnTo>
                    <a:pt x="156300" y="400243"/>
                  </a:lnTo>
                  <a:lnTo>
                    <a:pt x="113614" y="384986"/>
                  </a:lnTo>
                  <a:lnTo>
                    <a:pt x="75960" y="361046"/>
                  </a:lnTo>
                  <a:lnTo>
                    <a:pt x="44553" y="329640"/>
                  </a:lnTo>
                  <a:lnTo>
                    <a:pt x="20613" y="291985"/>
                  </a:lnTo>
                  <a:lnTo>
                    <a:pt x="5356" y="249299"/>
                  </a:lnTo>
                  <a:lnTo>
                    <a:pt x="0" y="2027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6436715" y="3022677"/>
            <a:ext cx="92710" cy="1513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900" dirty="0">
                <a:latin typeface="Garamond" panose="02020404030301010803" pitchFamily="18" charset="0"/>
                <a:cs typeface="Arial"/>
              </a:rPr>
              <a:t>+</a:t>
            </a:r>
          </a:p>
        </p:txBody>
      </p:sp>
      <p:grpSp>
        <p:nvGrpSpPr>
          <p:cNvPr id="44" name="object 44"/>
          <p:cNvGrpSpPr/>
          <p:nvPr/>
        </p:nvGrpSpPr>
        <p:grpSpPr>
          <a:xfrm>
            <a:off x="6737486" y="3086126"/>
            <a:ext cx="802640" cy="41275"/>
            <a:chOff x="6737486" y="2228875"/>
            <a:chExt cx="802640" cy="41275"/>
          </a:xfrm>
        </p:grpSpPr>
        <p:sp>
          <p:nvSpPr>
            <p:cNvPr id="45" name="object 45"/>
            <p:cNvSpPr/>
            <p:nvPr/>
          </p:nvSpPr>
          <p:spPr>
            <a:xfrm>
              <a:off x="6737486" y="2249370"/>
              <a:ext cx="754380" cy="0"/>
            </a:xfrm>
            <a:custGeom>
              <a:avLst/>
              <a:gdLst/>
              <a:ahLst/>
              <a:cxnLst/>
              <a:rect l="l" t="t" r="r" b="b"/>
              <a:pathLst>
                <a:path w="754379">
                  <a:moveTo>
                    <a:pt x="0" y="0"/>
                  </a:moveTo>
                  <a:lnTo>
                    <a:pt x="7540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491534" y="22336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491534" y="2233638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48" name="object 48"/>
          <p:cNvSpPr txBox="1"/>
          <p:nvPr/>
        </p:nvSpPr>
        <p:spPr>
          <a:xfrm>
            <a:off x="7738863" y="2967706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latin typeface="Garamond" panose="02020404030301010803" pitchFamily="18" charset="0"/>
                <a:cs typeface="Arial"/>
              </a:rPr>
              <a:t>L</a:t>
            </a:r>
          </a:p>
        </p:txBody>
      </p:sp>
      <p:sp>
        <p:nvSpPr>
          <p:cNvPr id="52" name="object 52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53" name="object 53"/>
          <p:cNvSpPr txBox="1">
            <a:spLocks noGrp="1"/>
          </p:cNvSpPr>
          <p:nvPr>
            <p:ph type="sldNum" sz="quarter" idx="7"/>
          </p:nvPr>
        </p:nvSpPr>
        <p:spPr>
          <a:xfrm>
            <a:off x="5105644" y="4693239"/>
            <a:ext cx="144525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4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3374422" y="2816804"/>
            <a:ext cx="81597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b="1" dirty="0">
                <a:latin typeface="Garamond" panose="02020404030301010803" pitchFamily="18" charset="0"/>
                <a:cs typeface="Arial"/>
              </a:rPr>
              <a:t>s</a:t>
            </a:r>
            <a:r>
              <a:rPr sz="1400" b="1" spc="-85" dirty="0">
                <a:latin typeface="Garamond" panose="02020404030301010803" pitchFamily="18" charset="0"/>
                <a:cs typeface="Arial"/>
              </a:rPr>
              <a:t> </a:t>
            </a:r>
            <a:r>
              <a:rPr sz="1400" dirty="0">
                <a:latin typeface="Garamond" panose="02020404030301010803" pitchFamily="18" charset="0"/>
                <a:cs typeface="Arial"/>
              </a:rPr>
              <a:t>(scores)</a:t>
            </a:r>
          </a:p>
        </p:txBody>
      </p:sp>
      <p:sp>
        <p:nvSpPr>
          <p:cNvPr id="50" name="object 50"/>
          <p:cNvSpPr txBox="1">
            <a:spLocks noGrp="1"/>
          </p:cNvSpPr>
          <p:nvPr>
            <p:ph type="title"/>
          </p:nvPr>
        </p:nvSpPr>
        <p:spPr>
          <a:xfrm>
            <a:off x="384725" y="873345"/>
            <a:ext cx="8499475" cy="689932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/>
              <a:t>Computational graphs</a:t>
            </a:r>
          </a:p>
        </p:txBody>
      </p:sp>
      <p:sp>
        <p:nvSpPr>
          <p:cNvPr id="51" name="object 51"/>
          <p:cNvSpPr txBox="1"/>
          <p:nvPr/>
        </p:nvSpPr>
        <p:spPr>
          <a:xfrm>
            <a:off x="2626672" y="2912956"/>
            <a:ext cx="17399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dirty="0">
                <a:latin typeface="Garamond" panose="02020404030301010803" pitchFamily="18" charset="0"/>
                <a:cs typeface="Arial"/>
              </a:rPr>
              <a:t>*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4A65E51-0CFA-4839-969D-C62C752F0809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4496428" y="1002400"/>
            <a:ext cx="4530090" cy="2929255"/>
            <a:chOff x="4496428" y="145149"/>
            <a:chExt cx="4530090" cy="2929255"/>
          </a:xfrm>
        </p:grpSpPr>
        <p:sp>
          <p:nvSpPr>
            <p:cNvPr id="3" name="object 3"/>
            <p:cNvSpPr/>
            <p:nvPr/>
          </p:nvSpPr>
          <p:spPr>
            <a:xfrm>
              <a:off x="4505940" y="154674"/>
              <a:ext cx="4510690" cy="205672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4501190" y="149912"/>
              <a:ext cx="4520565" cy="2066289"/>
            </a:xfrm>
            <a:custGeom>
              <a:avLst/>
              <a:gdLst/>
              <a:ahLst/>
              <a:cxnLst/>
              <a:rect l="l" t="t" r="r" b="b"/>
              <a:pathLst>
                <a:path w="4520565" h="2066289">
                  <a:moveTo>
                    <a:pt x="0" y="0"/>
                  </a:moveTo>
                  <a:lnTo>
                    <a:pt x="4520215" y="0"/>
                  </a:lnTo>
                  <a:lnTo>
                    <a:pt x="4520215" y="2066245"/>
                  </a:lnTo>
                  <a:lnTo>
                    <a:pt x="0" y="2066245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5177314" y="642551"/>
              <a:ext cx="3279140" cy="1793875"/>
            </a:xfrm>
            <a:custGeom>
              <a:avLst/>
              <a:gdLst/>
              <a:ahLst/>
              <a:cxnLst/>
              <a:rect l="l" t="t" r="r" b="b"/>
              <a:pathLst>
                <a:path w="3279140" h="1793875">
                  <a:moveTo>
                    <a:pt x="3278618" y="179344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091939" y="591538"/>
              <a:ext cx="109999" cy="8814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8262683" y="2435995"/>
              <a:ext cx="426474" cy="61919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8253158" y="2426470"/>
              <a:ext cx="445770" cy="638810"/>
            </a:xfrm>
            <a:custGeom>
              <a:avLst/>
              <a:gdLst/>
              <a:ahLst/>
              <a:cxnLst/>
              <a:rect l="l" t="t" r="r" b="b"/>
              <a:pathLst>
                <a:path w="445770" h="638810">
                  <a:moveTo>
                    <a:pt x="0" y="0"/>
                  </a:moveTo>
                  <a:lnTo>
                    <a:pt x="445524" y="0"/>
                  </a:lnTo>
                  <a:lnTo>
                    <a:pt x="445524" y="638248"/>
                  </a:lnTo>
                  <a:lnTo>
                    <a:pt x="0" y="63824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5436563" y="3993619"/>
            <a:ext cx="1995170" cy="959485"/>
            <a:chOff x="5436563" y="3136368"/>
            <a:chExt cx="1995170" cy="959485"/>
          </a:xfrm>
        </p:grpSpPr>
        <p:sp>
          <p:nvSpPr>
            <p:cNvPr id="10" name="object 10"/>
            <p:cNvSpPr/>
            <p:nvPr/>
          </p:nvSpPr>
          <p:spPr>
            <a:xfrm>
              <a:off x="5455613" y="3155418"/>
              <a:ext cx="1956895" cy="747173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5446088" y="3145893"/>
              <a:ext cx="1976120" cy="766445"/>
            </a:xfrm>
            <a:custGeom>
              <a:avLst/>
              <a:gdLst/>
              <a:ahLst/>
              <a:cxnLst/>
              <a:rect l="l" t="t" r="r" b="b"/>
              <a:pathLst>
                <a:path w="1976120" h="766445">
                  <a:moveTo>
                    <a:pt x="0" y="0"/>
                  </a:moveTo>
                  <a:lnTo>
                    <a:pt x="1975946" y="0"/>
                  </a:lnTo>
                  <a:lnTo>
                    <a:pt x="1975946" y="766223"/>
                  </a:lnTo>
                  <a:lnTo>
                    <a:pt x="0" y="76622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6536574" y="3931929"/>
              <a:ext cx="181324" cy="1368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267497" y="3966729"/>
              <a:ext cx="84624" cy="129124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5615564" y="3588601"/>
            <a:ext cx="14992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Chain</a:t>
            </a:r>
            <a:r>
              <a:rPr sz="2400" spc="-85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rule: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167275" y="3574470"/>
            <a:ext cx="4185285" cy="804545"/>
            <a:chOff x="167274" y="2717219"/>
            <a:chExt cx="4185285" cy="804545"/>
          </a:xfrm>
        </p:grpSpPr>
        <p:sp>
          <p:nvSpPr>
            <p:cNvPr id="16" name="object 16"/>
            <p:cNvSpPr/>
            <p:nvPr/>
          </p:nvSpPr>
          <p:spPr>
            <a:xfrm>
              <a:off x="176799" y="2726744"/>
              <a:ext cx="4166235" cy="785495"/>
            </a:xfrm>
            <a:custGeom>
              <a:avLst/>
              <a:gdLst/>
              <a:ahLst/>
              <a:cxnLst/>
              <a:rect l="l" t="t" r="r" b="b"/>
              <a:pathLst>
                <a:path w="4166235" h="785495">
                  <a:moveTo>
                    <a:pt x="0" y="0"/>
                  </a:moveTo>
                  <a:lnTo>
                    <a:pt x="4166091" y="0"/>
                  </a:lnTo>
                  <a:lnTo>
                    <a:pt x="4166091" y="785398"/>
                  </a:lnTo>
                  <a:lnTo>
                    <a:pt x="0" y="7853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29199" y="2892219"/>
              <a:ext cx="942973" cy="45719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2076770" y="2825544"/>
              <a:ext cx="2047870" cy="5905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9" name="object 19"/>
          <p:cNvGrpSpPr/>
          <p:nvPr/>
        </p:nvGrpSpPr>
        <p:grpSpPr>
          <a:xfrm>
            <a:off x="156775" y="2666897"/>
            <a:ext cx="4185285" cy="804545"/>
            <a:chOff x="156774" y="1809646"/>
            <a:chExt cx="4185285" cy="804545"/>
          </a:xfrm>
        </p:grpSpPr>
        <p:sp>
          <p:nvSpPr>
            <p:cNvPr id="20" name="object 20"/>
            <p:cNvSpPr/>
            <p:nvPr/>
          </p:nvSpPr>
          <p:spPr>
            <a:xfrm>
              <a:off x="166299" y="1819171"/>
              <a:ext cx="4166235" cy="785495"/>
            </a:xfrm>
            <a:custGeom>
              <a:avLst/>
              <a:gdLst/>
              <a:ahLst/>
              <a:cxnLst/>
              <a:rect l="l" t="t" r="r" b="b"/>
              <a:pathLst>
                <a:path w="4166235" h="785494">
                  <a:moveTo>
                    <a:pt x="0" y="0"/>
                  </a:moveTo>
                  <a:lnTo>
                    <a:pt x="4166091" y="0"/>
                  </a:lnTo>
                  <a:lnTo>
                    <a:pt x="4166091" y="785398"/>
                  </a:lnTo>
                  <a:lnTo>
                    <a:pt x="0" y="7853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283386" y="1998345"/>
              <a:ext cx="1409697" cy="390524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123432" y="1884046"/>
              <a:ext cx="2009758" cy="619123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3" name="object 23"/>
          <p:cNvSpPr/>
          <p:nvPr/>
        </p:nvSpPr>
        <p:spPr>
          <a:xfrm>
            <a:off x="376274" y="1546874"/>
            <a:ext cx="2838444" cy="43814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08148" y="2080235"/>
            <a:ext cx="31635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e.g. </a:t>
            </a:r>
            <a:r>
              <a:rPr sz="2400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x = -2, y = </a:t>
            </a:r>
            <a:r>
              <a:rPr sz="2400" spc="-5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5, </a:t>
            </a:r>
            <a:r>
              <a:rPr sz="2400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z =</a:t>
            </a:r>
            <a:r>
              <a:rPr sz="2400" spc="-140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solidFill>
                  <a:srgbClr val="38751C"/>
                </a:solidFill>
                <a:latin typeface="Garamond" panose="02020404030301010803" pitchFamily="18" charset="0"/>
                <a:cs typeface="Arial"/>
              </a:rPr>
              <a:t>-4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1604796" y="4478667"/>
            <a:ext cx="1565688" cy="61919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title"/>
          </p:nvPr>
        </p:nvSpPr>
        <p:spPr>
          <a:xfrm>
            <a:off x="156124" y="996314"/>
            <a:ext cx="4040504" cy="33020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/>
              <a:t>Backpropagation: </a:t>
            </a:r>
            <a:r>
              <a:rPr sz="2000" dirty="0"/>
              <a:t>a simple</a:t>
            </a:r>
            <a:r>
              <a:rPr sz="2000" spc="-105" dirty="0"/>
              <a:t> </a:t>
            </a:r>
            <a:r>
              <a:rPr sz="2000" spc="-5" dirty="0"/>
              <a:t>example</a:t>
            </a:r>
            <a:endParaRPr sz="2000"/>
          </a:p>
        </p:txBody>
      </p:sp>
      <p:sp>
        <p:nvSpPr>
          <p:cNvPr id="27" name="object 27"/>
          <p:cNvSpPr txBox="1"/>
          <p:nvPr/>
        </p:nvSpPr>
        <p:spPr>
          <a:xfrm>
            <a:off x="499500" y="4625294"/>
            <a:ext cx="809625" cy="3663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755"/>
              </a:lnSpc>
            </a:pPr>
            <a:r>
              <a:rPr sz="2400" spc="-95" dirty="0">
                <a:latin typeface="Garamond" panose="02020404030301010803" pitchFamily="18" charset="0"/>
                <a:cs typeface="Arial"/>
              </a:rPr>
              <a:t>W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ant: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072754" y="4899721"/>
            <a:ext cx="795655" cy="43370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45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7078600" y="4899721"/>
            <a:ext cx="668020" cy="43370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45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Local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7634717" y="5550489"/>
            <a:ext cx="1433195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April 13,</a:t>
            </a:r>
            <a:r>
              <a:rPr spc="-9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2017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BB8F1DC-C72B-47F1-9CE4-2271BB802E49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249" y="1342474"/>
            <a:ext cx="9182100" cy="4677410"/>
            <a:chOff x="-19249" y="485224"/>
            <a:chExt cx="9182100" cy="4677410"/>
          </a:xfrm>
        </p:grpSpPr>
        <p:sp>
          <p:nvSpPr>
            <p:cNvPr id="3" name="object 3"/>
            <p:cNvSpPr/>
            <p:nvPr/>
          </p:nvSpPr>
          <p:spPr>
            <a:xfrm>
              <a:off x="2976194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1747346" y="3494693"/>
                  </a:moveTo>
                  <a:lnTo>
                    <a:pt x="1699250" y="3494043"/>
                  </a:lnTo>
                  <a:lnTo>
                    <a:pt x="1651475" y="3492107"/>
                  </a:lnTo>
                  <a:lnTo>
                    <a:pt x="1604038" y="3488900"/>
                  </a:lnTo>
                  <a:lnTo>
                    <a:pt x="1556955" y="3484439"/>
                  </a:lnTo>
                  <a:lnTo>
                    <a:pt x="1510244" y="3478741"/>
                  </a:lnTo>
                  <a:lnTo>
                    <a:pt x="1463920" y="3471822"/>
                  </a:lnTo>
                  <a:lnTo>
                    <a:pt x="1418000" y="3463700"/>
                  </a:lnTo>
                  <a:lnTo>
                    <a:pt x="1372502" y="3454390"/>
                  </a:lnTo>
                  <a:lnTo>
                    <a:pt x="1327442" y="3443909"/>
                  </a:lnTo>
                  <a:lnTo>
                    <a:pt x="1282835" y="3432275"/>
                  </a:lnTo>
                  <a:lnTo>
                    <a:pt x="1238700" y="3419503"/>
                  </a:lnTo>
                  <a:lnTo>
                    <a:pt x="1195053" y="3405611"/>
                  </a:lnTo>
                  <a:lnTo>
                    <a:pt x="1151910" y="3390614"/>
                  </a:lnTo>
                  <a:lnTo>
                    <a:pt x="1109288" y="3374531"/>
                  </a:lnTo>
                  <a:lnTo>
                    <a:pt x="1067204" y="3357376"/>
                  </a:lnTo>
                  <a:lnTo>
                    <a:pt x="1025674" y="3339168"/>
                  </a:lnTo>
                  <a:lnTo>
                    <a:pt x="984715" y="3319922"/>
                  </a:lnTo>
                  <a:lnTo>
                    <a:pt x="944344" y="3299655"/>
                  </a:lnTo>
                  <a:lnTo>
                    <a:pt x="904577" y="3278384"/>
                  </a:lnTo>
                  <a:lnTo>
                    <a:pt x="865431" y="3256126"/>
                  </a:lnTo>
                  <a:lnTo>
                    <a:pt x="826923" y="3232898"/>
                  </a:lnTo>
                  <a:lnTo>
                    <a:pt x="789069" y="3208715"/>
                  </a:lnTo>
                  <a:lnTo>
                    <a:pt x="751886" y="3183594"/>
                  </a:lnTo>
                  <a:lnTo>
                    <a:pt x="715390" y="3157553"/>
                  </a:lnTo>
                  <a:lnTo>
                    <a:pt x="679599" y="3130608"/>
                  </a:lnTo>
                  <a:lnTo>
                    <a:pt x="644528" y="3102775"/>
                  </a:lnTo>
                  <a:lnTo>
                    <a:pt x="610196" y="3074072"/>
                  </a:lnTo>
                  <a:lnTo>
                    <a:pt x="576617" y="3044514"/>
                  </a:lnTo>
                  <a:lnTo>
                    <a:pt x="543809" y="3014119"/>
                  </a:lnTo>
                  <a:lnTo>
                    <a:pt x="511789" y="2982903"/>
                  </a:lnTo>
                  <a:lnTo>
                    <a:pt x="480573" y="2950883"/>
                  </a:lnTo>
                  <a:lnTo>
                    <a:pt x="450178" y="2918075"/>
                  </a:lnTo>
                  <a:lnTo>
                    <a:pt x="420620" y="2884496"/>
                  </a:lnTo>
                  <a:lnTo>
                    <a:pt x="391917" y="2850164"/>
                  </a:lnTo>
                  <a:lnTo>
                    <a:pt x="364084" y="2815093"/>
                  </a:lnTo>
                  <a:lnTo>
                    <a:pt x="337139" y="2779302"/>
                  </a:lnTo>
                  <a:lnTo>
                    <a:pt x="311098" y="2742806"/>
                  </a:lnTo>
                  <a:lnTo>
                    <a:pt x="285977" y="2705623"/>
                  </a:lnTo>
                  <a:lnTo>
                    <a:pt x="261794" y="2667769"/>
                  </a:lnTo>
                  <a:lnTo>
                    <a:pt x="238566" y="2629261"/>
                  </a:lnTo>
                  <a:lnTo>
                    <a:pt x="216308" y="2590115"/>
                  </a:lnTo>
                  <a:lnTo>
                    <a:pt x="195037" y="2550348"/>
                  </a:lnTo>
                  <a:lnTo>
                    <a:pt x="174770" y="2509977"/>
                  </a:lnTo>
                  <a:lnTo>
                    <a:pt x="155525" y="2469018"/>
                  </a:lnTo>
                  <a:lnTo>
                    <a:pt x="137316" y="2427488"/>
                  </a:lnTo>
                  <a:lnTo>
                    <a:pt x="120162" y="2385404"/>
                  </a:lnTo>
                  <a:lnTo>
                    <a:pt x="104078" y="2342782"/>
                  </a:lnTo>
                  <a:lnTo>
                    <a:pt x="89081" y="2299639"/>
                  </a:lnTo>
                  <a:lnTo>
                    <a:pt x="75189" y="2255992"/>
                  </a:lnTo>
                  <a:lnTo>
                    <a:pt x="62417" y="2211857"/>
                  </a:lnTo>
                  <a:lnTo>
                    <a:pt x="50783" y="2167250"/>
                  </a:lnTo>
                  <a:lnTo>
                    <a:pt x="40302" y="2122190"/>
                  </a:lnTo>
                  <a:lnTo>
                    <a:pt x="30992" y="2076692"/>
                  </a:lnTo>
                  <a:lnTo>
                    <a:pt x="22870" y="2030772"/>
                  </a:lnTo>
                  <a:lnTo>
                    <a:pt x="15951" y="1984449"/>
                  </a:lnTo>
                  <a:lnTo>
                    <a:pt x="10253" y="1937737"/>
                  </a:lnTo>
                  <a:lnTo>
                    <a:pt x="5792" y="1890654"/>
                  </a:lnTo>
                  <a:lnTo>
                    <a:pt x="2585" y="1843217"/>
                  </a:lnTo>
                  <a:lnTo>
                    <a:pt x="649" y="1795442"/>
                  </a:lnTo>
                  <a:lnTo>
                    <a:pt x="0" y="1747346"/>
                  </a:lnTo>
                  <a:lnTo>
                    <a:pt x="649" y="1699249"/>
                  </a:lnTo>
                  <a:lnTo>
                    <a:pt x="2585" y="1651474"/>
                  </a:lnTo>
                  <a:lnTo>
                    <a:pt x="5792" y="1604036"/>
                  </a:lnTo>
                  <a:lnTo>
                    <a:pt x="10253" y="1556953"/>
                  </a:lnTo>
                  <a:lnTo>
                    <a:pt x="15951" y="1510241"/>
                  </a:lnTo>
                  <a:lnTo>
                    <a:pt x="22870" y="1463917"/>
                  </a:lnTo>
                  <a:lnTo>
                    <a:pt x="30992" y="1417998"/>
                  </a:lnTo>
                  <a:lnTo>
                    <a:pt x="40302" y="1372499"/>
                  </a:lnTo>
                  <a:lnTo>
                    <a:pt x="50783" y="1327438"/>
                  </a:lnTo>
                  <a:lnTo>
                    <a:pt x="62417" y="1282832"/>
                  </a:lnTo>
                  <a:lnTo>
                    <a:pt x="75189" y="1238697"/>
                  </a:lnTo>
                  <a:lnTo>
                    <a:pt x="89081" y="1195049"/>
                  </a:lnTo>
                  <a:lnTo>
                    <a:pt x="104078" y="1151906"/>
                  </a:lnTo>
                  <a:lnTo>
                    <a:pt x="120162" y="1109284"/>
                  </a:lnTo>
                  <a:lnTo>
                    <a:pt x="137316" y="1067200"/>
                  </a:lnTo>
                  <a:lnTo>
                    <a:pt x="155525" y="1025670"/>
                  </a:lnTo>
                  <a:lnTo>
                    <a:pt x="174770" y="984711"/>
                  </a:lnTo>
                  <a:lnTo>
                    <a:pt x="195037" y="944340"/>
                  </a:lnTo>
                  <a:lnTo>
                    <a:pt x="216308" y="904573"/>
                  </a:lnTo>
                  <a:lnTo>
                    <a:pt x="238566" y="865427"/>
                  </a:lnTo>
                  <a:lnTo>
                    <a:pt x="261794" y="826918"/>
                  </a:lnTo>
                  <a:lnTo>
                    <a:pt x="285977" y="789064"/>
                  </a:lnTo>
                  <a:lnTo>
                    <a:pt x="311098" y="751881"/>
                  </a:lnTo>
                  <a:lnTo>
                    <a:pt x="337139" y="715386"/>
                  </a:lnTo>
                  <a:lnTo>
                    <a:pt x="364084" y="679595"/>
                  </a:lnTo>
                  <a:lnTo>
                    <a:pt x="391917" y="644524"/>
                  </a:lnTo>
                  <a:lnTo>
                    <a:pt x="420620" y="610192"/>
                  </a:lnTo>
                  <a:lnTo>
                    <a:pt x="450178" y="576613"/>
                  </a:lnTo>
                  <a:lnTo>
                    <a:pt x="480573" y="543805"/>
                  </a:lnTo>
                  <a:lnTo>
                    <a:pt x="511789" y="511785"/>
                  </a:lnTo>
                  <a:lnTo>
                    <a:pt x="543809" y="480569"/>
                  </a:lnTo>
                  <a:lnTo>
                    <a:pt x="576617" y="450174"/>
                  </a:lnTo>
                  <a:lnTo>
                    <a:pt x="610196" y="420617"/>
                  </a:lnTo>
                  <a:lnTo>
                    <a:pt x="644528" y="391914"/>
                  </a:lnTo>
                  <a:lnTo>
                    <a:pt x="679599" y="364081"/>
                  </a:lnTo>
                  <a:lnTo>
                    <a:pt x="715390" y="337136"/>
                  </a:lnTo>
                  <a:lnTo>
                    <a:pt x="751886" y="311095"/>
                  </a:lnTo>
                  <a:lnTo>
                    <a:pt x="789069" y="285975"/>
                  </a:lnTo>
                  <a:lnTo>
                    <a:pt x="826923" y="261792"/>
                  </a:lnTo>
                  <a:lnTo>
                    <a:pt x="865431" y="238563"/>
                  </a:lnTo>
                  <a:lnTo>
                    <a:pt x="904577" y="216306"/>
                  </a:lnTo>
                  <a:lnTo>
                    <a:pt x="944344" y="195035"/>
                  </a:lnTo>
                  <a:lnTo>
                    <a:pt x="984715" y="174769"/>
                  </a:lnTo>
                  <a:lnTo>
                    <a:pt x="1025674" y="155523"/>
                  </a:lnTo>
                  <a:lnTo>
                    <a:pt x="1067204" y="137315"/>
                  </a:lnTo>
                  <a:lnTo>
                    <a:pt x="1109288" y="120160"/>
                  </a:lnTo>
                  <a:lnTo>
                    <a:pt x="1151910" y="104077"/>
                  </a:lnTo>
                  <a:lnTo>
                    <a:pt x="1195053" y="89080"/>
                  </a:lnTo>
                  <a:lnTo>
                    <a:pt x="1238700" y="75188"/>
                  </a:lnTo>
                  <a:lnTo>
                    <a:pt x="1282835" y="62416"/>
                  </a:lnTo>
                  <a:lnTo>
                    <a:pt x="1327442" y="50782"/>
                  </a:lnTo>
                  <a:lnTo>
                    <a:pt x="1372502" y="40302"/>
                  </a:lnTo>
                  <a:lnTo>
                    <a:pt x="1418000" y="30992"/>
                  </a:lnTo>
                  <a:lnTo>
                    <a:pt x="1463920" y="22869"/>
                  </a:lnTo>
                  <a:lnTo>
                    <a:pt x="1510244" y="15951"/>
                  </a:lnTo>
                  <a:lnTo>
                    <a:pt x="1556955" y="10253"/>
                  </a:lnTo>
                  <a:lnTo>
                    <a:pt x="1604038" y="5792"/>
                  </a:lnTo>
                  <a:lnTo>
                    <a:pt x="1651475" y="2585"/>
                  </a:lnTo>
                  <a:lnTo>
                    <a:pt x="1699250" y="649"/>
                  </a:lnTo>
                  <a:lnTo>
                    <a:pt x="1747346" y="0"/>
                  </a:lnTo>
                  <a:lnTo>
                    <a:pt x="1796922" y="702"/>
                  </a:lnTo>
                  <a:lnTo>
                    <a:pt x="1846325" y="2803"/>
                  </a:lnTo>
                  <a:lnTo>
                    <a:pt x="1895530" y="6290"/>
                  </a:lnTo>
                  <a:lnTo>
                    <a:pt x="1944510" y="11153"/>
                  </a:lnTo>
                  <a:lnTo>
                    <a:pt x="1993237" y="17380"/>
                  </a:lnTo>
                  <a:lnTo>
                    <a:pt x="2041686" y="24961"/>
                  </a:lnTo>
                  <a:lnTo>
                    <a:pt x="2089829" y="33884"/>
                  </a:lnTo>
                  <a:lnTo>
                    <a:pt x="2137639" y="44139"/>
                  </a:lnTo>
                  <a:lnTo>
                    <a:pt x="2185091" y="55715"/>
                  </a:lnTo>
                  <a:lnTo>
                    <a:pt x="2232157" y="68599"/>
                  </a:lnTo>
                  <a:lnTo>
                    <a:pt x="2278810" y="82782"/>
                  </a:lnTo>
                  <a:lnTo>
                    <a:pt x="2325025" y="98252"/>
                  </a:lnTo>
                  <a:lnTo>
                    <a:pt x="2370773" y="114997"/>
                  </a:lnTo>
                  <a:lnTo>
                    <a:pt x="2416029" y="133008"/>
                  </a:lnTo>
                  <a:lnTo>
                    <a:pt x="2460766" y="152273"/>
                  </a:lnTo>
                  <a:lnTo>
                    <a:pt x="2504956" y="172781"/>
                  </a:lnTo>
                  <a:lnTo>
                    <a:pt x="2548573" y="194520"/>
                  </a:lnTo>
                  <a:lnTo>
                    <a:pt x="2591592" y="217480"/>
                  </a:lnTo>
                  <a:lnTo>
                    <a:pt x="2633983" y="241650"/>
                  </a:lnTo>
                  <a:lnTo>
                    <a:pt x="2675722" y="267018"/>
                  </a:lnTo>
                  <a:lnTo>
                    <a:pt x="2716781" y="293574"/>
                  </a:lnTo>
                  <a:lnTo>
                    <a:pt x="2757134" y="321307"/>
                  </a:lnTo>
                  <a:lnTo>
                    <a:pt x="2796753" y="350204"/>
                  </a:lnTo>
                  <a:lnTo>
                    <a:pt x="2835613" y="380256"/>
                  </a:lnTo>
                  <a:lnTo>
                    <a:pt x="2873686" y="411452"/>
                  </a:lnTo>
                  <a:lnTo>
                    <a:pt x="2910946" y="443779"/>
                  </a:lnTo>
                  <a:lnTo>
                    <a:pt x="2947366" y="477227"/>
                  </a:lnTo>
                  <a:lnTo>
                    <a:pt x="2982919" y="511786"/>
                  </a:lnTo>
                  <a:lnTo>
                    <a:pt x="3017475" y="547338"/>
                  </a:lnTo>
                  <a:lnTo>
                    <a:pt x="3050922" y="583757"/>
                  </a:lnTo>
                  <a:lnTo>
                    <a:pt x="3083248" y="621015"/>
                  </a:lnTo>
                  <a:lnTo>
                    <a:pt x="3114442" y="659088"/>
                  </a:lnTo>
                  <a:lnTo>
                    <a:pt x="3144493" y="697946"/>
                  </a:lnTo>
                  <a:lnTo>
                    <a:pt x="3173389" y="737565"/>
                  </a:lnTo>
                  <a:lnTo>
                    <a:pt x="3201121" y="777917"/>
                  </a:lnTo>
                  <a:lnTo>
                    <a:pt x="3227676" y="818976"/>
                  </a:lnTo>
                  <a:lnTo>
                    <a:pt x="3253044" y="860714"/>
                  </a:lnTo>
                  <a:lnTo>
                    <a:pt x="3277213" y="903105"/>
                  </a:lnTo>
                  <a:lnTo>
                    <a:pt x="3300173" y="946122"/>
                  </a:lnTo>
                  <a:lnTo>
                    <a:pt x="3321912" y="989740"/>
                  </a:lnTo>
                  <a:lnTo>
                    <a:pt x="3342419" y="1033929"/>
                  </a:lnTo>
                  <a:lnTo>
                    <a:pt x="3361683" y="1078665"/>
                  </a:lnTo>
                  <a:lnTo>
                    <a:pt x="3379694" y="1123921"/>
                  </a:lnTo>
                  <a:lnTo>
                    <a:pt x="3396440" y="1169669"/>
                  </a:lnTo>
                  <a:lnTo>
                    <a:pt x="3411910" y="1215883"/>
                  </a:lnTo>
                  <a:lnTo>
                    <a:pt x="3426092" y="1262536"/>
                  </a:lnTo>
                  <a:lnTo>
                    <a:pt x="3438977" y="1309602"/>
                  </a:lnTo>
                  <a:lnTo>
                    <a:pt x="3450552" y="1357054"/>
                  </a:lnTo>
                  <a:lnTo>
                    <a:pt x="3460807" y="1404864"/>
                  </a:lnTo>
                  <a:lnTo>
                    <a:pt x="3469731" y="1453007"/>
                  </a:lnTo>
                  <a:lnTo>
                    <a:pt x="3477312" y="1501455"/>
                  </a:lnTo>
                  <a:lnTo>
                    <a:pt x="3483539" y="1550183"/>
                  </a:lnTo>
                  <a:lnTo>
                    <a:pt x="3488402" y="1599162"/>
                  </a:lnTo>
                  <a:lnTo>
                    <a:pt x="3491889" y="1648367"/>
                  </a:lnTo>
                  <a:lnTo>
                    <a:pt x="3493990" y="1697771"/>
                  </a:lnTo>
                  <a:lnTo>
                    <a:pt x="3494693" y="1747346"/>
                  </a:lnTo>
                  <a:lnTo>
                    <a:pt x="3494043" y="1795442"/>
                  </a:lnTo>
                  <a:lnTo>
                    <a:pt x="3492107" y="1843217"/>
                  </a:lnTo>
                  <a:lnTo>
                    <a:pt x="3488900" y="1890654"/>
                  </a:lnTo>
                  <a:lnTo>
                    <a:pt x="3484439" y="1937737"/>
                  </a:lnTo>
                  <a:lnTo>
                    <a:pt x="3478741" y="1984449"/>
                  </a:lnTo>
                  <a:lnTo>
                    <a:pt x="3471822" y="2030772"/>
                  </a:lnTo>
                  <a:lnTo>
                    <a:pt x="3463700" y="2076692"/>
                  </a:lnTo>
                  <a:lnTo>
                    <a:pt x="3454390" y="2122190"/>
                  </a:lnTo>
                  <a:lnTo>
                    <a:pt x="3443909" y="2167250"/>
                  </a:lnTo>
                  <a:lnTo>
                    <a:pt x="3432275" y="2211857"/>
                  </a:lnTo>
                  <a:lnTo>
                    <a:pt x="3419503" y="2255992"/>
                  </a:lnTo>
                  <a:lnTo>
                    <a:pt x="3405611" y="2299639"/>
                  </a:lnTo>
                  <a:lnTo>
                    <a:pt x="3390614" y="2342782"/>
                  </a:lnTo>
                  <a:lnTo>
                    <a:pt x="3374531" y="2385404"/>
                  </a:lnTo>
                  <a:lnTo>
                    <a:pt x="3357376" y="2427488"/>
                  </a:lnTo>
                  <a:lnTo>
                    <a:pt x="3339168" y="2469018"/>
                  </a:lnTo>
                  <a:lnTo>
                    <a:pt x="3319922" y="2509977"/>
                  </a:lnTo>
                  <a:lnTo>
                    <a:pt x="3299655" y="2550348"/>
                  </a:lnTo>
                  <a:lnTo>
                    <a:pt x="3278384" y="2590115"/>
                  </a:lnTo>
                  <a:lnTo>
                    <a:pt x="3256126" y="2629261"/>
                  </a:lnTo>
                  <a:lnTo>
                    <a:pt x="3232898" y="2667769"/>
                  </a:lnTo>
                  <a:lnTo>
                    <a:pt x="3208715" y="2705623"/>
                  </a:lnTo>
                  <a:lnTo>
                    <a:pt x="3183594" y="2742806"/>
                  </a:lnTo>
                  <a:lnTo>
                    <a:pt x="3157553" y="2779302"/>
                  </a:lnTo>
                  <a:lnTo>
                    <a:pt x="3130608" y="2815093"/>
                  </a:lnTo>
                  <a:lnTo>
                    <a:pt x="3102775" y="2850164"/>
                  </a:lnTo>
                  <a:lnTo>
                    <a:pt x="3074072" y="2884496"/>
                  </a:lnTo>
                  <a:lnTo>
                    <a:pt x="3044514" y="2918075"/>
                  </a:lnTo>
                  <a:lnTo>
                    <a:pt x="3014119" y="2950883"/>
                  </a:lnTo>
                  <a:lnTo>
                    <a:pt x="2982903" y="2982903"/>
                  </a:lnTo>
                  <a:lnTo>
                    <a:pt x="2950883" y="3014119"/>
                  </a:lnTo>
                  <a:lnTo>
                    <a:pt x="2918075" y="3044514"/>
                  </a:lnTo>
                  <a:lnTo>
                    <a:pt x="2884496" y="3074072"/>
                  </a:lnTo>
                  <a:lnTo>
                    <a:pt x="2850164" y="3102775"/>
                  </a:lnTo>
                  <a:lnTo>
                    <a:pt x="2815093" y="3130608"/>
                  </a:lnTo>
                  <a:lnTo>
                    <a:pt x="2779302" y="3157553"/>
                  </a:lnTo>
                  <a:lnTo>
                    <a:pt x="2742806" y="3183594"/>
                  </a:lnTo>
                  <a:lnTo>
                    <a:pt x="2705623" y="3208715"/>
                  </a:lnTo>
                  <a:lnTo>
                    <a:pt x="2667769" y="3232898"/>
                  </a:lnTo>
                  <a:lnTo>
                    <a:pt x="2629261" y="3256126"/>
                  </a:lnTo>
                  <a:lnTo>
                    <a:pt x="2590115" y="3278384"/>
                  </a:lnTo>
                  <a:lnTo>
                    <a:pt x="2550348" y="3299655"/>
                  </a:lnTo>
                  <a:lnTo>
                    <a:pt x="2509977" y="3319922"/>
                  </a:lnTo>
                  <a:lnTo>
                    <a:pt x="2469018" y="3339168"/>
                  </a:lnTo>
                  <a:lnTo>
                    <a:pt x="2427488" y="3357376"/>
                  </a:lnTo>
                  <a:lnTo>
                    <a:pt x="2385404" y="3374531"/>
                  </a:lnTo>
                  <a:lnTo>
                    <a:pt x="2342782" y="3390614"/>
                  </a:lnTo>
                  <a:lnTo>
                    <a:pt x="2299639" y="3405611"/>
                  </a:lnTo>
                  <a:lnTo>
                    <a:pt x="2255992" y="3419503"/>
                  </a:lnTo>
                  <a:lnTo>
                    <a:pt x="2211857" y="3432275"/>
                  </a:lnTo>
                  <a:lnTo>
                    <a:pt x="2167250" y="3443909"/>
                  </a:lnTo>
                  <a:lnTo>
                    <a:pt x="2122190" y="3454390"/>
                  </a:lnTo>
                  <a:lnTo>
                    <a:pt x="2076692" y="3463700"/>
                  </a:lnTo>
                  <a:lnTo>
                    <a:pt x="2030772" y="3471822"/>
                  </a:lnTo>
                  <a:lnTo>
                    <a:pt x="1984449" y="3478741"/>
                  </a:lnTo>
                  <a:lnTo>
                    <a:pt x="1937737" y="3484439"/>
                  </a:lnTo>
                  <a:lnTo>
                    <a:pt x="1890654" y="3488900"/>
                  </a:lnTo>
                  <a:lnTo>
                    <a:pt x="1843217" y="3492107"/>
                  </a:lnTo>
                  <a:lnTo>
                    <a:pt x="1795442" y="3494043"/>
                  </a:lnTo>
                  <a:lnTo>
                    <a:pt x="1747346" y="3494693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2976194" y="494749"/>
              <a:ext cx="3495040" cy="3495040"/>
            </a:xfrm>
            <a:custGeom>
              <a:avLst/>
              <a:gdLst/>
              <a:ahLst/>
              <a:cxnLst/>
              <a:rect l="l" t="t" r="r" b="b"/>
              <a:pathLst>
                <a:path w="3495040" h="3495040">
                  <a:moveTo>
                    <a:pt x="0" y="1747346"/>
                  </a:moveTo>
                  <a:lnTo>
                    <a:pt x="649" y="1699249"/>
                  </a:lnTo>
                  <a:lnTo>
                    <a:pt x="2585" y="1651474"/>
                  </a:lnTo>
                  <a:lnTo>
                    <a:pt x="5792" y="1604036"/>
                  </a:lnTo>
                  <a:lnTo>
                    <a:pt x="10253" y="1556953"/>
                  </a:lnTo>
                  <a:lnTo>
                    <a:pt x="15951" y="1510241"/>
                  </a:lnTo>
                  <a:lnTo>
                    <a:pt x="22870" y="1463917"/>
                  </a:lnTo>
                  <a:lnTo>
                    <a:pt x="30992" y="1417998"/>
                  </a:lnTo>
                  <a:lnTo>
                    <a:pt x="40302" y="1372499"/>
                  </a:lnTo>
                  <a:lnTo>
                    <a:pt x="50783" y="1327438"/>
                  </a:lnTo>
                  <a:lnTo>
                    <a:pt x="62417" y="1282832"/>
                  </a:lnTo>
                  <a:lnTo>
                    <a:pt x="75189" y="1238697"/>
                  </a:lnTo>
                  <a:lnTo>
                    <a:pt x="89081" y="1195049"/>
                  </a:lnTo>
                  <a:lnTo>
                    <a:pt x="104078" y="1151906"/>
                  </a:lnTo>
                  <a:lnTo>
                    <a:pt x="120162" y="1109284"/>
                  </a:lnTo>
                  <a:lnTo>
                    <a:pt x="137316" y="1067200"/>
                  </a:lnTo>
                  <a:lnTo>
                    <a:pt x="155525" y="1025670"/>
                  </a:lnTo>
                  <a:lnTo>
                    <a:pt x="174770" y="984711"/>
                  </a:lnTo>
                  <a:lnTo>
                    <a:pt x="195037" y="944340"/>
                  </a:lnTo>
                  <a:lnTo>
                    <a:pt x="216308" y="904573"/>
                  </a:lnTo>
                  <a:lnTo>
                    <a:pt x="238566" y="865427"/>
                  </a:lnTo>
                  <a:lnTo>
                    <a:pt x="261794" y="826918"/>
                  </a:lnTo>
                  <a:lnTo>
                    <a:pt x="285977" y="789064"/>
                  </a:lnTo>
                  <a:lnTo>
                    <a:pt x="311098" y="751881"/>
                  </a:lnTo>
                  <a:lnTo>
                    <a:pt x="337139" y="715386"/>
                  </a:lnTo>
                  <a:lnTo>
                    <a:pt x="364084" y="679595"/>
                  </a:lnTo>
                  <a:lnTo>
                    <a:pt x="391917" y="644524"/>
                  </a:lnTo>
                  <a:lnTo>
                    <a:pt x="420620" y="610192"/>
                  </a:lnTo>
                  <a:lnTo>
                    <a:pt x="450178" y="576613"/>
                  </a:lnTo>
                  <a:lnTo>
                    <a:pt x="480573" y="543805"/>
                  </a:lnTo>
                  <a:lnTo>
                    <a:pt x="511789" y="511785"/>
                  </a:lnTo>
                  <a:lnTo>
                    <a:pt x="543809" y="480569"/>
                  </a:lnTo>
                  <a:lnTo>
                    <a:pt x="576617" y="450174"/>
                  </a:lnTo>
                  <a:lnTo>
                    <a:pt x="610196" y="420617"/>
                  </a:lnTo>
                  <a:lnTo>
                    <a:pt x="644528" y="391914"/>
                  </a:lnTo>
                  <a:lnTo>
                    <a:pt x="679599" y="364081"/>
                  </a:lnTo>
                  <a:lnTo>
                    <a:pt x="715390" y="337136"/>
                  </a:lnTo>
                  <a:lnTo>
                    <a:pt x="751886" y="311095"/>
                  </a:lnTo>
                  <a:lnTo>
                    <a:pt x="789069" y="285975"/>
                  </a:lnTo>
                  <a:lnTo>
                    <a:pt x="826923" y="261792"/>
                  </a:lnTo>
                  <a:lnTo>
                    <a:pt x="865431" y="238563"/>
                  </a:lnTo>
                  <a:lnTo>
                    <a:pt x="904577" y="216306"/>
                  </a:lnTo>
                  <a:lnTo>
                    <a:pt x="944344" y="195035"/>
                  </a:lnTo>
                  <a:lnTo>
                    <a:pt x="984715" y="174769"/>
                  </a:lnTo>
                  <a:lnTo>
                    <a:pt x="1025674" y="155523"/>
                  </a:lnTo>
                  <a:lnTo>
                    <a:pt x="1067204" y="137315"/>
                  </a:lnTo>
                  <a:lnTo>
                    <a:pt x="1109288" y="120160"/>
                  </a:lnTo>
                  <a:lnTo>
                    <a:pt x="1151910" y="104077"/>
                  </a:lnTo>
                  <a:lnTo>
                    <a:pt x="1195053" y="89080"/>
                  </a:lnTo>
                  <a:lnTo>
                    <a:pt x="1238700" y="75188"/>
                  </a:lnTo>
                  <a:lnTo>
                    <a:pt x="1282835" y="62416"/>
                  </a:lnTo>
                  <a:lnTo>
                    <a:pt x="1327442" y="50782"/>
                  </a:lnTo>
                  <a:lnTo>
                    <a:pt x="1372502" y="40302"/>
                  </a:lnTo>
                  <a:lnTo>
                    <a:pt x="1418000" y="30992"/>
                  </a:lnTo>
                  <a:lnTo>
                    <a:pt x="1463920" y="22869"/>
                  </a:lnTo>
                  <a:lnTo>
                    <a:pt x="1510243" y="15951"/>
                  </a:lnTo>
                  <a:lnTo>
                    <a:pt x="1556955" y="10253"/>
                  </a:lnTo>
                  <a:lnTo>
                    <a:pt x="1604038" y="5792"/>
                  </a:lnTo>
                  <a:lnTo>
                    <a:pt x="1651475" y="2585"/>
                  </a:lnTo>
                  <a:lnTo>
                    <a:pt x="1699250" y="649"/>
                  </a:lnTo>
                  <a:lnTo>
                    <a:pt x="1747346" y="0"/>
                  </a:lnTo>
                  <a:lnTo>
                    <a:pt x="1796921" y="702"/>
                  </a:lnTo>
                  <a:lnTo>
                    <a:pt x="1846325" y="2803"/>
                  </a:lnTo>
                  <a:lnTo>
                    <a:pt x="1895530" y="6290"/>
                  </a:lnTo>
                  <a:lnTo>
                    <a:pt x="1944510" y="11153"/>
                  </a:lnTo>
                  <a:lnTo>
                    <a:pt x="1993237" y="17380"/>
                  </a:lnTo>
                  <a:lnTo>
                    <a:pt x="2041685" y="24961"/>
                  </a:lnTo>
                  <a:lnTo>
                    <a:pt x="2089828" y="33884"/>
                  </a:lnTo>
                  <a:lnTo>
                    <a:pt x="2137639" y="44139"/>
                  </a:lnTo>
                  <a:lnTo>
                    <a:pt x="2185091" y="55715"/>
                  </a:lnTo>
                  <a:lnTo>
                    <a:pt x="2232157" y="68599"/>
                  </a:lnTo>
                  <a:lnTo>
                    <a:pt x="2278810" y="82782"/>
                  </a:lnTo>
                  <a:lnTo>
                    <a:pt x="2325025" y="98252"/>
                  </a:lnTo>
                  <a:lnTo>
                    <a:pt x="2370773" y="114997"/>
                  </a:lnTo>
                  <a:lnTo>
                    <a:pt x="2416029" y="133008"/>
                  </a:lnTo>
                  <a:lnTo>
                    <a:pt x="2460765" y="152273"/>
                  </a:lnTo>
                  <a:lnTo>
                    <a:pt x="2504956" y="172781"/>
                  </a:lnTo>
                  <a:lnTo>
                    <a:pt x="2548573" y="194520"/>
                  </a:lnTo>
                  <a:lnTo>
                    <a:pt x="2591591" y="217480"/>
                  </a:lnTo>
                  <a:lnTo>
                    <a:pt x="2633983" y="241650"/>
                  </a:lnTo>
                  <a:lnTo>
                    <a:pt x="2675722" y="267018"/>
                  </a:lnTo>
                  <a:lnTo>
                    <a:pt x="2716781" y="293574"/>
                  </a:lnTo>
                  <a:lnTo>
                    <a:pt x="2757134" y="321307"/>
                  </a:lnTo>
                  <a:lnTo>
                    <a:pt x="2796753" y="350204"/>
                  </a:lnTo>
                  <a:lnTo>
                    <a:pt x="2835613" y="380256"/>
                  </a:lnTo>
                  <a:lnTo>
                    <a:pt x="2873686" y="411452"/>
                  </a:lnTo>
                  <a:lnTo>
                    <a:pt x="2910946" y="443779"/>
                  </a:lnTo>
                  <a:lnTo>
                    <a:pt x="2947366" y="477227"/>
                  </a:lnTo>
                  <a:lnTo>
                    <a:pt x="2982918" y="511786"/>
                  </a:lnTo>
                  <a:lnTo>
                    <a:pt x="3017475" y="547338"/>
                  </a:lnTo>
                  <a:lnTo>
                    <a:pt x="3050922" y="583757"/>
                  </a:lnTo>
                  <a:lnTo>
                    <a:pt x="3083248" y="621015"/>
                  </a:lnTo>
                  <a:lnTo>
                    <a:pt x="3114442" y="659088"/>
                  </a:lnTo>
                  <a:lnTo>
                    <a:pt x="3144493" y="697946"/>
                  </a:lnTo>
                  <a:lnTo>
                    <a:pt x="3173389" y="737565"/>
                  </a:lnTo>
                  <a:lnTo>
                    <a:pt x="3201121" y="777917"/>
                  </a:lnTo>
                  <a:lnTo>
                    <a:pt x="3227676" y="818976"/>
                  </a:lnTo>
                  <a:lnTo>
                    <a:pt x="3253044" y="860714"/>
                  </a:lnTo>
                  <a:lnTo>
                    <a:pt x="3277213" y="903105"/>
                  </a:lnTo>
                  <a:lnTo>
                    <a:pt x="3300172" y="946122"/>
                  </a:lnTo>
                  <a:lnTo>
                    <a:pt x="3321911" y="989740"/>
                  </a:lnTo>
                  <a:lnTo>
                    <a:pt x="3342419" y="1033929"/>
                  </a:lnTo>
                  <a:lnTo>
                    <a:pt x="3361683" y="1078665"/>
                  </a:lnTo>
                  <a:lnTo>
                    <a:pt x="3379694" y="1123921"/>
                  </a:lnTo>
                  <a:lnTo>
                    <a:pt x="3396440" y="1169669"/>
                  </a:lnTo>
                  <a:lnTo>
                    <a:pt x="3411910" y="1215883"/>
                  </a:lnTo>
                  <a:lnTo>
                    <a:pt x="3426092" y="1262536"/>
                  </a:lnTo>
                  <a:lnTo>
                    <a:pt x="3438977" y="1309602"/>
                  </a:lnTo>
                  <a:lnTo>
                    <a:pt x="3450552" y="1357053"/>
                  </a:lnTo>
                  <a:lnTo>
                    <a:pt x="3460807" y="1404864"/>
                  </a:lnTo>
                  <a:lnTo>
                    <a:pt x="3469731" y="1453007"/>
                  </a:lnTo>
                  <a:lnTo>
                    <a:pt x="3477312" y="1501455"/>
                  </a:lnTo>
                  <a:lnTo>
                    <a:pt x="3483539" y="1550183"/>
                  </a:lnTo>
                  <a:lnTo>
                    <a:pt x="3488402" y="1599162"/>
                  </a:lnTo>
                  <a:lnTo>
                    <a:pt x="3491889" y="1648367"/>
                  </a:lnTo>
                  <a:lnTo>
                    <a:pt x="3493990" y="1697770"/>
                  </a:lnTo>
                  <a:lnTo>
                    <a:pt x="3494692" y="1747346"/>
                  </a:lnTo>
                  <a:lnTo>
                    <a:pt x="3494043" y="1795442"/>
                  </a:lnTo>
                  <a:lnTo>
                    <a:pt x="3492107" y="1843217"/>
                  </a:lnTo>
                  <a:lnTo>
                    <a:pt x="3488900" y="1890654"/>
                  </a:lnTo>
                  <a:lnTo>
                    <a:pt x="3484439" y="1937737"/>
                  </a:lnTo>
                  <a:lnTo>
                    <a:pt x="3478741" y="1984448"/>
                  </a:lnTo>
                  <a:lnTo>
                    <a:pt x="3471822" y="2030772"/>
                  </a:lnTo>
                  <a:lnTo>
                    <a:pt x="3463700" y="2076692"/>
                  </a:lnTo>
                  <a:lnTo>
                    <a:pt x="3454390" y="2122190"/>
                  </a:lnTo>
                  <a:lnTo>
                    <a:pt x="3443909" y="2167250"/>
                  </a:lnTo>
                  <a:lnTo>
                    <a:pt x="3432275" y="2211857"/>
                  </a:lnTo>
                  <a:lnTo>
                    <a:pt x="3419503" y="2255992"/>
                  </a:lnTo>
                  <a:lnTo>
                    <a:pt x="3405611" y="2299639"/>
                  </a:lnTo>
                  <a:lnTo>
                    <a:pt x="3390614" y="2342782"/>
                  </a:lnTo>
                  <a:lnTo>
                    <a:pt x="3374530" y="2385404"/>
                  </a:lnTo>
                  <a:lnTo>
                    <a:pt x="3357376" y="2427488"/>
                  </a:lnTo>
                  <a:lnTo>
                    <a:pt x="3339167" y="2469018"/>
                  </a:lnTo>
                  <a:lnTo>
                    <a:pt x="3319922" y="2509977"/>
                  </a:lnTo>
                  <a:lnTo>
                    <a:pt x="3299655" y="2550348"/>
                  </a:lnTo>
                  <a:lnTo>
                    <a:pt x="3278384" y="2590115"/>
                  </a:lnTo>
                  <a:lnTo>
                    <a:pt x="3256126" y="2629261"/>
                  </a:lnTo>
                  <a:lnTo>
                    <a:pt x="3232897" y="2667769"/>
                  </a:lnTo>
                  <a:lnTo>
                    <a:pt x="3208715" y="2705623"/>
                  </a:lnTo>
                  <a:lnTo>
                    <a:pt x="3183594" y="2742806"/>
                  </a:lnTo>
                  <a:lnTo>
                    <a:pt x="3157553" y="2779302"/>
                  </a:lnTo>
                  <a:lnTo>
                    <a:pt x="3130608" y="2815093"/>
                  </a:lnTo>
                  <a:lnTo>
                    <a:pt x="3102775" y="2850164"/>
                  </a:lnTo>
                  <a:lnTo>
                    <a:pt x="3074072" y="2884496"/>
                  </a:lnTo>
                  <a:lnTo>
                    <a:pt x="3044514" y="2918075"/>
                  </a:lnTo>
                  <a:lnTo>
                    <a:pt x="3014119" y="2950883"/>
                  </a:lnTo>
                  <a:lnTo>
                    <a:pt x="2982903" y="2982903"/>
                  </a:lnTo>
                  <a:lnTo>
                    <a:pt x="2950883" y="3014119"/>
                  </a:lnTo>
                  <a:lnTo>
                    <a:pt x="2918075" y="3044514"/>
                  </a:lnTo>
                  <a:lnTo>
                    <a:pt x="2884496" y="3074072"/>
                  </a:lnTo>
                  <a:lnTo>
                    <a:pt x="2850164" y="3102775"/>
                  </a:lnTo>
                  <a:lnTo>
                    <a:pt x="2815093" y="3130608"/>
                  </a:lnTo>
                  <a:lnTo>
                    <a:pt x="2779302" y="3157553"/>
                  </a:lnTo>
                  <a:lnTo>
                    <a:pt x="2742806" y="3183594"/>
                  </a:lnTo>
                  <a:lnTo>
                    <a:pt x="2705623" y="3208715"/>
                  </a:lnTo>
                  <a:lnTo>
                    <a:pt x="2667769" y="3232897"/>
                  </a:lnTo>
                  <a:lnTo>
                    <a:pt x="2629261" y="3256126"/>
                  </a:lnTo>
                  <a:lnTo>
                    <a:pt x="2590115" y="3278384"/>
                  </a:lnTo>
                  <a:lnTo>
                    <a:pt x="2550348" y="3299655"/>
                  </a:lnTo>
                  <a:lnTo>
                    <a:pt x="2509977" y="3319922"/>
                  </a:lnTo>
                  <a:lnTo>
                    <a:pt x="2469018" y="3339167"/>
                  </a:lnTo>
                  <a:lnTo>
                    <a:pt x="2427488" y="3357376"/>
                  </a:lnTo>
                  <a:lnTo>
                    <a:pt x="2385404" y="3374530"/>
                  </a:lnTo>
                  <a:lnTo>
                    <a:pt x="2342782" y="3390614"/>
                  </a:lnTo>
                  <a:lnTo>
                    <a:pt x="2299639" y="3405611"/>
                  </a:lnTo>
                  <a:lnTo>
                    <a:pt x="2255992" y="3419503"/>
                  </a:lnTo>
                  <a:lnTo>
                    <a:pt x="2211857" y="3432275"/>
                  </a:lnTo>
                  <a:lnTo>
                    <a:pt x="2167250" y="3443909"/>
                  </a:lnTo>
                  <a:lnTo>
                    <a:pt x="2122190" y="3454390"/>
                  </a:lnTo>
                  <a:lnTo>
                    <a:pt x="2076692" y="3463700"/>
                  </a:lnTo>
                  <a:lnTo>
                    <a:pt x="2030772" y="3471822"/>
                  </a:lnTo>
                  <a:lnTo>
                    <a:pt x="1984448" y="3478741"/>
                  </a:lnTo>
                  <a:lnTo>
                    <a:pt x="1937737" y="3484439"/>
                  </a:lnTo>
                  <a:lnTo>
                    <a:pt x="1890654" y="3488900"/>
                  </a:lnTo>
                  <a:lnTo>
                    <a:pt x="1843217" y="3492107"/>
                  </a:lnTo>
                  <a:lnTo>
                    <a:pt x="1795442" y="3494043"/>
                  </a:lnTo>
                  <a:lnTo>
                    <a:pt x="1747346" y="3494692"/>
                  </a:lnTo>
                  <a:lnTo>
                    <a:pt x="1699250" y="3494043"/>
                  </a:lnTo>
                  <a:lnTo>
                    <a:pt x="1651475" y="3492107"/>
                  </a:lnTo>
                  <a:lnTo>
                    <a:pt x="1604038" y="3488900"/>
                  </a:lnTo>
                  <a:lnTo>
                    <a:pt x="1556955" y="3484439"/>
                  </a:lnTo>
                  <a:lnTo>
                    <a:pt x="1510243" y="3478741"/>
                  </a:lnTo>
                  <a:lnTo>
                    <a:pt x="1463920" y="3471822"/>
                  </a:lnTo>
                  <a:lnTo>
                    <a:pt x="1418000" y="3463700"/>
                  </a:lnTo>
                  <a:lnTo>
                    <a:pt x="1372502" y="3454390"/>
                  </a:lnTo>
                  <a:lnTo>
                    <a:pt x="1327442" y="3443909"/>
                  </a:lnTo>
                  <a:lnTo>
                    <a:pt x="1282835" y="3432275"/>
                  </a:lnTo>
                  <a:lnTo>
                    <a:pt x="1238700" y="3419503"/>
                  </a:lnTo>
                  <a:lnTo>
                    <a:pt x="1195053" y="3405611"/>
                  </a:lnTo>
                  <a:lnTo>
                    <a:pt x="1151910" y="3390614"/>
                  </a:lnTo>
                  <a:lnTo>
                    <a:pt x="1109288" y="3374530"/>
                  </a:lnTo>
                  <a:lnTo>
                    <a:pt x="1067204" y="3357376"/>
                  </a:lnTo>
                  <a:lnTo>
                    <a:pt x="1025674" y="3339167"/>
                  </a:lnTo>
                  <a:lnTo>
                    <a:pt x="984715" y="3319922"/>
                  </a:lnTo>
                  <a:lnTo>
                    <a:pt x="944344" y="3299655"/>
                  </a:lnTo>
                  <a:lnTo>
                    <a:pt x="904577" y="3278384"/>
                  </a:lnTo>
                  <a:lnTo>
                    <a:pt x="865431" y="3256126"/>
                  </a:lnTo>
                  <a:lnTo>
                    <a:pt x="826923" y="3232897"/>
                  </a:lnTo>
                  <a:lnTo>
                    <a:pt x="789069" y="3208715"/>
                  </a:lnTo>
                  <a:lnTo>
                    <a:pt x="751886" y="3183594"/>
                  </a:lnTo>
                  <a:lnTo>
                    <a:pt x="715390" y="3157553"/>
                  </a:lnTo>
                  <a:lnTo>
                    <a:pt x="679599" y="3130608"/>
                  </a:lnTo>
                  <a:lnTo>
                    <a:pt x="644528" y="3102775"/>
                  </a:lnTo>
                  <a:lnTo>
                    <a:pt x="610196" y="3074072"/>
                  </a:lnTo>
                  <a:lnTo>
                    <a:pt x="576617" y="3044514"/>
                  </a:lnTo>
                  <a:lnTo>
                    <a:pt x="543809" y="3014119"/>
                  </a:lnTo>
                  <a:lnTo>
                    <a:pt x="511789" y="2982903"/>
                  </a:lnTo>
                  <a:lnTo>
                    <a:pt x="480573" y="2950883"/>
                  </a:lnTo>
                  <a:lnTo>
                    <a:pt x="450178" y="2918075"/>
                  </a:lnTo>
                  <a:lnTo>
                    <a:pt x="420620" y="2884496"/>
                  </a:lnTo>
                  <a:lnTo>
                    <a:pt x="391917" y="2850164"/>
                  </a:lnTo>
                  <a:lnTo>
                    <a:pt x="364084" y="2815093"/>
                  </a:lnTo>
                  <a:lnTo>
                    <a:pt x="337139" y="2779302"/>
                  </a:lnTo>
                  <a:lnTo>
                    <a:pt x="311098" y="2742806"/>
                  </a:lnTo>
                  <a:lnTo>
                    <a:pt x="285977" y="2705623"/>
                  </a:lnTo>
                  <a:lnTo>
                    <a:pt x="261794" y="2667769"/>
                  </a:lnTo>
                  <a:lnTo>
                    <a:pt x="238566" y="2629261"/>
                  </a:lnTo>
                  <a:lnTo>
                    <a:pt x="216308" y="2590115"/>
                  </a:lnTo>
                  <a:lnTo>
                    <a:pt x="195037" y="2550348"/>
                  </a:lnTo>
                  <a:lnTo>
                    <a:pt x="174770" y="2509977"/>
                  </a:lnTo>
                  <a:lnTo>
                    <a:pt x="155525" y="2469018"/>
                  </a:lnTo>
                  <a:lnTo>
                    <a:pt x="137316" y="2427488"/>
                  </a:lnTo>
                  <a:lnTo>
                    <a:pt x="120162" y="2385404"/>
                  </a:lnTo>
                  <a:lnTo>
                    <a:pt x="104078" y="2342782"/>
                  </a:lnTo>
                  <a:lnTo>
                    <a:pt x="89081" y="2299639"/>
                  </a:lnTo>
                  <a:lnTo>
                    <a:pt x="75189" y="2255992"/>
                  </a:lnTo>
                  <a:lnTo>
                    <a:pt x="62417" y="2211857"/>
                  </a:lnTo>
                  <a:lnTo>
                    <a:pt x="50783" y="2167250"/>
                  </a:lnTo>
                  <a:lnTo>
                    <a:pt x="40302" y="2122190"/>
                  </a:lnTo>
                  <a:lnTo>
                    <a:pt x="30992" y="2076692"/>
                  </a:lnTo>
                  <a:lnTo>
                    <a:pt x="22870" y="2030772"/>
                  </a:lnTo>
                  <a:lnTo>
                    <a:pt x="15951" y="1984448"/>
                  </a:lnTo>
                  <a:lnTo>
                    <a:pt x="10253" y="1937737"/>
                  </a:lnTo>
                  <a:lnTo>
                    <a:pt x="5792" y="1890654"/>
                  </a:lnTo>
                  <a:lnTo>
                    <a:pt x="2585" y="1843217"/>
                  </a:lnTo>
                  <a:lnTo>
                    <a:pt x="649" y="1795442"/>
                  </a:lnTo>
                  <a:lnTo>
                    <a:pt x="0" y="1747346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626157" y="2695549"/>
            <a:ext cx="194945" cy="75692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4800" dirty="0"/>
              <a:t>f</a:t>
            </a:r>
            <a:endParaRPr sz="4800"/>
          </a:p>
        </p:txBody>
      </p:sp>
      <p:grpSp>
        <p:nvGrpSpPr>
          <p:cNvPr id="6" name="object 6"/>
          <p:cNvGrpSpPr/>
          <p:nvPr/>
        </p:nvGrpSpPr>
        <p:grpSpPr>
          <a:xfrm>
            <a:off x="-9524" y="857250"/>
            <a:ext cx="8736965" cy="5162550"/>
            <a:chOff x="-9524" y="0"/>
            <a:chExt cx="8736965" cy="5162550"/>
          </a:xfrm>
        </p:grpSpPr>
        <p:sp>
          <p:nvSpPr>
            <p:cNvPr id="7" name="object 7"/>
            <p:cNvSpPr/>
            <p:nvPr/>
          </p:nvSpPr>
          <p:spPr>
            <a:xfrm>
              <a:off x="702173" y="3012743"/>
              <a:ext cx="2301875" cy="777875"/>
            </a:xfrm>
            <a:custGeom>
              <a:avLst/>
              <a:gdLst/>
              <a:ahLst/>
              <a:cxnLst/>
              <a:rect l="l" t="t" r="r" b="b"/>
              <a:pathLst>
                <a:path w="2301875" h="777875">
                  <a:moveTo>
                    <a:pt x="0" y="777323"/>
                  </a:moveTo>
                  <a:lnTo>
                    <a:pt x="2301595" y="0"/>
                  </a:lnTo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984194" y="2973394"/>
              <a:ext cx="111024" cy="78674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989422" y="470774"/>
              <a:ext cx="2089150" cy="889000"/>
            </a:xfrm>
            <a:custGeom>
              <a:avLst/>
              <a:gdLst/>
              <a:ahLst/>
              <a:cxnLst/>
              <a:rect l="l" t="t" r="r" b="b"/>
              <a:pathLst>
                <a:path w="2089150" h="889000">
                  <a:moveTo>
                    <a:pt x="0" y="0"/>
                  </a:moveTo>
                  <a:lnTo>
                    <a:pt x="2089020" y="888848"/>
                  </a:lnTo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056593" y="1321142"/>
              <a:ext cx="110924" cy="8185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6470886" y="2242095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5" y="0"/>
                  </a:lnTo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8621357" y="2201105"/>
              <a:ext cx="105499" cy="8197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380509" y="233099"/>
              <a:ext cx="352424" cy="3047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1370984" y="223574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1300359" y="3061018"/>
              <a:ext cx="295274" cy="36194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1290834" y="3051493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245910" y="1758696"/>
              <a:ext cx="314324" cy="30479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236385" y="1749171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585386" y="2433620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5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489412" y="2392630"/>
              <a:ext cx="105499" cy="8197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7164960" y="2555194"/>
              <a:ext cx="514348" cy="67627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7155460" y="2545669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73" y="0"/>
                  </a:lnTo>
                  <a:lnTo>
                    <a:pt x="533373" y="695323"/>
                  </a:lnTo>
                  <a:lnTo>
                    <a:pt x="0" y="69532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3398743" y="1290434"/>
              <a:ext cx="485773" cy="638173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3389243" y="1280909"/>
              <a:ext cx="504825" cy="657225"/>
            </a:xfrm>
            <a:custGeom>
              <a:avLst/>
              <a:gdLst/>
              <a:ahLst/>
              <a:cxnLst/>
              <a:rect l="l" t="t" r="r" b="b"/>
              <a:pathLst>
                <a:path w="504825" h="657225">
                  <a:moveTo>
                    <a:pt x="0" y="0"/>
                  </a:moveTo>
                  <a:lnTo>
                    <a:pt x="504823" y="0"/>
                  </a:lnTo>
                  <a:lnTo>
                    <a:pt x="504823" y="657223"/>
                  </a:lnTo>
                  <a:lnTo>
                    <a:pt x="0" y="65722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3398743" y="2493045"/>
              <a:ext cx="409574" cy="70484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3389243" y="2483507"/>
              <a:ext cx="428625" cy="723900"/>
            </a:xfrm>
            <a:custGeom>
              <a:avLst/>
              <a:gdLst/>
              <a:ahLst/>
              <a:cxnLst/>
              <a:rect l="l" t="t" r="r" b="b"/>
              <a:pathLst>
                <a:path w="428625" h="723900">
                  <a:moveTo>
                    <a:pt x="0" y="0"/>
                  </a:moveTo>
                  <a:lnTo>
                    <a:pt x="428599" y="0"/>
                  </a:lnTo>
                  <a:lnTo>
                    <a:pt x="428599" y="723886"/>
                  </a:lnTo>
                  <a:lnTo>
                    <a:pt x="0" y="723886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99523" y="712036"/>
              <a:ext cx="2129395" cy="1553146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784738" y="741538"/>
              <a:ext cx="811530" cy="833119"/>
            </a:xfrm>
            <a:custGeom>
              <a:avLst/>
              <a:gdLst/>
              <a:ahLst/>
              <a:cxnLst/>
              <a:rect l="l" t="t" r="r" b="b"/>
              <a:pathLst>
                <a:path w="811530" h="833119">
                  <a:moveTo>
                    <a:pt x="281399" y="0"/>
                  </a:moveTo>
                  <a:lnTo>
                    <a:pt x="811198" y="260399"/>
                  </a:lnTo>
                  <a:lnTo>
                    <a:pt x="529798" y="833098"/>
                  </a:lnTo>
                  <a:lnTo>
                    <a:pt x="0" y="572698"/>
                  </a:lnTo>
                  <a:lnTo>
                    <a:pt x="281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1202508" y="3189278"/>
              <a:ext cx="2132702" cy="1320412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1195922" y="3671217"/>
              <a:ext cx="767080" cy="796290"/>
            </a:xfrm>
            <a:custGeom>
              <a:avLst/>
              <a:gdLst/>
              <a:ahLst/>
              <a:cxnLst/>
              <a:rect l="l" t="t" r="r" b="b"/>
              <a:pathLst>
                <a:path w="767080" h="796289">
                  <a:moveTo>
                    <a:pt x="0" y="193199"/>
                  </a:moveTo>
                  <a:lnTo>
                    <a:pt x="557698" y="0"/>
                  </a:lnTo>
                  <a:lnTo>
                    <a:pt x="766798" y="602998"/>
                  </a:lnTo>
                  <a:lnTo>
                    <a:pt x="209099" y="796198"/>
                  </a:lnTo>
                  <a:lnTo>
                    <a:pt x="0" y="193199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0" y="1125537"/>
                  </a:moveTo>
                  <a:lnTo>
                    <a:pt x="0" y="0"/>
                  </a:lnTo>
                  <a:lnTo>
                    <a:pt x="1118890" y="0"/>
                  </a:lnTo>
                  <a:lnTo>
                    <a:pt x="1098420" y="60341"/>
                  </a:lnTo>
                  <a:lnTo>
                    <a:pt x="1082336" y="102963"/>
                  </a:lnTo>
                  <a:lnTo>
                    <a:pt x="1065182" y="145047"/>
                  </a:lnTo>
                  <a:lnTo>
                    <a:pt x="1046974" y="186577"/>
                  </a:lnTo>
                  <a:lnTo>
                    <a:pt x="1027728" y="227536"/>
                  </a:lnTo>
                  <a:lnTo>
                    <a:pt x="1007462" y="267907"/>
                  </a:lnTo>
                  <a:lnTo>
                    <a:pt x="986191" y="307674"/>
                  </a:lnTo>
                  <a:lnTo>
                    <a:pt x="963933" y="346820"/>
                  </a:lnTo>
                  <a:lnTo>
                    <a:pt x="940705" y="385328"/>
                  </a:lnTo>
                  <a:lnTo>
                    <a:pt x="916522" y="423182"/>
                  </a:lnTo>
                  <a:lnTo>
                    <a:pt x="891402" y="460365"/>
                  </a:lnTo>
                  <a:lnTo>
                    <a:pt x="865361" y="496861"/>
                  </a:lnTo>
                  <a:lnTo>
                    <a:pt x="838416" y="532652"/>
                  </a:lnTo>
                  <a:lnTo>
                    <a:pt x="810583" y="567722"/>
                  </a:lnTo>
                  <a:lnTo>
                    <a:pt x="781880" y="602055"/>
                  </a:lnTo>
                  <a:lnTo>
                    <a:pt x="752322" y="635634"/>
                  </a:lnTo>
                  <a:lnTo>
                    <a:pt x="721927" y="668441"/>
                  </a:lnTo>
                  <a:lnTo>
                    <a:pt x="690711" y="700461"/>
                  </a:lnTo>
                  <a:lnTo>
                    <a:pt x="658691" y="731677"/>
                  </a:lnTo>
                  <a:lnTo>
                    <a:pt x="625884" y="762072"/>
                  </a:lnTo>
                  <a:lnTo>
                    <a:pt x="592305" y="791630"/>
                  </a:lnTo>
                  <a:lnTo>
                    <a:pt x="557972" y="820333"/>
                  </a:lnTo>
                  <a:lnTo>
                    <a:pt x="522902" y="848166"/>
                  </a:lnTo>
                  <a:lnTo>
                    <a:pt x="487111" y="875111"/>
                  </a:lnTo>
                  <a:lnTo>
                    <a:pt x="450615" y="901152"/>
                  </a:lnTo>
                  <a:lnTo>
                    <a:pt x="413432" y="926272"/>
                  </a:lnTo>
                  <a:lnTo>
                    <a:pt x="375578" y="950455"/>
                  </a:lnTo>
                  <a:lnTo>
                    <a:pt x="337070" y="973683"/>
                  </a:lnTo>
                  <a:lnTo>
                    <a:pt x="297924" y="995941"/>
                  </a:lnTo>
                  <a:lnTo>
                    <a:pt x="258157" y="1017212"/>
                  </a:lnTo>
                  <a:lnTo>
                    <a:pt x="217786" y="1037478"/>
                  </a:lnTo>
                  <a:lnTo>
                    <a:pt x="176827" y="1056724"/>
                  </a:lnTo>
                  <a:lnTo>
                    <a:pt x="135297" y="1074932"/>
                  </a:lnTo>
                  <a:lnTo>
                    <a:pt x="93212" y="1092086"/>
                  </a:lnTo>
                  <a:lnTo>
                    <a:pt x="50590" y="1108170"/>
                  </a:lnTo>
                  <a:lnTo>
                    <a:pt x="7447" y="1123166"/>
                  </a:lnTo>
                  <a:lnTo>
                    <a:pt x="0" y="112553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0" y="0"/>
              <a:ext cx="1119505" cy="1125855"/>
            </a:xfrm>
            <a:custGeom>
              <a:avLst/>
              <a:gdLst/>
              <a:ahLst/>
              <a:cxnLst/>
              <a:rect l="l" t="t" r="r" b="b"/>
              <a:pathLst>
                <a:path w="1119505" h="1125855">
                  <a:moveTo>
                    <a:pt x="1118890" y="0"/>
                  </a:moveTo>
                  <a:lnTo>
                    <a:pt x="1098420" y="60341"/>
                  </a:lnTo>
                  <a:lnTo>
                    <a:pt x="1082336" y="102963"/>
                  </a:lnTo>
                  <a:lnTo>
                    <a:pt x="1065182" y="145047"/>
                  </a:lnTo>
                  <a:lnTo>
                    <a:pt x="1046974" y="186577"/>
                  </a:lnTo>
                  <a:lnTo>
                    <a:pt x="1027728" y="227536"/>
                  </a:lnTo>
                  <a:lnTo>
                    <a:pt x="1007461" y="267907"/>
                  </a:lnTo>
                  <a:lnTo>
                    <a:pt x="986191" y="307674"/>
                  </a:lnTo>
                  <a:lnTo>
                    <a:pt x="963933" y="346820"/>
                  </a:lnTo>
                  <a:lnTo>
                    <a:pt x="940704" y="385328"/>
                  </a:lnTo>
                  <a:lnTo>
                    <a:pt x="916522" y="423182"/>
                  </a:lnTo>
                  <a:lnTo>
                    <a:pt x="891402" y="460365"/>
                  </a:lnTo>
                  <a:lnTo>
                    <a:pt x="865361" y="496861"/>
                  </a:lnTo>
                  <a:lnTo>
                    <a:pt x="838416" y="532652"/>
                  </a:lnTo>
                  <a:lnTo>
                    <a:pt x="810583" y="567722"/>
                  </a:lnTo>
                  <a:lnTo>
                    <a:pt x="781880" y="602055"/>
                  </a:lnTo>
                  <a:lnTo>
                    <a:pt x="752322" y="635634"/>
                  </a:lnTo>
                  <a:lnTo>
                    <a:pt x="721927" y="668441"/>
                  </a:lnTo>
                  <a:lnTo>
                    <a:pt x="690711" y="700461"/>
                  </a:lnTo>
                  <a:lnTo>
                    <a:pt x="658691" y="731677"/>
                  </a:lnTo>
                  <a:lnTo>
                    <a:pt x="625884" y="762072"/>
                  </a:lnTo>
                  <a:lnTo>
                    <a:pt x="592305" y="791630"/>
                  </a:lnTo>
                  <a:lnTo>
                    <a:pt x="557972" y="820333"/>
                  </a:lnTo>
                  <a:lnTo>
                    <a:pt x="522902" y="848166"/>
                  </a:lnTo>
                  <a:lnTo>
                    <a:pt x="487111" y="875111"/>
                  </a:lnTo>
                  <a:lnTo>
                    <a:pt x="450615" y="901152"/>
                  </a:lnTo>
                  <a:lnTo>
                    <a:pt x="413432" y="926272"/>
                  </a:lnTo>
                  <a:lnTo>
                    <a:pt x="375578" y="950455"/>
                  </a:lnTo>
                  <a:lnTo>
                    <a:pt x="337070" y="973683"/>
                  </a:lnTo>
                  <a:lnTo>
                    <a:pt x="297924" y="995941"/>
                  </a:lnTo>
                  <a:lnTo>
                    <a:pt x="258157" y="1017212"/>
                  </a:lnTo>
                  <a:lnTo>
                    <a:pt x="217786" y="1037478"/>
                  </a:lnTo>
                  <a:lnTo>
                    <a:pt x="176827" y="1056724"/>
                  </a:lnTo>
                  <a:lnTo>
                    <a:pt x="135297" y="1074932"/>
                  </a:lnTo>
                  <a:lnTo>
                    <a:pt x="93212" y="1092086"/>
                  </a:lnTo>
                  <a:lnTo>
                    <a:pt x="50590" y="1108170"/>
                  </a:lnTo>
                  <a:lnTo>
                    <a:pt x="7447" y="1123166"/>
                  </a:lnTo>
                  <a:lnTo>
                    <a:pt x="0" y="112553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0" y="2973411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523781" y="2170077"/>
                  </a:moveTo>
                  <a:lnTo>
                    <a:pt x="0" y="2170077"/>
                  </a:lnTo>
                  <a:lnTo>
                    <a:pt x="0" y="0"/>
                  </a:lnTo>
                  <a:lnTo>
                    <a:pt x="43085" y="33133"/>
                  </a:lnTo>
                  <a:lnTo>
                    <a:pt x="81157" y="64327"/>
                  </a:lnTo>
                  <a:lnTo>
                    <a:pt x="118416" y="96653"/>
                  </a:lnTo>
                  <a:lnTo>
                    <a:pt x="154835" y="130100"/>
                  </a:lnTo>
                  <a:lnTo>
                    <a:pt x="190387" y="164656"/>
                  </a:lnTo>
                  <a:lnTo>
                    <a:pt x="224946" y="200209"/>
                  </a:lnTo>
                  <a:lnTo>
                    <a:pt x="258394" y="236629"/>
                  </a:lnTo>
                  <a:lnTo>
                    <a:pt x="290721" y="273889"/>
                  </a:lnTo>
                  <a:lnTo>
                    <a:pt x="321917" y="311962"/>
                  </a:lnTo>
                  <a:lnTo>
                    <a:pt x="351969" y="350822"/>
                  </a:lnTo>
                  <a:lnTo>
                    <a:pt x="380866" y="390441"/>
                  </a:lnTo>
                  <a:lnTo>
                    <a:pt x="408598" y="430794"/>
                  </a:lnTo>
                  <a:lnTo>
                    <a:pt x="435154" y="471853"/>
                  </a:lnTo>
                  <a:lnTo>
                    <a:pt x="460523" y="513592"/>
                  </a:lnTo>
                  <a:lnTo>
                    <a:pt x="484692" y="555983"/>
                  </a:lnTo>
                  <a:lnTo>
                    <a:pt x="507653" y="599002"/>
                  </a:lnTo>
                  <a:lnTo>
                    <a:pt x="529392" y="642619"/>
                  </a:lnTo>
                  <a:lnTo>
                    <a:pt x="549900" y="686809"/>
                  </a:lnTo>
                  <a:lnTo>
                    <a:pt x="569164" y="731546"/>
                  </a:lnTo>
                  <a:lnTo>
                    <a:pt x="587175" y="776802"/>
                  </a:lnTo>
                  <a:lnTo>
                    <a:pt x="603921" y="822550"/>
                  </a:lnTo>
                  <a:lnTo>
                    <a:pt x="619391" y="868764"/>
                  </a:lnTo>
                  <a:lnTo>
                    <a:pt x="633574" y="915418"/>
                  </a:lnTo>
                  <a:lnTo>
                    <a:pt x="646458" y="962484"/>
                  </a:lnTo>
                  <a:lnTo>
                    <a:pt x="658033" y="1009936"/>
                  </a:lnTo>
                  <a:lnTo>
                    <a:pt x="668288" y="1057746"/>
                  </a:lnTo>
                  <a:lnTo>
                    <a:pt x="677212" y="1105889"/>
                  </a:lnTo>
                  <a:lnTo>
                    <a:pt x="684793" y="1154338"/>
                  </a:lnTo>
                  <a:lnTo>
                    <a:pt x="691020" y="1203065"/>
                  </a:lnTo>
                  <a:lnTo>
                    <a:pt x="695883" y="1252045"/>
                  </a:lnTo>
                  <a:lnTo>
                    <a:pt x="699370" y="1301250"/>
                  </a:lnTo>
                  <a:lnTo>
                    <a:pt x="701471" y="1350653"/>
                  </a:lnTo>
                  <a:lnTo>
                    <a:pt x="702173" y="1400229"/>
                  </a:lnTo>
                  <a:lnTo>
                    <a:pt x="701524" y="1448325"/>
                  </a:lnTo>
                  <a:lnTo>
                    <a:pt x="699588" y="1496100"/>
                  </a:lnTo>
                  <a:lnTo>
                    <a:pt x="696381" y="1543537"/>
                  </a:lnTo>
                  <a:lnTo>
                    <a:pt x="691920" y="1590620"/>
                  </a:lnTo>
                  <a:lnTo>
                    <a:pt x="686222" y="1637331"/>
                  </a:lnTo>
                  <a:lnTo>
                    <a:pt x="679303" y="1683655"/>
                  </a:lnTo>
                  <a:lnTo>
                    <a:pt x="671181" y="1729575"/>
                  </a:lnTo>
                  <a:lnTo>
                    <a:pt x="661871" y="1775073"/>
                  </a:lnTo>
                  <a:lnTo>
                    <a:pt x="651391" y="1820133"/>
                  </a:lnTo>
                  <a:lnTo>
                    <a:pt x="639756" y="1864739"/>
                  </a:lnTo>
                  <a:lnTo>
                    <a:pt x="626985" y="1908875"/>
                  </a:lnTo>
                  <a:lnTo>
                    <a:pt x="613092" y="1952522"/>
                  </a:lnTo>
                  <a:lnTo>
                    <a:pt x="598096" y="1995665"/>
                  </a:lnTo>
                  <a:lnTo>
                    <a:pt x="582012" y="2038287"/>
                  </a:lnTo>
                  <a:lnTo>
                    <a:pt x="564858" y="2080371"/>
                  </a:lnTo>
                  <a:lnTo>
                    <a:pt x="546650" y="2121901"/>
                  </a:lnTo>
                  <a:lnTo>
                    <a:pt x="527404" y="2162860"/>
                  </a:lnTo>
                  <a:lnTo>
                    <a:pt x="523781" y="2170077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0" y="2973411"/>
              <a:ext cx="702310" cy="2170430"/>
            </a:xfrm>
            <a:custGeom>
              <a:avLst/>
              <a:gdLst/>
              <a:ahLst/>
              <a:cxnLst/>
              <a:rect l="l" t="t" r="r" b="b"/>
              <a:pathLst>
                <a:path w="702310" h="2170429">
                  <a:moveTo>
                    <a:pt x="0" y="0"/>
                  </a:moveTo>
                  <a:lnTo>
                    <a:pt x="43085" y="33133"/>
                  </a:lnTo>
                  <a:lnTo>
                    <a:pt x="81157" y="64327"/>
                  </a:lnTo>
                  <a:lnTo>
                    <a:pt x="118416" y="96653"/>
                  </a:lnTo>
                  <a:lnTo>
                    <a:pt x="154835" y="130100"/>
                  </a:lnTo>
                  <a:lnTo>
                    <a:pt x="190387" y="164656"/>
                  </a:lnTo>
                  <a:lnTo>
                    <a:pt x="224946" y="200209"/>
                  </a:lnTo>
                  <a:lnTo>
                    <a:pt x="258394" y="236629"/>
                  </a:lnTo>
                  <a:lnTo>
                    <a:pt x="290721" y="273889"/>
                  </a:lnTo>
                  <a:lnTo>
                    <a:pt x="321917" y="311962"/>
                  </a:lnTo>
                  <a:lnTo>
                    <a:pt x="351969" y="350822"/>
                  </a:lnTo>
                  <a:lnTo>
                    <a:pt x="380866" y="390441"/>
                  </a:lnTo>
                  <a:lnTo>
                    <a:pt x="408598" y="430794"/>
                  </a:lnTo>
                  <a:lnTo>
                    <a:pt x="435154" y="471853"/>
                  </a:lnTo>
                  <a:lnTo>
                    <a:pt x="460523" y="513592"/>
                  </a:lnTo>
                  <a:lnTo>
                    <a:pt x="484692" y="555983"/>
                  </a:lnTo>
                  <a:lnTo>
                    <a:pt x="507653" y="599001"/>
                  </a:lnTo>
                  <a:lnTo>
                    <a:pt x="529392" y="642619"/>
                  </a:lnTo>
                  <a:lnTo>
                    <a:pt x="549900" y="686809"/>
                  </a:lnTo>
                  <a:lnTo>
                    <a:pt x="569164" y="731546"/>
                  </a:lnTo>
                  <a:lnTo>
                    <a:pt x="587175" y="776802"/>
                  </a:lnTo>
                  <a:lnTo>
                    <a:pt x="603921" y="822550"/>
                  </a:lnTo>
                  <a:lnTo>
                    <a:pt x="619391" y="868764"/>
                  </a:lnTo>
                  <a:lnTo>
                    <a:pt x="633574" y="915418"/>
                  </a:lnTo>
                  <a:lnTo>
                    <a:pt x="646458" y="962484"/>
                  </a:lnTo>
                  <a:lnTo>
                    <a:pt x="658033" y="1009936"/>
                  </a:lnTo>
                  <a:lnTo>
                    <a:pt x="668288" y="1057746"/>
                  </a:lnTo>
                  <a:lnTo>
                    <a:pt x="677212" y="1105889"/>
                  </a:lnTo>
                  <a:lnTo>
                    <a:pt x="684793" y="1154338"/>
                  </a:lnTo>
                  <a:lnTo>
                    <a:pt x="691020" y="1203065"/>
                  </a:lnTo>
                  <a:lnTo>
                    <a:pt x="695883" y="1252045"/>
                  </a:lnTo>
                  <a:lnTo>
                    <a:pt x="699370" y="1301250"/>
                  </a:lnTo>
                  <a:lnTo>
                    <a:pt x="701470" y="1350653"/>
                  </a:lnTo>
                  <a:lnTo>
                    <a:pt x="702173" y="1400229"/>
                  </a:lnTo>
                  <a:lnTo>
                    <a:pt x="701524" y="1448325"/>
                  </a:lnTo>
                  <a:lnTo>
                    <a:pt x="699588" y="1496100"/>
                  </a:lnTo>
                  <a:lnTo>
                    <a:pt x="696381" y="1543537"/>
                  </a:lnTo>
                  <a:lnTo>
                    <a:pt x="691920" y="1590620"/>
                  </a:lnTo>
                  <a:lnTo>
                    <a:pt x="686222" y="1637331"/>
                  </a:lnTo>
                  <a:lnTo>
                    <a:pt x="679303" y="1683655"/>
                  </a:lnTo>
                  <a:lnTo>
                    <a:pt x="671181" y="1729575"/>
                  </a:lnTo>
                  <a:lnTo>
                    <a:pt x="661871" y="1775073"/>
                  </a:lnTo>
                  <a:lnTo>
                    <a:pt x="651391" y="1820133"/>
                  </a:lnTo>
                  <a:lnTo>
                    <a:pt x="639756" y="1864739"/>
                  </a:lnTo>
                  <a:lnTo>
                    <a:pt x="626985" y="1908874"/>
                  </a:lnTo>
                  <a:lnTo>
                    <a:pt x="613092" y="1952522"/>
                  </a:lnTo>
                  <a:lnTo>
                    <a:pt x="598096" y="1995665"/>
                  </a:lnTo>
                  <a:lnTo>
                    <a:pt x="582012" y="2038287"/>
                  </a:lnTo>
                  <a:lnTo>
                    <a:pt x="564858" y="2080371"/>
                  </a:lnTo>
                  <a:lnTo>
                    <a:pt x="546650" y="2121901"/>
                  </a:lnTo>
                  <a:lnTo>
                    <a:pt x="527404" y="2162860"/>
                  </a:lnTo>
                  <a:lnTo>
                    <a:pt x="523781" y="2170077"/>
                  </a:lnTo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1053810" y="653813"/>
              <a:ext cx="2050414" cy="886460"/>
            </a:xfrm>
            <a:custGeom>
              <a:avLst/>
              <a:gdLst/>
              <a:ahLst/>
              <a:cxnLst/>
              <a:rect l="l" t="t" r="r" b="b"/>
              <a:pathLst>
                <a:path w="2050414" h="886460">
                  <a:moveTo>
                    <a:pt x="2049983" y="886433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964935" y="609976"/>
              <a:ext cx="110887" cy="82242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850438" y="3105093"/>
              <a:ext cx="2310130" cy="796290"/>
            </a:xfrm>
            <a:custGeom>
              <a:avLst/>
              <a:gdLst/>
              <a:ahLst/>
              <a:cxnLst/>
              <a:rect l="l" t="t" r="r" b="b"/>
              <a:pathLst>
                <a:path w="2310130" h="796289">
                  <a:moveTo>
                    <a:pt x="2309630" y="0"/>
                  </a:moveTo>
                  <a:lnTo>
                    <a:pt x="0" y="795873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759178" y="3861692"/>
              <a:ext cx="111034" cy="78524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4018292" y="1814803"/>
            <a:ext cx="15373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“local</a:t>
            </a:r>
            <a:r>
              <a:rPr spc="-8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gradient”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2E3F6CF8-2CAA-4BDD-8722-EA13CC8CE42D}"/>
              </a:ext>
            </a:extLst>
          </p:cNvPr>
          <p:cNvSpPr txBox="1"/>
          <p:nvPr/>
        </p:nvSpPr>
        <p:spPr>
          <a:xfrm>
            <a:off x="0" y="6604084"/>
            <a:ext cx="3124573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Adapted from Fei-Fei Li, Justin Johnson, Serena Yeung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340723" y="1636649"/>
            <a:ext cx="6588125" cy="2464435"/>
            <a:chOff x="1340722" y="779398"/>
            <a:chExt cx="6588125" cy="2464435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610664" y="779398"/>
              <a:ext cx="6318250" cy="2464435"/>
            </a:xfrm>
            <a:custGeom>
              <a:avLst/>
              <a:gdLst/>
              <a:ahLst/>
              <a:cxnLst/>
              <a:rect l="l" t="t" r="r" b="b"/>
              <a:pathLst>
                <a:path w="6318250" h="2464435">
                  <a:moveTo>
                    <a:pt x="319798" y="2307780"/>
                  </a:moveTo>
                  <a:lnTo>
                    <a:pt x="0" y="2307780"/>
                  </a:lnTo>
                  <a:lnTo>
                    <a:pt x="0" y="2464079"/>
                  </a:lnTo>
                  <a:lnTo>
                    <a:pt x="319798" y="2464079"/>
                  </a:lnTo>
                  <a:lnTo>
                    <a:pt x="319798" y="2307780"/>
                  </a:lnTo>
                  <a:close/>
                </a:path>
                <a:path w="6318250" h="2464435">
                  <a:moveTo>
                    <a:pt x="375005" y="0"/>
                  </a:moveTo>
                  <a:lnTo>
                    <a:pt x="0" y="0"/>
                  </a:lnTo>
                  <a:lnTo>
                    <a:pt x="0" y="263410"/>
                  </a:lnTo>
                  <a:lnTo>
                    <a:pt x="375005" y="263410"/>
                  </a:lnTo>
                  <a:lnTo>
                    <a:pt x="375005" y="0"/>
                  </a:lnTo>
                  <a:close/>
                </a:path>
                <a:path w="6318250" h="2464435">
                  <a:moveTo>
                    <a:pt x="1145425" y="1537601"/>
                  </a:moveTo>
                  <a:lnTo>
                    <a:pt x="825627" y="1537601"/>
                  </a:lnTo>
                  <a:lnTo>
                    <a:pt x="825627" y="1693900"/>
                  </a:lnTo>
                  <a:lnTo>
                    <a:pt x="1145425" y="1693900"/>
                  </a:lnTo>
                  <a:lnTo>
                    <a:pt x="1145425" y="1537601"/>
                  </a:lnTo>
                  <a:close/>
                </a:path>
                <a:path w="6318250" h="2464435">
                  <a:moveTo>
                    <a:pt x="1145425" y="1248727"/>
                  </a:moveTo>
                  <a:lnTo>
                    <a:pt x="825627" y="1248727"/>
                  </a:lnTo>
                  <a:lnTo>
                    <a:pt x="825627" y="1512125"/>
                  </a:lnTo>
                  <a:lnTo>
                    <a:pt x="1145425" y="1512125"/>
                  </a:lnTo>
                  <a:lnTo>
                    <a:pt x="1145425" y="1248727"/>
                  </a:lnTo>
                  <a:close/>
                </a:path>
                <a:path w="6318250" h="2464435">
                  <a:moveTo>
                    <a:pt x="1145425" y="564184"/>
                  </a:moveTo>
                  <a:lnTo>
                    <a:pt x="825627" y="564184"/>
                  </a:lnTo>
                  <a:lnTo>
                    <a:pt x="825627" y="720483"/>
                  </a:lnTo>
                  <a:lnTo>
                    <a:pt x="1145425" y="720483"/>
                  </a:lnTo>
                  <a:lnTo>
                    <a:pt x="1145425" y="564184"/>
                  </a:lnTo>
                  <a:close/>
                </a:path>
                <a:path w="6318250" h="2464435">
                  <a:moveTo>
                    <a:pt x="1190167" y="245884"/>
                  </a:moveTo>
                  <a:lnTo>
                    <a:pt x="870369" y="245884"/>
                  </a:lnTo>
                  <a:lnTo>
                    <a:pt x="870369" y="509282"/>
                  </a:lnTo>
                  <a:lnTo>
                    <a:pt x="1190167" y="509282"/>
                  </a:lnTo>
                  <a:lnTo>
                    <a:pt x="1190167" y="245884"/>
                  </a:lnTo>
                  <a:close/>
                </a:path>
                <a:path w="6318250" h="2464435">
                  <a:moveTo>
                    <a:pt x="2000796" y="1061173"/>
                  </a:moveTo>
                  <a:lnTo>
                    <a:pt x="1680997" y="1061173"/>
                  </a:lnTo>
                  <a:lnTo>
                    <a:pt x="1680997" y="1217472"/>
                  </a:lnTo>
                  <a:lnTo>
                    <a:pt x="2000796" y="1217472"/>
                  </a:lnTo>
                  <a:lnTo>
                    <a:pt x="2000796" y="1061173"/>
                  </a:lnTo>
                  <a:close/>
                </a:path>
                <a:path w="6318250" h="2464435">
                  <a:moveTo>
                    <a:pt x="2000796" y="740524"/>
                  </a:moveTo>
                  <a:lnTo>
                    <a:pt x="1680997" y="740524"/>
                  </a:lnTo>
                  <a:lnTo>
                    <a:pt x="1680997" y="1003935"/>
                  </a:lnTo>
                  <a:lnTo>
                    <a:pt x="2000796" y="1003935"/>
                  </a:lnTo>
                  <a:lnTo>
                    <a:pt x="2000796" y="740524"/>
                  </a:lnTo>
                  <a:close/>
                </a:path>
                <a:path w="6318250" h="2464435">
                  <a:moveTo>
                    <a:pt x="2897200" y="1679016"/>
                  </a:moveTo>
                  <a:lnTo>
                    <a:pt x="2577401" y="1679016"/>
                  </a:lnTo>
                  <a:lnTo>
                    <a:pt x="2577401" y="1835327"/>
                  </a:lnTo>
                  <a:lnTo>
                    <a:pt x="2897200" y="1835327"/>
                  </a:lnTo>
                  <a:lnTo>
                    <a:pt x="2897200" y="1679016"/>
                  </a:lnTo>
                  <a:close/>
                </a:path>
                <a:path w="6318250" h="2464435">
                  <a:moveTo>
                    <a:pt x="2897200" y="1363573"/>
                  </a:moveTo>
                  <a:lnTo>
                    <a:pt x="2577401" y="1363573"/>
                  </a:lnTo>
                  <a:lnTo>
                    <a:pt x="2577401" y="1626971"/>
                  </a:lnTo>
                  <a:lnTo>
                    <a:pt x="2897200" y="1626971"/>
                  </a:lnTo>
                  <a:lnTo>
                    <a:pt x="2897200" y="1363573"/>
                  </a:lnTo>
                  <a:close/>
                </a:path>
                <a:path w="6318250" h="2464435">
                  <a:moveTo>
                    <a:pt x="3763873" y="1679028"/>
                  </a:moveTo>
                  <a:lnTo>
                    <a:pt x="3444075" y="1679028"/>
                  </a:lnTo>
                  <a:lnTo>
                    <a:pt x="3444075" y="1835327"/>
                  </a:lnTo>
                  <a:lnTo>
                    <a:pt x="3763873" y="1835327"/>
                  </a:lnTo>
                  <a:lnTo>
                    <a:pt x="3763873" y="1679028"/>
                  </a:lnTo>
                  <a:close/>
                </a:path>
                <a:path w="6318250" h="2464435">
                  <a:moveTo>
                    <a:pt x="3763873" y="1363573"/>
                  </a:moveTo>
                  <a:lnTo>
                    <a:pt x="3444075" y="1363573"/>
                  </a:lnTo>
                  <a:lnTo>
                    <a:pt x="3444075" y="1626971"/>
                  </a:lnTo>
                  <a:lnTo>
                    <a:pt x="3763873" y="1626971"/>
                  </a:lnTo>
                  <a:lnTo>
                    <a:pt x="3763873" y="1363573"/>
                  </a:lnTo>
                  <a:close/>
                </a:path>
                <a:path w="6318250" h="2464435">
                  <a:moveTo>
                    <a:pt x="4561891" y="1363573"/>
                  </a:moveTo>
                  <a:lnTo>
                    <a:pt x="4242092" y="1363573"/>
                  </a:lnTo>
                  <a:lnTo>
                    <a:pt x="4242092" y="1626971"/>
                  </a:lnTo>
                  <a:lnTo>
                    <a:pt x="4561891" y="1626971"/>
                  </a:lnTo>
                  <a:lnTo>
                    <a:pt x="4561891" y="1363573"/>
                  </a:lnTo>
                  <a:close/>
                </a:path>
                <a:path w="6318250" h="2464435">
                  <a:moveTo>
                    <a:pt x="4630547" y="1679028"/>
                  </a:moveTo>
                  <a:lnTo>
                    <a:pt x="4310748" y="1679028"/>
                  </a:lnTo>
                  <a:lnTo>
                    <a:pt x="4310748" y="1835327"/>
                  </a:lnTo>
                  <a:lnTo>
                    <a:pt x="4630547" y="1835327"/>
                  </a:lnTo>
                  <a:lnTo>
                    <a:pt x="4630547" y="1679028"/>
                  </a:lnTo>
                  <a:close/>
                </a:path>
                <a:path w="6318250" h="2464435">
                  <a:moveTo>
                    <a:pt x="5430393" y="1363573"/>
                  </a:moveTo>
                  <a:lnTo>
                    <a:pt x="5110594" y="1363573"/>
                  </a:lnTo>
                  <a:lnTo>
                    <a:pt x="5110594" y="1626971"/>
                  </a:lnTo>
                  <a:lnTo>
                    <a:pt x="5430393" y="1626971"/>
                  </a:lnTo>
                  <a:lnTo>
                    <a:pt x="5430393" y="1363573"/>
                  </a:lnTo>
                  <a:close/>
                </a:path>
                <a:path w="6318250" h="2464435">
                  <a:moveTo>
                    <a:pt x="5497220" y="1679028"/>
                  </a:moveTo>
                  <a:lnTo>
                    <a:pt x="5177409" y="1679028"/>
                  </a:lnTo>
                  <a:lnTo>
                    <a:pt x="5177409" y="1835327"/>
                  </a:lnTo>
                  <a:lnTo>
                    <a:pt x="5497220" y="1835327"/>
                  </a:lnTo>
                  <a:lnTo>
                    <a:pt x="5497220" y="1679028"/>
                  </a:lnTo>
                  <a:close/>
                </a:path>
                <a:path w="6318250" h="2464435">
                  <a:moveTo>
                    <a:pt x="6298882" y="1363573"/>
                  </a:moveTo>
                  <a:lnTo>
                    <a:pt x="5979084" y="1363573"/>
                  </a:lnTo>
                  <a:lnTo>
                    <a:pt x="5979084" y="1626971"/>
                  </a:lnTo>
                  <a:lnTo>
                    <a:pt x="6298882" y="1626971"/>
                  </a:lnTo>
                  <a:lnTo>
                    <a:pt x="6298882" y="1363573"/>
                  </a:lnTo>
                  <a:close/>
                </a:path>
                <a:path w="6318250" h="2464435">
                  <a:moveTo>
                    <a:pt x="6317742" y="1679028"/>
                  </a:moveTo>
                  <a:lnTo>
                    <a:pt x="5997943" y="1679028"/>
                  </a:lnTo>
                  <a:lnTo>
                    <a:pt x="5997943" y="1835327"/>
                  </a:lnTo>
                  <a:lnTo>
                    <a:pt x="6317742" y="1835327"/>
                  </a:lnTo>
                  <a:lnTo>
                    <a:pt x="6317742" y="16790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1588209" y="1900047"/>
          <a:ext cx="320040" cy="200389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930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08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3774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764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1212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2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536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74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38100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8299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T w="53975">
                      <a:solidFill>
                        <a:srgbClr val="FFFFFF"/>
                      </a:solidFill>
                      <a:prstDash val="solid"/>
                    </a:lnT>
                    <a:lnB w="53975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xfrm>
            <a:off x="5105644" y="4693239"/>
            <a:ext cx="144525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7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38C0897-7ED7-4FEA-93A8-E1BC2714C608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340723" y="1715673"/>
            <a:ext cx="6588125" cy="2385060"/>
            <a:chOff x="1340722" y="858423"/>
            <a:chExt cx="6588125" cy="2385060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577314" y="1078826"/>
              <a:ext cx="6351270" cy="2164715"/>
            </a:xfrm>
            <a:custGeom>
              <a:avLst/>
              <a:gdLst/>
              <a:ahLst/>
              <a:cxnLst/>
              <a:rect l="l" t="t" r="r" b="b"/>
              <a:pathLst>
                <a:path w="635127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635127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635127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635127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6351270" h="216471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  <a:path w="635127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72"/>
                  </a:lnTo>
                  <a:lnTo>
                    <a:pt x="1178775" y="1394472"/>
                  </a:lnTo>
                  <a:lnTo>
                    <a:pt x="1178775" y="1238173"/>
                  </a:lnTo>
                  <a:close/>
                </a:path>
                <a:path w="6351270" h="2164715">
                  <a:moveTo>
                    <a:pt x="1178775" y="264756"/>
                  </a:moveTo>
                  <a:lnTo>
                    <a:pt x="858977" y="264756"/>
                  </a:lnTo>
                  <a:lnTo>
                    <a:pt x="858977" y="421055"/>
                  </a:lnTo>
                  <a:lnTo>
                    <a:pt x="1178775" y="421055"/>
                  </a:lnTo>
                  <a:lnTo>
                    <a:pt x="1178775" y="264756"/>
                  </a:lnTo>
                  <a:close/>
                </a:path>
                <a:path w="6351270" h="2164715">
                  <a:moveTo>
                    <a:pt x="2034146" y="761746"/>
                  </a:moveTo>
                  <a:lnTo>
                    <a:pt x="1714347" y="761746"/>
                  </a:lnTo>
                  <a:lnTo>
                    <a:pt x="1714347" y="918044"/>
                  </a:lnTo>
                  <a:lnTo>
                    <a:pt x="2034146" y="918044"/>
                  </a:lnTo>
                  <a:lnTo>
                    <a:pt x="2034146" y="761746"/>
                  </a:lnTo>
                  <a:close/>
                </a:path>
                <a:path w="6351270" h="2164715">
                  <a:moveTo>
                    <a:pt x="2930550" y="1379588"/>
                  </a:moveTo>
                  <a:lnTo>
                    <a:pt x="2610751" y="1379588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588"/>
                  </a:lnTo>
                  <a:close/>
                </a:path>
                <a:path w="635127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6351270" h="2164715">
                  <a:moveTo>
                    <a:pt x="4663897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897" y="1535899"/>
                  </a:lnTo>
                  <a:lnTo>
                    <a:pt x="4663897" y="1379601"/>
                  </a:lnTo>
                  <a:close/>
                </a:path>
                <a:path w="6351270" h="2164715">
                  <a:moveTo>
                    <a:pt x="5530570" y="1379601"/>
                  </a:moveTo>
                  <a:lnTo>
                    <a:pt x="5210759" y="1379601"/>
                  </a:lnTo>
                  <a:lnTo>
                    <a:pt x="5210759" y="1535899"/>
                  </a:lnTo>
                  <a:lnTo>
                    <a:pt x="5530570" y="1535899"/>
                  </a:lnTo>
                  <a:lnTo>
                    <a:pt x="5530570" y="1379601"/>
                  </a:lnTo>
                  <a:close/>
                </a:path>
                <a:path w="6351270" h="2164715">
                  <a:moveTo>
                    <a:pt x="6351092" y="1379601"/>
                  </a:moveTo>
                  <a:lnTo>
                    <a:pt x="6031293" y="1379601"/>
                  </a:lnTo>
                  <a:lnTo>
                    <a:pt x="6031293" y="1535899"/>
                  </a:lnTo>
                  <a:lnTo>
                    <a:pt x="6351092" y="1535899"/>
                  </a:lnTo>
                  <a:lnTo>
                    <a:pt x="6351092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xfrm>
            <a:off x="5105644" y="4693239"/>
            <a:ext cx="144525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8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B9A57-9BEE-42D7-A7E2-886900237A5A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4" name="object 4"/>
          <p:cNvSpPr/>
          <p:nvPr/>
        </p:nvSpPr>
        <p:spPr>
          <a:xfrm>
            <a:off x="4785792" y="4164268"/>
            <a:ext cx="4153454" cy="99652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67124" y="4164268"/>
            <a:ext cx="3920752" cy="9965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1340723" y="1715673"/>
            <a:ext cx="6588125" cy="2385060"/>
            <a:chOff x="1340722" y="858423"/>
            <a:chExt cx="6588125" cy="2385060"/>
          </a:xfrm>
        </p:grpSpPr>
        <p:sp>
          <p:nvSpPr>
            <p:cNvPr id="8" name="object 8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577314" y="1078826"/>
              <a:ext cx="6351270" cy="2164715"/>
            </a:xfrm>
            <a:custGeom>
              <a:avLst/>
              <a:gdLst/>
              <a:ahLst/>
              <a:cxnLst/>
              <a:rect l="l" t="t" r="r" b="b"/>
              <a:pathLst>
                <a:path w="6351270" h="2164715">
                  <a:moveTo>
                    <a:pt x="319798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19798" y="1145603"/>
                  </a:lnTo>
                  <a:lnTo>
                    <a:pt x="319798" y="989304"/>
                  </a:lnTo>
                  <a:close/>
                </a:path>
                <a:path w="635127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6351270" h="2164715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635127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6351270" h="216471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  <a:path w="635127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72"/>
                  </a:lnTo>
                  <a:lnTo>
                    <a:pt x="1178775" y="1394472"/>
                  </a:lnTo>
                  <a:lnTo>
                    <a:pt x="1178775" y="1238173"/>
                  </a:lnTo>
                  <a:close/>
                </a:path>
                <a:path w="6351270" h="2164715">
                  <a:moveTo>
                    <a:pt x="1178775" y="264756"/>
                  </a:moveTo>
                  <a:lnTo>
                    <a:pt x="858977" y="264756"/>
                  </a:lnTo>
                  <a:lnTo>
                    <a:pt x="858977" y="421055"/>
                  </a:lnTo>
                  <a:lnTo>
                    <a:pt x="1178775" y="421055"/>
                  </a:lnTo>
                  <a:lnTo>
                    <a:pt x="1178775" y="264756"/>
                  </a:lnTo>
                  <a:close/>
                </a:path>
                <a:path w="6351270" h="2164715">
                  <a:moveTo>
                    <a:pt x="2034146" y="761746"/>
                  </a:moveTo>
                  <a:lnTo>
                    <a:pt x="1714347" y="761746"/>
                  </a:lnTo>
                  <a:lnTo>
                    <a:pt x="1714347" y="918044"/>
                  </a:lnTo>
                  <a:lnTo>
                    <a:pt x="2034146" y="918044"/>
                  </a:lnTo>
                  <a:lnTo>
                    <a:pt x="2034146" y="761746"/>
                  </a:lnTo>
                  <a:close/>
                </a:path>
                <a:path w="6351270" h="2164715">
                  <a:moveTo>
                    <a:pt x="2930550" y="1379588"/>
                  </a:moveTo>
                  <a:lnTo>
                    <a:pt x="2610751" y="1379588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588"/>
                  </a:lnTo>
                  <a:close/>
                </a:path>
                <a:path w="635127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6351270" h="2164715">
                  <a:moveTo>
                    <a:pt x="4663897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897" y="1535899"/>
                  </a:lnTo>
                  <a:lnTo>
                    <a:pt x="4663897" y="1379601"/>
                  </a:lnTo>
                  <a:close/>
                </a:path>
                <a:path w="6351270" h="2164715">
                  <a:moveTo>
                    <a:pt x="5530570" y="1379601"/>
                  </a:moveTo>
                  <a:lnTo>
                    <a:pt x="5210759" y="1379601"/>
                  </a:lnTo>
                  <a:lnTo>
                    <a:pt x="5210759" y="1535899"/>
                  </a:lnTo>
                  <a:lnTo>
                    <a:pt x="5530570" y="1535899"/>
                  </a:lnTo>
                  <a:lnTo>
                    <a:pt x="5530570" y="1379601"/>
                  </a:lnTo>
                  <a:close/>
                </a:path>
                <a:path w="6351270" h="2164715">
                  <a:moveTo>
                    <a:pt x="6351092" y="1379601"/>
                  </a:moveTo>
                  <a:lnTo>
                    <a:pt x="6031293" y="1379601"/>
                  </a:lnTo>
                  <a:lnTo>
                    <a:pt x="6031293" y="1535899"/>
                  </a:lnTo>
                  <a:lnTo>
                    <a:pt x="6351092" y="1535899"/>
                  </a:lnTo>
                  <a:lnTo>
                    <a:pt x="6351092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906BA1D8-80F2-48FF-BD09-7F6A0EBBFAEB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340722" y="1715673"/>
            <a:ext cx="7647940" cy="3445510"/>
            <a:chOff x="1340722" y="858423"/>
            <a:chExt cx="7647940" cy="3445510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6707936" y="2056520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7" y="0"/>
                  </a:lnTo>
                  <a:lnTo>
                    <a:pt x="1297497" y="714298"/>
                  </a:lnTo>
                  <a:lnTo>
                    <a:pt x="0" y="7142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785792" y="3307018"/>
              <a:ext cx="4153454" cy="9965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4756865" y="3197268"/>
              <a:ext cx="4222750" cy="657225"/>
            </a:xfrm>
            <a:custGeom>
              <a:avLst/>
              <a:gdLst/>
              <a:ahLst/>
              <a:cxnLst/>
              <a:rect l="l" t="t" r="r" b="b"/>
              <a:pathLst>
                <a:path w="4222750" h="657225">
                  <a:moveTo>
                    <a:pt x="0" y="0"/>
                  </a:moveTo>
                  <a:lnTo>
                    <a:pt x="4222191" y="0"/>
                  </a:lnTo>
                  <a:lnTo>
                    <a:pt x="4222191" y="656698"/>
                  </a:lnTo>
                  <a:lnTo>
                    <a:pt x="0" y="6566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577314" y="1078826"/>
              <a:ext cx="4664075" cy="2164715"/>
            </a:xfrm>
            <a:custGeom>
              <a:avLst/>
              <a:gdLst/>
              <a:ahLst/>
              <a:cxnLst/>
              <a:rect l="l" t="t" r="r" b="b"/>
              <a:pathLst>
                <a:path w="4664075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4664075" h="2164715">
                  <a:moveTo>
                    <a:pt x="331203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31203" y="1145603"/>
                  </a:lnTo>
                  <a:lnTo>
                    <a:pt x="331203" y="989304"/>
                  </a:lnTo>
                  <a:close/>
                </a:path>
                <a:path w="4664075" h="2164715">
                  <a:moveTo>
                    <a:pt x="331203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31203" y="156298"/>
                  </a:lnTo>
                  <a:lnTo>
                    <a:pt x="331203" y="0"/>
                  </a:lnTo>
                  <a:close/>
                </a:path>
                <a:path w="4664075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4664075" h="216471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  <a:path w="4664075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72"/>
                  </a:lnTo>
                  <a:lnTo>
                    <a:pt x="1178775" y="1394472"/>
                  </a:lnTo>
                  <a:lnTo>
                    <a:pt x="1178775" y="1238173"/>
                  </a:lnTo>
                  <a:close/>
                </a:path>
                <a:path w="4664075" h="2164715">
                  <a:moveTo>
                    <a:pt x="1178775" y="264756"/>
                  </a:moveTo>
                  <a:lnTo>
                    <a:pt x="858977" y="264756"/>
                  </a:lnTo>
                  <a:lnTo>
                    <a:pt x="858977" y="421055"/>
                  </a:lnTo>
                  <a:lnTo>
                    <a:pt x="1178775" y="421055"/>
                  </a:lnTo>
                  <a:lnTo>
                    <a:pt x="1178775" y="264756"/>
                  </a:lnTo>
                  <a:close/>
                </a:path>
                <a:path w="4664075" h="2164715">
                  <a:moveTo>
                    <a:pt x="2034146" y="761746"/>
                  </a:moveTo>
                  <a:lnTo>
                    <a:pt x="1714347" y="761746"/>
                  </a:lnTo>
                  <a:lnTo>
                    <a:pt x="1714347" y="918044"/>
                  </a:lnTo>
                  <a:lnTo>
                    <a:pt x="2034146" y="918044"/>
                  </a:lnTo>
                  <a:lnTo>
                    <a:pt x="2034146" y="761746"/>
                  </a:lnTo>
                  <a:close/>
                </a:path>
                <a:path w="4664075" h="2164715">
                  <a:moveTo>
                    <a:pt x="2930550" y="1379588"/>
                  </a:moveTo>
                  <a:lnTo>
                    <a:pt x="2610751" y="1379588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588"/>
                  </a:lnTo>
                  <a:close/>
                </a:path>
                <a:path w="4664075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  <a:path w="4664075" h="2164715">
                  <a:moveTo>
                    <a:pt x="4663897" y="1379601"/>
                  </a:moveTo>
                  <a:lnTo>
                    <a:pt x="4344098" y="1379601"/>
                  </a:lnTo>
                  <a:lnTo>
                    <a:pt x="4344098" y="1535899"/>
                  </a:lnTo>
                  <a:lnTo>
                    <a:pt x="4663897" y="1535899"/>
                  </a:lnTo>
                  <a:lnTo>
                    <a:pt x="4663897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495237" y="1499872"/>
              <a:ext cx="1828796" cy="4000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object 11"/>
          <p:cNvSpPr/>
          <p:nvPr/>
        </p:nvSpPr>
        <p:spPr>
          <a:xfrm>
            <a:off x="267124" y="4164268"/>
            <a:ext cx="3920752" cy="9965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137571" y="1806636"/>
            <a:ext cx="795655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086801" y="1806636"/>
            <a:ext cx="668020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Local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533500" y="2249060"/>
            <a:ext cx="751205" cy="139065"/>
            <a:chOff x="6533499" y="1391809"/>
            <a:chExt cx="751205" cy="139065"/>
          </a:xfrm>
        </p:grpSpPr>
        <p:sp>
          <p:nvSpPr>
            <p:cNvPr id="16" name="object 16"/>
            <p:cNvSpPr/>
            <p:nvPr/>
          </p:nvSpPr>
          <p:spPr>
            <a:xfrm>
              <a:off x="6533499" y="1423459"/>
              <a:ext cx="183374" cy="10710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244660" y="1396572"/>
              <a:ext cx="34925" cy="83185"/>
            </a:xfrm>
            <a:custGeom>
              <a:avLst/>
              <a:gdLst/>
              <a:ahLst/>
              <a:cxnLst/>
              <a:rect l="l" t="t" r="r" b="b"/>
              <a:pathLst>
                <a:path w="34925" h="83184">
                  <a:moveTo>
                    <a:pt x="34699" y="0"/>
                  </a:moveTo>
                  <a:lnTo>
                    <a:pt x="0" y="8315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7228010" y="1473669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45952"/>
                  </a:moveTo>
                  <a:lnTo>
                    <a:pt x="2124" y="0"/>
                  </a:lnTo>
                  <a:lnTo>
                    <a:pt x="31174" y="12117"/>
                  </a:lnTo>
                  <a:lnTo>
                    <a:pt x="0" y="459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7228010" y="1473669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2124" y="0"/>
                  </a:moveTo>
                  <a:lnTo>
                    <a:pt x="0" y="45952"/>
                  </a:lnTo>
                  <a:lnTo>
                    <a:pt x="31174" y="12117"/>
                  </a:lnTo>
                  <a:lnTo>
                    <a:pt x="21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9ED5F26B-12D9-480B-83A8-D2F2B964C674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340723" y="1715673"/>
            <a:ext cx="6588125" cy="2385060"/>
            <a:chOff x="1340722" y="858423"/>
            <a:chExt cx="6588125" cy="2385060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842963" y="2047695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40" h="714375">
                  <a:moveTo>
                    <a:pt x="0" y="0"/>
                  </a:moveTo>
                  <a:lnTo>
                    <a:pt x="1297497" y="0"/>
                  </a:lnTo>
                  <a:lnTo>
                    <a:pt x="1297497" y="714298"/>
                  </a:lnTo>
                  <a:lnTo>
                    <a:pt x="0" y="7142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577314" y="1078826"/>
              <a:ext cx="3797300" cy="2164715"/>
            </a:xfrm>
            <a:custGeom>
              <a:avLst/>
              <a:gdLst/>
              <a:ahLst/>
              <a:cxnLst/>
              <a:rect l="l" t="t" r="r" b="b"/>
              <a:pathLst>
                <a:path w="379730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797300" h="2164715">
                  <a:moveTo>
                    <a:pt x="331203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31203" y="1145603"/>
                  </a:lnTo>
                  <a:lnTo>
                    <a:pt x="331203" y="989304"/>
                  </a:lnTo>
                  <a:close/>
                </a:path>
                <a:path w="3797300" h="2164715">
                  <a:moveTo>
                    <a:pt x="331203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31203" y="156298"/>
                  </a:lnTo>
                  <a:lnTo>
                    <a:pt x="331203" y="0"/>
                  </a:lnTo>
                  <a:close/>
                </a:path>
                <a:path w="379730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3797300" h="216471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  <a:path w="379730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72"/>
                  </a:lnTo>
                  <a:lnTo>
                    <a:pt x="1178775" y="1394472"/>
                  </a:lnTo>
                  <a:lnTo>
                    <a:pt x="1178775" y="1238173"/>
                  </a:lnTo>
                  <a:close/>
                </a:path>
                <a:path w="3797300" h="2164715">
                  <a:moveTo>
                    <a:pt x="1178775" y="264756"/>
                  </a:moveTo>
                  <a:lnTo>
                    <a:pt x="858977" y="264756"/>
                  </a:lnTo>
                  <a:lnTo>
                    <a:pt x="858977" y="421055"/>
                  </a:lnTo>
                  <a:lnTo>
                    <a:pt x="1178775" y="421055"/>
                  </a:lnTo>
                  <a:lnTo>
                    <a:pt x="1178775" y="264756"/>
                  </a:lnTo>
                  <a:close/>
                </a:path>
                <a:path w="3797300" h="2164715">
                  <a:moveTo>
                    <a:pt x="2034146" y="761746"/>
                  </a:moveTo>
                  <a:lnTo>
                    <a:pt x="1714347" y="761746"/>
                  </a:lnTo>
                  <a:lnTo>
                    <a:pt x="1714347" y="918044"/>
                  </a:lnTo>
                  <a:lnTo>
                    <a:pt x="2034146" y="918044"/>
                  </a:lnTo>
                  <a:lnTo>
                    <a:pt x="2034146" y="761746"/>
                  </a:lnTo>
                  <a:close/>
                </a:path>
                <a:path w="3797300" h="2164715">
                  <a:moveTo>
                    <a:pt x="2930550" y="1379588"/>
                  </a:moveTo>
                  <a:lnTo>
                    <a:pt x="2610751" y="1379588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588"/>
                  </a:lnTo>
                  <a:close/>
                </a:path>
                <a:path w="3797300" h="2164715">
                  <a:moveTo>
                    <a:pt x="3797223" y="1379601"/>
                  </a:moveTo>
                  <a:lnTo>
                    <a:pt x="3477425" y="1379601"/>
                  </a:lnTo>
                  <a:lnTo>
                    <a:pt x="3477425" y="1535899"/>
                  </a:lnTo>
                  <a:lnTo>
                    <a:pt x="3797223" y="1535899"/>
                  </a:lnTo>
                  <a:lnTo>
                    <a:pt x="3797223" y="1379601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5646813" y="1729771"/>
              <a:ext cx="1600196" cy="190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9" name="object 9"/>
          <p:cNvGrpSpPr/>
          <p:nvPr/>
        </p:nvGrpSpPr>
        <p:grpSpPr>
          <a:xfrm>
            <a:off x="4747340" y="4164268"/>
            <a:ext cx="4241800" cy="1040130"/>
            <a:chOff x="4747340" y="3307018"/>
            <a:chExt cx="4241800" cy="1040130"/>
          </a:xfrm>
        </p:grpSpPr>
        <p:sp>
          <p:nvSpPr>
            <p:cNvPr id="10" name="object 10"/>
            <p:cNvSpPr/>
            <p:nvPr/>
          </p:nvSpPr>
          <p:spPr>
            <a:xfrm>
              <a:off x="4785792" y="3307018"/>
              <a:ext cx="4153454" cy="996522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756865" y="3818292"/>
              <a:ext cx="4222750" cy="519430"/>
            </a:xfrm>
            <a:custGeom>
              <a:avLst/>
              <a:gdLst/>
              <a:ahLst/>
              <a:cxnLst/>
              <a:rect l="l" t="t" r="r" b="b"/>
              <a:pathLst>
                <a:path w="4222750" h="519429">
                  <a:moveTo>
                    <a:pt x="0" y="0"/>
                  </a:moveTo>
                  <a:lnTo>
                    <a:pt x="4222191" y="0"/>
                  </a:lnTo>
                  <a:lnTo>
                    <a:pt x="4222191" y="518998"/>
                  </a:lnTo>
                  <a:lnTo>
                    <a:pt x="0" y="5189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2" name="object 12"/>
          <p:cNvSpPr/>
          <p:nvPr/>
        </p:nvSpPr>
        <p:spPr>
          <a:xfrm>
            <a:off x="267124" y="4164268"/>
            <a:ext cx="3920752" cy="9965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304116" y="1950661"/>
            <a:ext cx="795655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253337" y="1950661"/>
            <a:ext cx="668020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Local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5700051" y="2393085"/>
            <a:ext cx="751205" cy="139065"/>
            <a:chOff x="5700050" y="1535834"/>
            <a:chExt cx="751205" cy="139065"/>
          </a:xfrm>
        </p:grpSpPr>
        <p:sp>
          <p:nvSpPr>
            <p:cNvPr id="17" name="object 17"/>
            <p:cNvSpPr/>
            <p:nvPr/>
          </p:nvSpPr>
          <p:spPr>
            <a:xfrm>
              <a:off x="5700050" y="1567484"/>
              <a:ext cx="183374" cy="10710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411211" y="1540596"/>
              <a:ext cx="34925" cy="83185"/>
            </a:xfrm>
            <a:custGeom>
              <a:avLst/>
              <a:gdLst/>
              <a:ahLst/>
              <a:cxnLst/>
              <a:rect l="l" t="t" r="r" b="b"/>
              <a:pathLst>
                <a:path w="34925" h="83184">
                  <a:moveTo>
                    <a:pt x="34674" y="0"/>
                  </a:moveTo>
                  <a:lnTo>
                    <a:pt x="0" y="8315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6394562" y="1617694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45952"/>
                  </a:moveTo>
                  <a:lnTo>
                    <a:pt x="2124" y="0"/>
                  </a:lnTo>
                  <a:lnTo>
                    <a:pt x="31174" y="12117"/>
                  </a:lnTo>
                  <a:lnTo>
                    <a:pt x="0" y="459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6394562" y="1617694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2124" y="0"/>
                  </a:moveTo>
                  <a:lnTo>
                    <a:pt x="0" y="45952"/>
                  </a:lnTo>
                  <a:lnTo>
                    <a:pt x="31174" y="12117"/>
                  </a:lnTo>
                  <a:lnTo>
                    <a:pt x="21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11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9F44915-DC98-44D8-9887-1A4BA3E073F6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220124" y="1715673"/>
            <a:ext cx="7708900" cy="3445510"/>
            <a:chOff x="220124" y="858423"/>
            <a:chExt cx="7708900" cy="3445510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5004765" y="2047695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7" y="0"/>
                  </a:lnTo>
                  <a:lnTo>
                    <a:pt x="1297497" y="714298"/>
                  </a:lnTo>
                  <a:lnTo>
                    <a:pt x="0" y="7142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124" y="3307018"/>
              <a:ext cx="3920752" cy="9965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229649" y="3277893"/>
              <a:ext cx="4032250" cy="541020"/>
            </a:xfrm>
            <a:custGeom>
              <a:avLst/>
              <a:gdLst/>
              <a:ahLst/>
              <a:cxnLst/>
              <a:rect l="l" t="t" r="r" b="b"/>
              <a:pathLst>
                <a:path w="4032250" h="541020">
                  <a:moveTo>
                    <a:pt x="0" y="0"/>
                  </a:moveTo>
                  <a:lnTo>
                    <a:pt x="4031691" y="0"/>
                  </a:lnTo>
                  <a:lnTo>
                    <a:pt x="4031691" y="540598"/>
                  </a:lnTo>
                  <a:lnTo>
                    <a:pt x="0" y="5405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1577314" y="1078826"/>
              <a:ext cx="2931160" cy="2164715"/>
            </a:xfrm>
            <a:custGeom>
              <a:avLst/>
              <a:gdLst/>
              <a:ahLst/>
              <a:cxnLst/>
              <a:rect l="l" t="t" r="r" b="b"/>
              <a:pathLst>
                <a:path w="2931160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931160" h="2164715">
                  <a:moveTo>
                    <a:pt x="331203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31203" y="1145603"/>
                  </a:lnTo>
                  <a:lnTo>
                    <a:pt x="331203" y="989304"/>
                  </a:lnTo>
                  <a:close/>
                </a:path>
                <a:path w="2931160" h="2164715">
                  <a:moveTo>
                    <a:pt x="331203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31203" y="156298"/>
                  </a:lnTo>
                  <a:lnTo>
                    <a:pt x="331203" y="0"/>
                  </a:lnTo>
                  <a:close/>
                </a:path>
                <a:path w="2931160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931160" h="216471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  <a:path w="2931160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72"/>
                  </a:lnTo>
                  <a:lnTo>
                    <a:pt x="1178775" y="1394472"/>
                  </a:lnTo>
                  <a:lnTo>
                    <a:pt x="1178775" y="1238173"/>
                  </a:lnTo>
                  <a:close/>
                </a:path>
                <a:path w="2931160" h="2164715">
                  <a:moveTo>
                    <a:pt x="1178775" y="264756"/>
                  </a:moveTo>
                  <a:lnTo>
                    <a:pt x="858977" y="264756"/>
                  </a:lnTo>
                  <a:lnTo>
                    <a:pt x="858977" y="421055"/>
                  </a:lnTo>
                  <a:lnTo>
                    <a:pt x="1178775" y="421055"/>
                  </a:lnTo>
                  <a:lnTo>
                    <a:pt x="1178775" y="264756"/>
                  </a:lnTo>
                  <a:close/>
                </a:path>
                <a:path w="2931160" h="2164715">
                  <a:moveTo>
                    <a:pt x="2034146" y="761746"/>
                  </a:moveTo>
                  <a:lnTo>
                    <a:pt x="1714347" y="761746"/>
                  </a:lnTo>
                  <a:lnTo>
                    <a:pt x="1714347" y="918044"/>
                  </a:lnTo>
                  <a:lnTo>
                    <a:pt x="2034146" y="918044"/>
                  </a:lnTo>
                  <a:lnTo>
                    <a:pt x="2034146" y="761746"/>
                  </a:lnTo>
                  <a:close/>
                </a:path>
                <a:path w="2931160" h="2164715">
                  <a:moveTo>
                    <a:pt x="2930550" y="1379588"/>
                  </a:moveTo>
                  <a:lnTo>
                    <a:pt x="2610751" y="1379588"/>
                  </a:lnTo>
                  <a:lnTo>
                    <a:pt x="2610751" y="1535899"/>
                  </a:lnTo>
                  <a:lnTo>
                    <a:pt x="2930550" y="1535899"/>
                  </a:lnTo>
                  <a:lnTo>
                    <a:pt x="2930550" y="137958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748640" y="1699971"/>
              <a:ext cx="1809746" cy="22859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object 11"/>
          <p:cNvSpPr/>
          <p:nvPr/>
        </p:nvSpPr>
        <p:spPr>
          <a:xfrm>
            <a:off x="4785792" y="4164268"/>
            <a:ext cx="4153454" cy="9965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465918" y="1938783"/>
            <a:ext cx="795655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5138" y="1938783"/>
            <a:ext cx="668020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Local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4861828" y="2381210"/>
            <a:ext cx="751205" cy="139065"/>
            <a:chOff x="4861827" y="1523959"/>
            <a:chExt cx="751205" cy="139065"/>
          </a:xfrm>
        </p:grpSpPr>
        <p:sp>
          <p:nvSpPr>
            <p:cNvPr id="16" name="object 16"/>
            <p:cNvSpPr/>
            <p:nvPr/>
          </p:nvSpPr>
          <p:spPr>
            <a:xfrm>
              <a:off x="4861827" y="1555609"/>
              <a:ext cx="183399" cy="10710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573013" y="1528721"/>
              <a:ext cx="34925" cy="83185"/>
            </a:xfrm>
            <a:custGeom>
              <a:avLst/>
              <a:gdLst/>
              <a:ahLst/>
              <a:cxnLst/>
              <a:rect l="l" t="t" r="r" b="b"/>
              <a:pathLst>
                <a:path w="34925" h="83184">
                  <a:moveTo>
                    <a:pt x="34699" y="0"/>
                  </a:moveTo>
                  <a:lnTo>
                    <a:pt x="0" y="8315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556363" y="1605819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45952"/>
                  </a:moveTo>
                  <a:lnTo>
                    <a:pt x="2124" y="0"/>
                  </a:lnTo>
                  <a:lnTo>
                    <a:pt x="31174" y="12117"/>
                  </a:lnTo>
                  <a:lnTo>
                    <a:pt x="0" y="459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556363" y="1605819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2124" y="0"/>
                  </a:moveTo>
                  <a:lnTo>
                    <a:pt x="0" y="45952"/>
                  </a:lnTo>
                  <a:lnTo>
                    <a:pt x="31174" y="12117"/>
                  </a:lnTo>
                  <a:lnTo>
                    <a:pt x="21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12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7DAD6AD-52D0-4FA6-A7D8-37E68F406E7C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 dirty="0"/>
          </a:p>
        </p:txBody>
      </p:sp>
      <p:grpSp>
        <p:nvGrpSpPr>
          <p:cNvPr id="4" name="object 4"/>
          <p:cNvGrpSpPr/>
          <p:nvPr/>
        </p:nvGrpSpPr>
        <p:grpSpPr>
          <a:xfrm>
            <a:off x="1340723" y="1715673"/>
            <a:ext cx="6588125" cy="2385060"/>
            <a:chOff x="1340722" y="858423"/>
            <a:chExt cx="6588125" cy="2385060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4134491" y="2047695"/>
              <a:ext cx="1297940" cy="714375"/>
            </a:xfrm>
            <a:custGeom>
              <a:avLst/>
              <a:gdLst/>
              <a:ahLst/>
              <a:cxnLst/>
              <a:rect l="l" t="t" r="r" b="b"/>
              <a:pathLst>
                <a:path w="1297939" h="714375">
                  <a:moveTo>
                    <a:pt x="0" y="0"/>
                  </a:moveTo>
                  <a:lnTo>
                    <a:pt x="1297497" y="0"/>
                  </a:lnTo>
                  <a:lnTo>
                    <a:pt x="1297497" y="714298"/>
                  </a:lnTo>
                  <a:lnTo>
                    <a:pt x="0" y="7142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577314" y="1078826"/>
              <a:ext cx="2034539" cy="2164715"/>
            </a:xfrm>
            <a:custGeom>
              <a:avLst/>
              <a:gdLst/>
              <a:ahLst/>
              <a:cxnLst/>
              <a:rect l="l" t="t" r="r" b="b"/>
              <a:pathLst>
                <a:path w="2034539" h="216471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2034539" h="2164715">
                  <a:moveTo>
                    <a:pt x="331203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31203" y="1145603"/>
                  </a:lnTo>
                  <a:lnTo>
                    <a:pt x="331203" y="989304"/>
                  </a:lnTo>
                  <a:close/>
                </a:path>
                <a:path w="2034539" h="2164715">
                  <a:moveTo>
                    <a:pt x="331203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31203" y="156298"/>
                  </a:lnTo>
                  <a:lnTo>
                    <a:pt x="331203" y="0"/>
                  </a:lnTo>
                  <a:close/>
                </a:path>
                <a:path w="2034539" h="2164715">
                  <a:moveTo>
                    <a:pt x="353148" y="2008352"/>
                  </a:moveTo>
                  <a:lnTo>
                    <a:pt x="33350" y="2008352"/>
                  </a:lnTo>
                  <a:lnTo>
                    <a:pt x="33350" y="2164651"/>
                  </a:lnTo>
                  <a:lnTo>
                    <a:pt x="353148" y="2164651"/>
                  </a:lnTo>
                  <a:lnTo>
                    <a:pt x="353148" y="2008352"/>
                  </a:lnTo>
                  <a:close/>
                </a:path>
                <a:path w="2034539" h="216471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  <a:path w="2034539" h="216471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72"/>
                  </a:lnTo>
                  <a:lnTo>
                    <a:pt x="1178775" y="1394472"/>
                  </a:lnTo>
                  <a:lnTo>
                    <a:pt x="1178775" y="1238173"/>
                  </a:lnTo>
                  <a:close/>
                </a:path>
                <a:path w="2034539" h="2164715">
                  <a:moveTo>
                    <a:pt x="1178775" y="264756"/>
                  </a:moveTo>
                  <a:lnTo>
                    <a:pt x="858977" y="264756"/>
                  </a:lnTo>
                  <a:lnTo>
                    <a:pt x="858977" y="421055"/>
                  </a:lnTo>
                  <a:lnTo>
                    <a:pt x="1178775" y="421055"/>
                  </a:lnTo>
                  <a:lnTo>
                    <a:pt x="1178775" y="264756"/>
                  </a:lnTo>
                  <a:close/>
                </a:path>
                <a:path w="2034539" h="2164715">
                  <a:moveTo>
                    <a:pt x="2034146" y="761746"/>
                  </a:moveTo>
                  <a:lnTo>
                    <a:pt x="1714347" y="761746"/>
                  </a:lnTo>
                  <a:lnTo>
                    <a:pt x="1714347" y="918044"/>
                  </a:lnTo>
                  <a:lnTo>
                    <a:pt x="2034146" y="918044"/>
                  </a:lnTo>
                  <a:lnTo>
                    <a:pt x="2034146" y="76174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983142" y="1729781"/>
              <a:ext cx="1600196" cy="1904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4785792" y="4164268"/>
            <a:ext cx="4153454" cy="996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57575" y="4164269"/>
            <a:ext cx="4013835" cy="1096645"/>
            <a:chOff x="257574" y="3307018"/>
            <a:chExt cx="4013835" cy="1096645"/>
          </a:xfrm>
        </p:grpSpPr>
        <p:sp>
          <p:nvSpPr>
            <p:cNvPr id="11" name="object 11"/>
            <p:cNvSpPr/>
            <p:nvPr/>
          </p:nvSpPr>
          <p:spPr>
            <a:xfrm>
              <a:off x="267124" y="3307018"/>
              <a:ext cx="3920752" cy="99652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67099" y="3792817"/>
              <a:ext cx="3994785" cy="601345"/>
            </a:xfrm>
            <a:custGeom>
              <a:avLst/>
              <a:gdLst/>
              <a:ahLst/>
              <a:cxnLst/>
              <a:rect l="l" t="t" r="r" b="b"/>
              <a:pathLst>
                <a:path w="3994785" h="601345">
                  <a:moveTo>
                    <a:pt x="0" y="0"/>
                  </a:moveTo>
                  <a:lnTo>
                    <a:pt x="3994191" y="0"/>
                  </a:lnTo>
                  <a:lnTo>
                    <a:pt x="3994191" y="600898"/>
                  </a:lnTo>
                  <a:lnTo>
                    <a:pt x="0" y="6008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3646970" y="1946136"/>
            <a:ext cx="795655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596190" y="1946136"/>
            <a:ext cx="668020" cy="452881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Local  gradient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4042880" y="2388560"/>
            <a:ext cx="751205" cy="139065"/>
            <a:chOff x="4042879" y="1531309"/>
            <a:chExt cx="751205" cy="139065"/>
          </a:xfrm>
        </p:grpSpPr>
        <p:sp>
          <p:nvSpPr>
            <p:cNvPr id="17" name="object 17"/>
            <p:cNvSpPr/>
            <p:nvPr/>
          </p:nvSpPr>
          <p:spPr>
            <a:xfrm>
              <a:off x="4042879" y="1562959"/>
              <a:ext cx="183399" cy="10710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4754065" y="1536071"/>
              <a:ext cx="34925" cy="83185"/>
            </a:xfrm>
            <a:custGeom>
              <a:avLst/>
              <a:gdLst/>
              <a:ahLst/>
              <a:cxnLst/>
              <a:rect l="l" t="t" r="r" b="b"/>
              <a:pathLst>
                <a:path w="34925" h="83184">
                  <a:moveTo>
                    <a:pt x="34699" y="0"/>
                  </a:moveTo>
                  <a:lnTo>
                    <a:pt x="0" y="83157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4737415" y="1613169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0" y="45952"/>
                  </a:moveTo>
                  <a:lnTo>
                    <a:pt x="2124" y="0"/>
                  </a:lnTo>
                  <a:lnTo>
                    <a:pt x="31174" y="12117"/>
                  </a:lnTo>
                  <a:lnTo>
                    <a:pt x="0" y="45952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4737415" y="1613169"/>
              <a:ext cx="31750" cy="46355"/>
            </a:xfrm>
            <a:custGeom>
              <a:avLst/>
              <a:gdLst/>
              <a:ahLst/>
              <a:cxnLst/>
              <a:rect l="l" t="t" r="r" b="b"/>
              <a:pathLst>
                <a:path w="31750" h="46355">
                  <a:moveTo>
                    <a:pt x="2124" y="0"/>
                  </a:moveTo>
                  <a:lnTo>
                    <a:pt x="0" y="45952"/>
                  </a:lnTo>
                  <a:lnTo>
                    <a:pt x="31174" y="12117"/>
                  </a:lnTo>
                  <a:lnTo>
                    <a:pt x="21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13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62F8CBB-66B7-40CA-AA22-215D0D15561C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267125" y="1715673"/>
            <a:ext cx="7661909" cy="3445510"/>
            <a:chOff x="267124" y="858423"/>
            <a:chExt cx="7661909" cy="3445510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283368" y="1571071"/>
              <a:ext cx="1209675" cy="1252855"/>
            </a:xfrm>
            <a:custGeom>
              <a:avLst/>
              <a:gdLst/>
              <a:ahLst/>
              <a:cxnLst/>
              <a:rect l="l" t="t" r="r" b="b"/>
              <a:pathLst>
                <a:path w="1209675" h="1252855">
                  <a:moveTo>
                    <a:pt x="0" y="0"/>
                  </a:moveTo>
                  <a:lnTo>
                    <a:pt x="1209297" y="0"/>
                  </a:lnTo>
                  <a:lnTo>
                    <a:pt x="1209297" y="1252797"/>
                  </a:lnTo>
                  <a:lnTo>
                    <a:pt x="0" y="12527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67124" y="3307018"/>
              <a:ext cx="3920752" cy="996522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/>
          <p:nvPr/>
        </p:nvSpPr>
        <p:spPr>
          <a:xfrm>
            <a:off x="4785792" y="4164268"/>
            <a:ext cx="4153454" cy="996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708718" y="2029753"/>
            <a:ext cx="371602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[upstream gradient] </a:t>
            </a:r>
            <a:r>
              <a:rPr dirty="0"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latin typeface="Garamond" panose="02020404030301010803" pitchFamily="18" charset="0"/>
                <a:cs typeface="Arial"/>
              </a:rPr>
              <a:t>[local gradient] 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[0.2]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[1]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=</a:t>
            </a:r>
            <a:r>
              <a:rPr spc="-2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0.2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[0.2]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[1]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=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0.2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(both</a:t>
            </a:r>
            <a:r>
              <a:rPr spc="-4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inputs!)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11" name="object 11"/>
          <p:cNvGrpSpPr/>
          <p:nvPr/>
        </p:nvGrpSpPr>
        <p:grpSpPr>
          <a:xfrm>
            <a:off x="1331197" y="1936073"/>
            <a:ext cx="1424940" cy="2276475"/>
            <a:chOff x="1331197" y="1078822"/>
            <a:chExt cx="1424940" cy="2276475"/>
          </a:xfrm>
        </p:grpSpPr>
        <p:sp>
          <p:nvSpPr>
            <p:cNvPr id="12" name="object 12"/>
            <p:cNvSpPr/>
            <p:nvPr/>
          </p:nvSpPr>
          <p:spPr>
            <a:xfrm>
              <a:off x="1340722" y="2744969"/>
              <a:ext cx="795655" cy="600710"/>
            </a:xfrm>
            <a:custGeom>
              <a:avLst/>
              <a:gdLst/>
              <a:ahLst/>
              <a:cxnLst/>
              <a:rect l="l" t="t" r="r" b="b"/>
              <a:pathLst>
                <a:path w="795655" h="600710">
                  <a:moveTo>
                    <a:pt x="0" y="0"/>
                  </a:moveTo>
                  <a:lnTo>
                    <a:pt x="795298" y="0"/>
                  </a:lnTo>
                  <a:lnTo>
                    <a:pt x="795298" y="600298"/>
                  </a:lnTo>
                  <a:lnTo>
                    <a:pt x="0" y="6002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1577314" y="1078826"/>
              <a:ext cx="1179195" cy="1655445"/>
            </a:xfrm>
            <a:custGeom>
              <a:avLst/>
              <a:gdLst/>
              <a:ahLst/>
              <a:cxnLst/>
              <a:rect l="l" t="t" r="r" b="b"/>
              <a:pathLst>
                <a:path w="1179195" h="165544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1179195" h="1655445">
                  <a:moveTo>
                    <a:pt x="331203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31203" y="1145603"/>
                  </a:lnTo>
                  <a:lnTo>
                    <a:pt x="331203" y="989304"/>
                  </a:lnTo>
                  <a:close/>
                </a:path>
                <a:path w="1179195" h="1655445">
                  <a:moveTo>
                    <a:pt x="331203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31203" y="156298"/>
                  </a:lnTo>
                  <a:lnTo>
                    <a:pt x="331203" y="0"/>
                  </a:lnTo>
                  <a:close/>
                </a:path>
                <a:path w="1179195" h="165544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  <a:path w="1179195" h="1655445">
                  <a:moveTo>
                    <a:pt x="1178775" y="1238173"/>
                  </a:moveTo>
                  <a:lnTo>
                    <a:pt x="858977" y="1238173"/>
                  </a:lnTo>
                  <a:lnTo>
                    <a:pt x="858977" y="1394472"/>
                  </a:lnTo>
                  <a:lnTo>
                    <a:pt x="1178775" y="1394472"/>
                  </a:lnTo>
                  <a:lnTo>
                    <a:pt x="1178775" y="1238173"/>
                  </a:lnTo>
                  <a:close/>
                </a:path>
                <a:path w="1179195" h="1655445">
                  <a:moveTo>
                    <a:pt x="1178775" y="264756"/>
                  </a:moveTo>
                  <a:lnTo>
                    <a:pt x="858977" y="264756"/>
                  </a:lnTo>
                  <a:lnTo>
                    <a:pt x="858977" y="421055"/>
                  </a:lnTo>
                  <a:lnTo>
                    <a:pt x="1178775" y="421055"/>
                  </a:lnTo>
                  <a:lnTo>
                    <a:pt x="1178775" y="264756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A75FC754-49FB-491E-9692-32309F57C489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331197" y="1571474"/>
            <a:ext cx="6597650" cy="2513965"/>
            <a:chOff x="1331197" y="714223"/>
            <a:chExt cx="6597650" cy="2513965"/>
          </a:xfrm>
        </p:grpSpPr>
        <p:sp>
          <p:nvSpPr>
            <p:cNvPr id="5" name="object 5"/>
            <p:cNvSpPr/>
            <p:nvPr/>
          </p:nvSpPr>
          <p:spPr>
            <a:xfrm>
              <a:off x="1340722" y="858423"/>
              <a:ext cx="6587686" cy="236957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340722" y="723748"/>
              <a:ext cx="1483995" cy="1042035"/>
            </a:xfrm>
            <a:custGeom>
              <a:avLst/>
              <a:gdLst/>
              <a:ahLst/>
              <a:cxnLst/>
              <a:rect l="l" t="t" r="r" b="b"/>
              <a:pathLst>
                <a:path w="1483995" h="1042035">
                  <a:moveTo>
                    <a:pt x="0" y="0"/>
                  </a:moveTo>
                  <a:lnTo>
                    <a:pt x="1483797" y="0"/>
                  </a:lnTo>
                  <a:lnTo>
                    <a:pt x="1483797" y="1041597"/>
                  </a:lnTo>
                  <a:lnTo>
                    <a:pt x="0" y="10415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1577314" y="1078826"/>
              <a:ext cx="353695" cy="1655445"/>
            </a:xfrm>
            <a:custGeom>
              <a:avLst/>
              <a:gdLst/>
              <a:ahLst/>
              <a:cxnLst/>
              <a:rect l="l" t="t" r="r" b="b"/>
              <a:pathLst>
                <a:path w="353694" h="1655445">
                  <a:moveTo>
                    <a:pt x="319798" y="494652"/>
                  </a:moveTo>
                  <a:lnTo>
                    <a:pt x="0" y="494652"/>
                  </a:lnTo>
                  <a:lnTo>
                    <a:pt x="0" y="650951"/>
                  </a:lnTo>
                  <a:lnTo>
                    <a:pt x="319798" y="650951"/>
                  </a:lnTo>
                  <a:lnTo>
                    <a:pt x="319798" y="494652"/>
                  </a:lnTo>
                  <a:close/>
                </a:path>
                <a:path w="353694" h="1655445">
                  <a:moveTo>
                    <a:pt x="331203" y="989304"/>
                  </a:moveTo>
                  <a:lnTo>
                    <a:pt x="0" y="989304"/>
                  </a:lnTo>
                  <a:lnTo>
                    <a:pt x="0" y="1145603"/>
                  </a:lnTo>
                  <a:lnTo>
                    <a:pt x="331203" y="1145603"/>
                  </a:lnTo>
                  <a:lnTo>
                    <a:pt x="331203" y="989304"/>
                  </a:lnTo>
                  <a:close/>
                </a:path>
                <a:path w="353694" h="1655445">
                  <a:moveTo>
                    <a:pt x="331203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31203" y="156298"/>
                  </a:lnTo>
                  <a:lnTo>
                    <a:pt x="331203" y="0"/>
                  </a:lnTo>
                  <a:close/>
                </a:path>
                <a:path w="353694" h="1655445">
                  <a:moveTo>
                    <a:pt x="353148" y="1498828"/>
                  </a:moveTo>
                  <a:lnTo>
                    <a:pt x="33350" y="1498828"/>
                  </a:lnTo>
                  <a:lnTo>
                    <a:pt x="33350" y="1655127"/>
                  </a:lnTo>
                  <a:lnTo>
                    <a:pt x="353148" y="1655127"/>
                  </a:lnTo>
                  <a:lnTo>
                    <a:pt x="353148" y="14988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/>
          <p:nvPr/>
        </p:nvSpPr>
        <p:spPr>
          <a:xfrm>
            <a:off x="4785792" y="4164268"/>
            <a:ext cx="4153454" cy="9965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7124" y="4164268"/>
            <a:ext cx="3920752" cy="996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CB0D687-1806-41BF-94EC-E174D6E09DF7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331198" y="1571474"/>
            <a:ext cx="6574155" cy="2499995"/>
            <a:chOff x="1331197" y="714223"/>
            <a:chExt cx="6574155" cy="2499995"/>
          </a:xfrm>
        </p:grpSpPr>
        <p:sp>
          <p:nvSpPr>
            <p:cNvPr id="5" name="object 5"/>
            <p:cNvSpPr/>
            <p:nvPr/>
          </p:nvSpPr>
          <p:spPr>
            <a:xfrm>
              <a:off x="1451976" y="928819"/>
              <a:ext cx="6452762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340722" y="723748"/>
              <a:ext cx="1483995" cy="1042035"/>
            </a:xfrm>
            <a:custGeom>
              <a:avLst/>
              <a:gdLst/>
              <a:ahLst/>
              <a:cxnLst/>
              <a:rect l="l" t="t" r="r" b="b"/>
              <a:pathLst>
                <a:path w="1483995" h="1042035">
                  <a:moveTo>
                    <a:pt x="0" y="0"/>
                  </a:moveTo>
                  <a:lnTo>
                    <a:pt x="1483797" y="0"/>
                  </a:lnTo>
                  <a:lnTo>
                    <a:pt x="1483797" y="1041597"/>
                  </a:lnTo>
                  <a:lnTo>
                    <a:pt x="0" y="10415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7" name="object 7"/>
          <p:cNvSpPr/>
          <p:nvPr/>
        </p:nvSpPr>
        <p:spPr>
          <a:xfrm>
            <a:off x="4785792" y="4164268"/>
            <a:ext cx="4153454" cy="99652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67124" y="4164268"/>
            <a:ext cx="3920752" cy="99652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492566" y="4202394"/>
            <a:ext cx="0" cy="1042035"/>
          </a:xfrm>
          <a:custGeom>
            <a:avLst/>
            <a:gdLst/>
            <a:ahLst/>
            <a:cxnLst/>
            <a:rect l="l" t="t" r="r" b="b"/>
            <a:pathLst>
              <a:path h="1042035">
                <a:moveTo>
                  <a:pt x="0" y="0"/>
                </a:moveTo>
                <a:lnTo>
                  <a:pt x="0" y="1041597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667818" y="1944733"/>
            <a:ext cx="3716020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[upstream gradient] </a:t>
            </a:r>
            <a:r>
              <a:rPr dirty="0"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latin typeface="Garamond" panose="02020404030301010803" pitchFamily="18" charset="0"/>
                <a:cs typeface="Arial"/>
              </a:rPr>
              <a:t>[local gradient] 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x0: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[0.2]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[2]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=</a:t>
            </a:r>
            <a:r>
              <a:rPr spc="-3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0.4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12700">
              <a:spcBef>
                <a:spcPts val="1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w0: [0.2]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[-1]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=</a:t>
            </a:r>
            <a:r>
              <a:rPr spc="-2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-0.2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78267" y="2963342"/>
            <a:ext cx="344170" cy="653415"/>
          </a:xfrm>
          <a:custGeom>
            <a:avLst/>
            <a:gdLst/>
            <a:ahLst/>
            <a:cxnLst/>
            <a:rect l="l" t="t" r="r" b="b"/>
            <a:pathLst>
              <a:path w="344169" h="653414">
                <a:moveTo>
                  <a:pt x="319798" y="0"/>
                </a:moveTo>
                <a:lnTo>
                  <a:pt x="0" y="0"/>
                </a:lnTo>
                <a:lnTo>
                  <a:pt x="0" y="156298"/>
                </a:lnTo>
                <a:lnTo>
                  <a:pt x="319798" y="156298"/>
                </a:lnTo>
                <a:lnTo>
                  <a:pt x="319798" y="0"/>
                </a:lnTo>
                <a:close/>
              </a:path>
              <a:path w="344169" h="653414">
                <a:moveTo>
                  <a:pt x="343700" y="497039"/>
                </a:moveTo>
                <a:lnTo>
                  <a:pt x="23901" y="497039"/>
                </a:lnTo>
                <a:lnTo>
                  <a:pt x="23901" y="653338"/>
                </a:lnTo>
                <a:lnTo>
                  <a:pt x="343700" y="653338"/>
                </a:lnTo>
                <a:lnTo>
                  <a:pt x="343700" y="497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15AE1A0-0224-4DDA-B5ED-7AD0A7276800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451976" y="1786070"/>
            <a:ext cx="6452870" cy="2285365"/>
            <a:chOff x="1451976" y="928819"/>
            <a:chExt cx="6452870" cy="2285365"/>
          </a:xfrm>
        </p:grpSpPr>
        <p:sp>
          <p:nvSpPr>
            <p:cNvPr id="5" name="object 5"/>
            <p:cNvSpPr/>
            <p:nvPr/>
          </p:nvSpPr>
          <p:spPr>
            <a:xfrm>
              <a:off x="1451976" y="928819"/>
              <a:ext cx="6452762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578267" y="2106091"/>
              <a:ext cx="344170" cy="653415"/>
            </a:xfrm>
            <a:custGeom>
              <a:avLst/>
              <a:gdLst/>
              <a:ahLst/>
              <a:cxnLst/>
              <a:rect l="l" t="t" r="r" b="b"/>
              <a:pathLst>
                <a:path w="344169" h="653414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44169" h="653414">
                  <a:moveTo>
                    <a:pt x="343700" y="497039"/>
                  </a:moveTo>
                  <a:lnTo>
                    <a:pt x="23901" y="497039"/>
                  </a:lnTo>
                  <a:lnTo>
                    <a:pt x="23901" y="653338"/>
                  </a:lnTo>
                  <a:lnTo>
                    <a:pt x="343700" y="653338"/>
                  </a:lnTo>
                  <a:lnTo>
                    <a:pt x="343700" y="4970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4493890" y="2674172"/>
            <a:ext cx="3027680" cy="353943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76200" rIns="0" bIns="0" rtlCol="0">
            <a:spAutoFit/>
          </a:bodyPr>
          <a:lstStyle/>
          <a:p>
            <a:pPr marR="118110" algn="ctr">
              <a:spcBef>
                <a:spcPts val="600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Sigmoid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760428" y="1761824"/>
            <a:ext cx="1600200" cy="638175"/>
            <a:chOff x="4760428" y="904573"/>
            <a:chExt cx="1600200" cy="638175"/>
          </a:xfrm>
        </p:grpSpPr>
        <p:sp>
          <p:nvSpPr>
            <p:cNvPr id="9" name="object 9"/>
            <p:cNvSpPr/>
            <p:nvPr/>
          </p:nvSpPr>
          <p:spPr>
            <a:xfrm>
              <a:off x="4769940" y="914098"/>
              <a:ext cx="1581146" cy="6191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4765190" y="909335"/>
              <a:ext cx="1590675" cy="628650"/>
            </a:xfrm>
            <a:custGeom>
              <a:avLst/>
              <a:gdLst/>
              <a:ahLst/>
              <a:cxnLst/>
              <a:rect l="l" t="t" r="r" b="b"/>
              <a:pathLst>
                <a:path w="1590675" h="628650">
                  <a:moveTo>
                    <a:pt x="0" y="0"/>
                  </a:moveTo>
                  <a:lnTo>
                    <a:pt x="1590646" y="0"/>
                  </a:lnTo>
                  <a:lnTo>
                    <a:pt x="1590646" y="628648"/>
                  </a:lnTo>
                  <a:lnTo>
                    <a:pt x="0" y="6286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3655370" y="1787641"/>
            <a:ext cx="84836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Sigmoid  function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sz="quarter" idx="7"/>
          </p:nvPr>
        </p:nvSpPr>
        <p:spPr>
          <a:xfrm>
            <a:off x="5105644" y="4693239"/>
            <a:ext cx="144525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17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586436" y="1040121"/>
            <a:ext cx="2215515" cy="1507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Computational graph  </a:t>
            </a:r>
            <a:r>
              <a:rPr sz="1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representation may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not  be unique. Choose one  where local gradients at  each node </a:t>
            </a:r>
            <a:r>
              <a:rPr sz="1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can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be</a:t>
            </a:r>
            <a:r>
              <a:rPr sz="16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easily  expressed!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380030-5BBA-4041-88DF-CD221CB595E3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091519" y="922274"/>
            <a:ext cx="3047993" cy="68579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99825" y="1036057"/>
            <a:ext cx="2409825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/>
              <a:t>Another</a:t>
            </a:r>
            <a:r>
              <a:rPr sz="2400" spc="-90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4" name="object 4"/>
          <p:cNvGrpSpPr/>
          <p:nvPr/>
        </p:nvGrpSpPr>
        <p:grpSpPr>
          <a:xfrm>
            <a:off x="1451976" y="1786070"/>
            <a:ext cx="6452870" cy="2285365"/>
            <a:chOff x="1451976" y="928819"/>
            <a:chExt cx="6452870" cy="2285365"/>
          </a:xfrm>
        </p:grpSpPr>
        <p:sp>
          <p:nvSpPr>
            <p:cNvPr id="5" name="object 5"/>
            <p:cNvSpPr/>
            <p:nvPr/>
          </p:nvSpPr>
          <p:spPr>
            <a:xfrm>
              <a:off x="1451976" y="928819"/>
              <a:ext cx="6452762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578267" y="2106091"/>
              <a:ext cx="344170" cy="653415"/>
            </a:xfrm>
            <a:custGeom>
              <a:avLst/>
              <a:gdLst/>
              <a:ahLst/>
              <a:cxnLst/>
              <a:rect l="l" t="t" r="r" b="b"/>
              <a:pathLst>
                <a:path w="344169" h="653414">
                  <a:moveTo>
                    <a:pt x="319798" y="0"/>
                  </a:moveTo>
                  <a:lnTo>
                    <a:pt x="0" y="0"/>
                  </a:lnTo>
                  <a:lnTo>
                    <a:pt x="0" y="156298"/>
                  </a:lnTo>
                  <a:lnTo>
                    <a:pt x="319798" y="156298"/>
                  </a:lnTo>
                  <a:lnTo>
                    <a:pt x="319798" y="0"/>
                  </a:lnTo>
                  <a:close/>
                </a:path>
                <a:path w="344169" h="653414">
                  <a:moveTo>
                    <a:pt x="343700" y="497039"/>
                  </a:moveTo>
                  <a:lnTo>
                    <a:pt x="23901" y="497039"/>
                  </a:lnTo>
                  <a:lnTo>
                    <a:pt x="23901" y="653338"/>
                  </a:lnTo>
                  <a:lnTo>
                    <a:pt x="343700" y="653338"/>
                  </a:lnTo>
                  <a:lnTo>
                    <a:pt x="343700" y="49703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493891" y="1816921"/>
              <a:ext cx="3027680" cy="1147445"/>
            </a:xfrm>
            <a:custGeom>
              <a:avLst/>
              <a:gdLst/>
              <a:ahLst/>
              <a:cxnLst/>
              <a:rect l="l" t="t" r="r" b="b"/>
              <a:pathLst>
                <a:path w="3027679" h="1147445">
                  <a:moveTo>
                    <a:pt x="0" y="0"/>
                  </a:moveTo>
                  <a:lnTo>
                    <a:pt x="3027293" y="0"/>
                  </a:lnTo>
                  <a:lnTo>
                    <a:pt x="3027293" y="1147197"/>
                  </a:lnTo>
                  <a:lnTo>
                    <a:pt x="0" y="11471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 txBox="1"/>
          <p:nvPr/>
        </p:nvSpPr>
        <p:spPr>
          <a:xfrm>
            <a:off x="4508016" y="2738049"/>
            <a:ext cx="30041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122555" algn="ctr">
              <a:spcBef>
                <a:spcPts val="100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Sigmoid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4088466" y="1761824"/>
            <a:ext cx="3858260" cy="1772285"/>
            <a:chOff x="4088466" y="904573"/>
            <a:chExt cx="3858260" cy="1772285"/>
          </a:xfrm>
        </p:grpSpPr>
        <p:sp>
          <p:nvSpPr>
            <p:cNvPr id="10" name="object 10"/>
            <p:cNvSpPr/>
            <p:nvPr/>
          </p:nvSpPr>
          <p:spPr>
            <a:xfrm>
              <a:off x="4769940" y="914098"/>
              <a:ext cx="1581146" cy="619123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765190" y="909335"/>
              <a:ext cx="1590675" cy="628650"/>
            </a:xfrm>
            <a:custGeom>
              <a:avLst/>
              <a:gdLst/>
              <a:ahLst/>
              <a:cxnLst/>
              <a:rect l="l" t="t" r="r" b="b"/>
              <a:pathLst>
                <a:path w="1590675" h="628650">
                  <a:moveTo>
                    <a:pt x="0" y="0"/>
                  </a:moveTo>
                  <a:lnTo>
                    <a:pt x="1590646" y="0"/>
                  </a:lnTo>
                  <a:lnTo>
                    <a:pt x="1590646" y="628648"/>
                  </a:lnTo>
                  <a:lnTo>
                    <a:pt x="0" y="6286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550059" y="2446530"/>
              <a:ext cx="386715" cy="220979"/>
            </a:xfrm>
            <a:custGeom>
              <a:avLst/>
              <a:gdLst/>
              <a:ahLst/>
              <a:cxnLst/>
              <a:rect l="l" t="t" r="r" b="b"/>
              <a:pathLst>
                <a:path w="386715" h="220980">
                  <a:moveTo>
                    <a:pt x="0" y="0"/>
                  </a:moveTo>
                  <a:lnTo>
                    <a:pt x="386699" y="0"/>
                  </a:lnTo>
                  <a:lnTo>
                    <a:pt x="386699" y="220489"/>
                  </a:lnTo>
                  <a:lnTo>
                    <a:pt x="0" y="22048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546859" y="2191385"/>
              <a:ext cx="386715" cy="220979"/>
            </a:xfrm>
            <a:custGeom>
              <a:avLst/>
              <a:gdLst/>
              <a:ahLst/>
              <a:cxnLst/>
              <a:rect l="l" t="t" r="r" b="b"/>
              <a:pathLst>
                <a:path w="386715" h="220980">
                  <a:moveTo>
                    <a:pt x="0" y="0"/>
                  </a:moveTo>
                  <a:lnTo>
                    <a:pt x="386699" y="0"/>
                  </a:lnTo>
                  <a:lnTo>
                    <a:pt x="386699" y="220499"/>
                  </a:lnTo>
                  <a:lnTo>
                    <a:pt x="0" y="220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99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4097991" y="2210410"/>
              <a:ext cx="386715" cy="220979"/>
            </a:xfrm>
            <a:custGeom>
              <a:avLst/>
              <a:gdLst/>
              <a:ahLst/>
              <a:cxnLst/>
              <a:rect l="l" t="t" r="r" b="b"/>
              <a:pathLst>
                <a:path w="386714" h="220980">
                  <a:moveTo>
                    <a:pt x="0" y="0"/>
                  </a:moveTo>
                  <a:lnTo>
                    <a:pt x="386699" y="0"/>
                  </a:lnTo>
                  <a:lnTo>
                    <a:pt x="386699" y="220499"/>
                  </a:lnTo>
                  <a:lnTo>
                    <a:pt x="0" y="2204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69A84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3655370" y="1787641"/>
            <a:ext cx="84836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Sigmoid  function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6934" y="4550317"/>
            <a:ext cx="6747561" cy="6190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32511" y="4566588"/>
            <a:ext cx="138176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Sigmoid</a:t>
            </a:r>
            <a:r>
              <a:rPr spc="-1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local  gradient: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86436" y="1040121"/>
            <a:ext cx="2215515" cy="1507490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Computational graph  </a:t>
            </a:r>
            <a:r>
              <a:rPr sz="1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representation may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not  be unique. Choose one  where local gradients at  each node </a:t>
            </a:r>
            <a:r>
              <a:rPr sz="1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can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be</a:t>
            </a:r>
            <a:r>
              <a:rPr sz="16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easily  expressed!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39969" y="3810476"/>
            <a:ext cx="3720465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[upstream gradient] </a:t>
            </a:r>
            <a:r>
              <a:rPr dirty="0"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latin typeface="Garamond" panose="02020404030301010803" pitchFamily="18" charset="0"/>
                <a:cs typeface="Arial"/>
              </a:rPr>
              <a:t>[local gradient] 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[1.00] </a:t>
            </a:r>
            <a:r>
              <a:rPr dirty="0">
                <a:latin typeface="Garamond" panose="02020404030301010803" pitchFamily="18" charset="0"/>
                <a:cs typeface="Arial"/>
              </a:rPr>
              <a:t>x </a:t>
            </a:r>
            <a:r>
              <a:rPr spc="-5" dirty="0">
                <a:latin typeface="Garamond" panose="02020404030301010803" pitchFamily="18" charset="0"/>
                <a:cs typeface="Arial"/>
              </a:rPr>
              <a:t>[(1 </a:t>
            </a:r>
            <a:r>
              <a:rPr dirty="0">
                <a:latin typeface="Garamond" panose="02020404030301010803" pitchFamily="18" charset="0"/>
                <a:cs typeface="Arial"/>
              </a:rPr>
              <a:t>- </a:t>
            </a:r>
            <a:r>
              <a:rPr spc="-5" dirty="0">
                <a:solidFill>
                  <a:srgbClr val="9900FF"/>
                </a:solidFill>
                <a:latin typeface="Garamond" panose="02020404030301010803" pitchFamily="18" charset="0"/>
                <a:cs typeface="Arial"/>
              </a:rPr>
              <a:t>0.73</a:t>
            </a:r>
            <a:r>
              <a:rPr spc="-5" dirty="0">
                <a:latin typeface="Garamond" panose="02020404030301010803" pitchFamily="18" charset="0"/>
                <a:cs typeface="Arial"/>
              </a:rPr>
              <a:t>) (</a:t>
            </a:r>
            <a:r>
              <a:rPr spc="-5" dirty="0">
                <a:solidFill>
                  <a:srgbClr val="9900FF"/>
                </a:solidFill>
                <a:latin typeface="Garamond" panose="02020404030301010803" pitchFamily="18" charset="0"/>
                <a:cs typeface="Arial"/>
              </a:rPr>
              <a:t>0.73</a:t>
            </a:r>
            <a:r>
              <a:rPr spc="-5" dirty="0">
                <a:latin typeface="Garamond" panose="02020404030301010803" pitchFamily="18" charset="0"/>
                <a:cs typeface="Arial"/>
              </a:rPr>
              <a:t>)] </a:t>
            </a:r>
            <a:r>
              <a:rPr dirty="0">
                <a:latin typeface="Garamond" panose="02020404030301010803" pitchFamily="18" charset="0"/>
                <a:cs typeface="Arial"/>
              </a:rPr>
              <a:t>=</a:t>
            </a:r>
            <a:r>
              <a:rPr spc="-15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0.2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C3545B1-1EF7-46CB-9F67-56C178F961D7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451222" y="2210862"/>
            <a:ext cx="1457960" cy="815340"/>
            <a:chOff x="1451222" y="1353612"/>
            <a:chExt cx="1457960" cy="815340"/>
          </a:xfrm>
        </p:grpSpPr>
        <p:sp>
          <p:nvSpPr>
            <p:cNvPr id="4" name="object 4"/>
            <p:cNvSpPr/>
            <p:nvPr/>
          </p:nvSpPr>
          <p:spPr>
            <a:xfrm>
              <a:off x="1451222" y="1553016"/>
              <a:ext cx="1448435" cy="606425"/>
            </a:xfrm>
            <a:custGeom>
              <a:avLst/>
              <a:gdLst/>
              <a:ahLst/>
              <a:cxnLst/>
              <a:rect l="l" t="t" r="r" b="b"/>
              <a:pathLst>
                <a:path w="1448435" h="606425">
                  <a:moveTo>
                    <a:pt x="996067" y="226049"/>
                  </a:moveTo>
                  <a:lnTo>
                    <a:pt x="1000660" y="180492"/>
                  </a:lnTo>
                  <a:lnTo>
                    <a:pt x="1013832" y="138060"/>
                  </a:lnTo>
                  <a:lnTo>
                    <a:pt x="1034673" y="99662"/>
                  </a:lnTo>
                  <a:lnTo>
                    <a:pt x="1062276" y="66207"/>
                  </a:lnTo>
                  <a:lnTo>
                    <a:pt x="1095731" y="38605"/>
                  </a:lnTo>
                  <a:lnTo>
                    <a:pt x="1134130" y="17763"/>
                  </a:lnTo>
                  <a:lnTo>
                    <a:pt x="1176563" y="4592"/>
                  </a:lnTo>
                  <a:lnTo>
                    <a:pt x="1222122" y="0"/>
                  </a:lnTo>
                  <a:lnTo>
                    <a:pt x="1266427" y="4383"/>
                  </a:lnTo>
                  <a:lnTo>
                    <a:pt x="1308625" y="17206"/>
                  </a:lnTo>
                  <a:lnTo>
                    <a:pt x="1347528" y="37978"/>
                  </a:lnTo>
                  <a:lnTo>
                    <a:pt x="1381947" y="66207"/>
                  </a:lnTo>
                  <a:lnTo>
                    <a:pt x="1410182" y="100637"/>
                  </a:lnTo>
                  <a:lnTo>
                    <a:pt x="1430959" y="139544"/>
                  </a:lnTo>
                  <a:lnTo>
                    <a:pt x="1443786" y="181743"/>
                  </a:lnTo>
                  <a:lnTo>
                    <a:pt x="1448172" y="226049"/>
                  </a:lnTo>
                  <a:lnTo>
                    <a:pt x="1443579" y="271606"/>
                  </a:lnTo>
                  <a:lnTo>
                    <a:pt x="1430408" y="314038"/>
                  </a:lnTo>
                  <a:lnTo>
                    <a:pt x="1409567" y="352436"/>
                  </a:lnTo>
                  <a:lnTo>
                    <a:pt x="1381965" y="385891"/>
                  </a:lnTo>
                  <a:lnTo>
                    <a:pt x="1348511" y="413493"/>
                  </a:lnTo>
                  <a:lnTo>
                    <a:pt x="1310113" y="434335"/>
                  </a:lnTo>
                  <a:lnTo>
                    <a:pt x="1267681" y="447506"/>
                  </a:lnTo>
                  <a:lnTo>
                    <a:pt x="1222122" y="452099"/>
                  </a:lnTo>
                  <a:lnTo>
                    <a:pt x="1176563" y="447506"/>
                  </a:lnTo>
                  <a:lnTo>
                    <a:pt x="1134130" y="434335"/>
                  </a:lnTo>
                  <a:lnTo>
                    <a:pt x="1095731" y="413493"/>
                  </a:lnTo>
                  <a:lnTo>
                    <a:pt x="1062276" y="385891"/>
                  </a:lnTo>
                  <a:lnTo>
                    <a:pt x="1034673" y="352436"/>
                  </a:lnTo>
                  <a:lnTo>
                    <a:pt x="1013832" y="314038"/>
                  </a:lnTo>
                  <a:lnTo>
                    <a:pt x="1000660" y="271606"/>
                  </a:lnTo>
                  <a:lnTo>
                    <a:pt x="996067" y="226049"/>
                  </a:lnTo>
                  <a:close/>
                </a:path>
                <a:path w="1448435" h="606425">
                  <a:moveTo>
                    <a:pt x="0" y="606078"/>
                  </a:moveTo>
                  <a:lnTo>
                    <a:pt x="652198" y="606078"/>
                  </a:lnTo>
                </a:path>
                <a:path w="1448435" h="606425">
                  <a:moveTo>
                    <a:pt x="652206" y="601021"/>
                  </a:moveTo>
                  <a:lnTo>
                    <a:pt x="927040" y="44220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2352995" y="1942446"/>
              <a:ext cx="109644" cy="8954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451222" y="1363137"/>
              <a:ext cx="952500" cy="169545"/>
            </a:xfrm>
            <a:custGeom>
              <a:avLst/>
              <a:gdLst/>
              <a:ahLst/>
              <a:cxnLst/>
              <a:rect l="l" t="t" r="r" b="b"/>
              <a:pathLst>
                <a:path w="952500" h="169544">
                  <a:moveTo>
                    <a:pt x="0" y="3284"/>
                  </a:moveTo>
                  <a:lnTo>
                    <a:pt x="652198" y="3284"/>
                  </a:lnTo>
                </a:path>
                <a:path w="952500" h="169544">
                  <a:moveTo>
                    <a:pt x="659493" y="0"/>
                  </a:moveTo>
                  <a:lnTo>
                    <a:pt x="952305" y="16905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2378270" y="1495414"/>
              <a:ext cx="109652" cy="89522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/>
          <p:nvPr/>
        </p:nvSpPr>
        <p:spPr>
          <a:xfrm>
            <a:off x="3447068" y="2536340"/>
            <a:ext cx="105499" cy="81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31571" y="1407802"/>
            <a:ext cx="2959100" cy="3656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8175" marR="5080" indent="-626110">
              <a:lnSpc>
                <a:spcPct val="139700"/>
              </a:lnSpc>
              <a:spcBef>
                <a:spcPts val="100"/>
              </a:spcBef>
            </a:pPr>
            <a:r>
              <a:rPr b="1" spc="-5" dirty="0">
                <a:latin typeface="Garamond" panose="02020404030301010803" pitchFamily="18" charset="0"/>
                <a:cs typeface="Arial"/>
              </a:rPr>
              <a:t>add </a:t>
            </a:r>
            <a:r>
              <a:rPr spc="-5" dirty="0">
                <a:latin typeface="Garamond" panose="02020404030301010803" pitchFamily="18" charset="0"/>
                <a:cs typeface="Arial"/>
              </a:rPr>
              <a:t>gate: gradient distributor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109065" y="262177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2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57601" y="2203956"/>
            <a:ext cx="1543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970">
              <a:spcBef>
                <a:spcPts val="1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2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12700">
              <a:spcBef>
                <a:spcPts val="1445"/>
              </a:spcBef>
            </a:pPr>
            <a:r>
              <a:rPr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4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534087" y="4393827"/>
            <a:ext cx="361315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400" dirty="0">
                <a:latin typeface="Garamond" panose="02020404030301010803" pitchFamily="18" charset="0"/>
                <a:cs typeface="Arial"/>
              </a:rPr>
              <a:t>max</a:t>
            </a:r>
          </a:p>
        </p:txBody>
      </p:sp>
      <p:grpSp>
        <p:nvGrpSpPr>
          <p:cNvPr id="14" name="object 14"/>
          <p:cNvGrpSpPr/>
          <p:nvPr/>
        </p:nvGrpSpPr>
        <p:grpSpPr>
          <a:xfrm>
            <a:off x="5489814" y="2210862"/>
            <a:ext cx="1457960" cy="815340"/>
            <a:chOff x="5489814" y="1353612"/>
            <a:chExt cx="1457960" cy="815340"/>
          </a:xfrm>
        </p:grpSpPr>
        <p:sp>
          <p:nvSpPr>
            <p:cNvPr id="15" name="object 15"/>
            <p:cNvSpPr/>
            <p:nvPr/>
          </p:nvSpPr>
          <p:spPr>
            <a:xfrm>
              <a:off x="5489814" y="1553016"/>
              <a:ext cx="1448435" cy="606425"/>
            </a:xfrm>
            <a:custGeom>
              <a:avLst/>
              <a:gdLst/>
              <a:ahLst/>
              <a:cxnLst/>
              <a:rect l="l" t="t" r="r" b="b"/>
              <a:pathLst>
                <a:path w="1448434" h="606425">
                  <a:moveTo>
                    <a:pt x="996072" y="226049"/>
                  </a:moveTo>
                  <a:lnTo>
                    <a:pt x="1000665" y="180492"/>
                  </a:lnTo>
                  <a:lnTo>
                    <a:pt x="1013836" y="138060"/>
                  </a:lnTo>
                  <a:lnTo>
                    <a:pt x="1034677" y="99662"/>
                  </a:lnTo>
                  <a:lnTo>
                    <a:pt x="1062279" y="66207"/>
                  </a:lnTo>
                  <a:lnTo>
                    <a:pt x="1095733" y="38605"/>
                  </a:lnTo>
                  <a:lnTo>
                    <a:pt x="1134131" y="17763"/>
                  </a:lnTo>
                  <a:lnTo>
                    <a:pt x="1176563" y="4592"/>
                  </a:lnTo>
                  <a:lnTo>
                    <a:pt x="1222122" y="0"/>
                  </a:lnTo>
                  <a:lnTo>
                    <a:pt x="1266427" y="4383"/>
                  </a:lnTo>
                  <a:lnTo>
                    <a:pt x="1308625" y="17206"/>
                  </a:lnTo>
                  <a:lnTo>
                    <a:pt x="1347528" y="37978"/>
                  </a:lnTo>
                  <a:lnTo>
                    <a:pt x="1381947" y="66207"/>
                  </a:lnTo>
                  <a:lnTo>
                    <a:pt x="1410182" y="100637"/>
                  </a:lnTo>
                  <a:lnTo>
                    <a:pt x="1430959" y="139544"/>
                  </a:lnTo>
                  <a:lnTo>
                    <a:pt x="1443786" y="181743"/>
                  </a:lnTo>
                  <a:lnTo>
                    <a:pt x="1448172" y="226049"/>
                  </a:lnTo>
                  <a:lnTo>
                    <a:pt x="1443579" y="271606"/>
                  </a:lnTo>
                  <a:lnTo>
                    <a:pt x="1430408" y="314038"/>
                  </a:lnTo>
                  <a:lnTo>
                    <a:pt x="1409567" y="352436"/>
                  </a:lnTo>
                  <a:lnTo>
                    <a:pt x="1381965" y="385891"/>
                  </a:lnTo>
                  <a:lnTo>
                    <a:pt x="1348511" y="413493"/>
                  </a:lnTo>
                  <a:lnTo>
                    <a:pt x="1310113" y="434335"/>
                  </a:lnTo>
                  <a:lnTo>
                    <a:pt x="1267681" y="447506"/>
                  </a:lnTo>
                  <a:lnTo>
                    <a:pt x="1222122" y="452099"/>
                  </a:lnTo>
                  <a:lnTo>
                    <a:pt x="1176563" y="447506"/>
                  </a:lnTo>
                  <a:lnTo>
                    <a:pt x="1134131" y="434335"/>
                  </a:lnTo>
                  <a:lnTo>
                    <a:pt x="1095733" y="413493"/>
                  </a:lnTo>
                  <a:lnTo>
                    <a:pt x="1062279" y="385891"/>
                  </a:lnTo>
                  <a:lnTo>
                    <a:pt x="1034677" y="352436"/>
                  </a:lnTo>
                  <a:lnTo>
                    <a:pt x="1013836" y="314038"/>
                  </a:lnTo>
                  <a:lnTo>
                    <a:pt x="1000665" y="271606"/>
                  </a:lnTo>
                  <a:lnTo>
                    <a:pt x="996072" y="226049"/>
                  </a:lnTo>
                  <a:close/>
                </a:path>
                <a:path w="1448434" h="606425">
                  <a:moveTo>
                    <a:pt x="0" y="606078"/>
                  </a:moveTo>
                  <a:lnTo>
                    <a:pt x="652198" y="606078"/>
                  </a:lnTo>
                </a:path>
                <a:path w="1448434" h="606425">
                  <a:moveTo>
                    <a:pt x="652198" y="601021"/>
                  </a:moveTo>
                  <a:lnTo>
                    <a:pt x="927048" y="442206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391587" y="1942446"/>
              <a:ext cx="109649" cy="89547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489814" y="1363137"/>
              <a:ext cx="952500" cy="169545"/>
            </a:xfrm>
            <a:custGeom>
              <a:avLst/>
              <a:gdLst/>
              <a:ahLst/>
              <a:cxnLst/>
              <a:rect l="l" t="t" r="r" b="b"/>
              <a:pathLst>
                <a:path w="952500" h="169544">
                  <a:moveTo>
                    <a:pt x="0" y="3284"/>
                  </a:moveTo>
                  <a:lnTo>
                    <a:pt x="652198" y="3284"/>
                  </a:lnTo>
                </a:path>
                <a:path w="952500" h="169544">
                  <a:moveTo>
                    <a:pt x="659498" y="0"/>
                  </a:moveTo>
                  <a:lnTo>
                    <a:pt x="952298" y="169052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416862" y="1495414"/>
              <a:ext cx="109649" cy="89522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/>
          <p:nvPr/>
        </p:nvSpPr>
        <p:spPr>
          <a:xfrm>
            <a:off x="7485661" y="2536340"/>
            <a:ext cx="105499" cy="81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007564" y="1419065"/>
            <a:ext cx="2730500" cy="36157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01040" marR="5080" indent="-688975">
              <a:lnSpc>
                <a:spcPct val="137600"/>
              </a:lnSpc>
              <a:spcBef>
                <a:spcPts val="100"/>
              </a:spcBef>
            </a:pPr>
            <a:r>
              <a:rPr b="1" spc="-5" dirty="0">
                <a:latin typeface="Garamond" panose="02020404030301010803" pitchFamily="18" charset="0"/>
                <a:cs typeface="Arial"/>
              </a:rPr>
              <a:t>mul </a:t>
            </a:r>
            <a:r>
              <a:rPr spc="-5" dirty="0">
                <a:latin typeface="Garamond" panose="02020404030301010803" pitchFamily="18" charset="0"/>
                <a:cs typeface="Arial"/>
              </a:rPr>
              <a:t>gate: </a:t>
            </a:r>
            <a:r>
              <a:rPr dirty="0">
                <a:latin typeface="Garamond" panose="02020404030301010803" pitchFamily="18" charset="0"/>
                <a:cs typeface="Arial"/>
              </a:rPr>
              <a:t>“swap</a:t>
            </a:r>
            <a:r>
              <a:rPr spc="-95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multiplier” 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7147657" y="2621777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5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74963" y="2203956"/>
            <a:ext cx="7562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pc="-5"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5*3=15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38735" algn="ctr">
              <a:spcBef>
                <a:spcPts val="1445"/>
              </a:spcBef>
            </a:pPr>
            <a:r>
              <a:rPr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3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70164" y="2991376"/>
            <a:ext cx="2604135" cy="78970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8775">
              <a:spcBef>
                <a:spcPts val="100"/>
              </a:spcBef>
            </a:pPr>
            <a:r>
              <a:rPr lang="en-US" spc="-5"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5</a:t>
            </a:r>
            <a:r>
              <a:rPr spc="-5"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*</a:t>
            </a:r>
            <a:r>
              <a:rPr lang="en-US" spc="-5"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2</a:t>
            </a:r>
            <a:r>
              <a:rPr spc="-5"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=10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638175" marR="5080" indent="-626110">
              <a:lnSpc>
                <a:spcPct val="111900"/>
              </a:lnSpc>
              <a:spcBef>
                <a:spcPts val="1570"/>
              </a:spcBef>
            </a:pPr>
            <a:r>
              <a:rPr b="1" spc="-5" dirty="0">
                <a:latin typeface="Garamond" panose="02020404030301010803" pitchFamily="18" charset="0"/>
                <a:cs typeface="Arial"/>
              </a:rPr>
              <a:t>max </a:t>
            </a:r>
            <a:r>
              <a:rPr spc="-5" dirty="0">
                <a:latin typeface="Garamond" panose="02020404030301010803" pitchFamily="18" charset="0"/>
                <a:cs typeface="Arial"/>
              </a:rPr>
              <a:t>gate: gradient</a:t>
            </a:r>
            <a:r>
              <a:rPr spc="-90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router</a:t>
            </a:r>
          </a:p>
        </p:txBody>
      </p:sp>
      <p:sp>
        <p:nvSpPr>
          <p:cNvPr id="25" name="object 25"/>
          <p:cNvSpPr/>
          <p:nvPr/>
        </p:nvSpPr>
        <p:spPr>
          <a:xfrm>
            <a:off x="7485661" y="4421662"/>
            <a:ext cx="105499" cy="8199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489814" y="4115868"/>
            <a:ext cx="1457960" cy="815340"/>
            <a:chOff x="5489814" y="3258618"/>
            <a:chExt cx="1457960" cy="815340"/>
          </a:xfrm>
        </p:grpSpPr>
        <p:sp>
          <p:nvSpPr>
            <p:cNvPr id="27" name="object 27"/>
            <p:cNvSpPr/>
            <p:nvPr/>
          </p:nvSpPr>
          <p:spPr>
            <a:xfrm>
              <a:off x="5489814" y="3458018"/>
              <a:ext cx="1448435" cy="606425"/>
            </a:xfrm>
            <a:custGeom>
              <a:avLst/>
              <a:gdLst/>
              <a:ahLst/>
              <a:cxnLst/>
              <a:rect l="l" t="t" r="r" b="b"/>
              <a:pathLst>
                <a:path w="1448434" h="606425">
                  <a:moveTo>
                    <a:pt x="996072" y="226049"/>
                  </a:moveTo>
                  <a:lnTo>
                    <a:pt x="1000665" y="180490"/>
                  </a:lnTo>
                  <a:lnTo>
                    <a:pt x="1013836" y="138058"/>
                  </a:lnTo>
                  <a:lnTo>
                    <a:pt x="1034677" y="99660"/>
                  </a:lnTo>
                  <a:lnTo>
                    <a:pt x="1062279" y="66206"/>
                  </a:lnTo>
                  <a:lnTo>
                    <a:pt x="1095733" y="38604"/>
                  </a:lnTo>
                  <a:lnTo>
                    <a:pt x="1134131" y="17763"/>
                  </a:lnTo>
                  <a:lnTo>
                    <a:pt x="1176563" y="4592"/>
                  </a:lnTo>
                  <a:lnTo>
                    <a:pt x="1222122" y="0"/>
                  </a:lnTo>
                  <a:lnTo>
                    <a:pt x="1266427" y="4381"/>
                  </a:lnTo>
                  <a:lnTo>
                    <a:pt x="1308625" y="17199"/>
                  </a:lnTo>
                  <a:lnTo>
                    <a:pt x="1347528" y="37968"/>
                  </a:lnTo>
                  <a:lnTo>
                    <a:pt x="1381947" y="66199"/>
                  </a:lnTo>
                  <a:lnTo>
                    <a:pt x="1410182" y="100633"/>
                  </a:lnTo>
                  <a:lnTo>
                    <a:pt x="1430959" y="139543"/>
                  </a:lnTo>
                  <a:lnTo>
                    <a:pt x="1443786" y="181744"/>
                  </a:lnTo>
                  <a:lnTo>
                    <a:pt x="1448172" y="226049"/>
                  </a:lnTo>
                  <a:lnTo>
                    <a:pt x="1443579" y="271608"/>
                  </a:lnTo>
                  <a:lnTo>
                    <a:pt x="1430408" y="314040"/>
                  </a:lnTo>
                  <a:lnTo>
                    <a:pt x="1409567" y="352438"/>
                  </a:lnTo>
                  <a:lnTo>
                    <a:pt x="1381965" y="385892"/>
                  </a:lnTo>
                  <a:lnTo>
                    <a:pt x="1348511" y="413494"/>
                  </a:lnTo>
                  <a:lnTo>
                    <a:pt x="1310113" y="434335"/>
                  </a:lnTo>
                  <a:lnTo>
                    <a:pt x="1267681" y="447506"/>
                  </a:lnTo>
                  <a:lnTo>
                    <a:pt x="1222122" y="452099"/>
                  </a:lnTo>
                  <a:lnTo>
                    <a:pt x="1176563" y="447506"/>
                  </a:lnTo>
                  <a:lnTo>
                    <a:pt x="1134131" y="434335"/>
                  </a:lnTo>
                  <a:lnTo>
                    <a:pt x="1095733" y="413494"/>
                  </a:lnTo>
                  <a:lnTo>
                    <a:pt x="1062279" y="385892"/>
                  </a:lnTo>
                  <a:lnTo>
                    <a:pt x="1034677" y="352438"/>
                  </a:lnTo>
                  <a:lnTo>
                    <a:pt x="1013836" y="314040"/>
                  </a:lnTo>
                  <a:lnTo>
                    <a:pt x="1000665" y="271608"/>
                  </a:lnTo>
                  <a:lnTo>
                    <a:pt x="996072" y="226049"/>
                  </a:lnTo>
                  <a:close/>
                </a:path>
                <a:path w="1448434" h="606425">
                  <a:moveTo>
                    <a:pt x="0" y="606073"/>
                  </a:moveTo>
                  <a:lnTo>
                    <a:pt x="652198" y="606073"/>
                  </a:lnTo>
                </a:path>
                <a:path w="1448434" h="606425">
                  <a:moveTo>
                    <a:pt x="652198" y="601023"/>
                  </a:moveTo>
                  <a:lnTo>
                    <a:pt x="927048" y="4421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391587" y="3847442"/>
              <a:ext cx="109649" cy="8954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5489814" y="3268143"/>
              <a:ext cx="952500" cy="169545"/>
            </a:xfrm>
            <a:custGeom>
              <a:avLst/>
              <a:gdLst/>
              <a:ahLst/>
              <a:cxnLst/>
              <a:rect l="l" t="t" r="r" b="b"/>
              <a:pathLst>
                <a:path w="952500" h="169545">
                  <a:moveTo>
                    <a:pt x="0" y="3274"/>
                  </a:moveTo>
                  <a:lnTo>
                    <a:pt x="652198" y="3274"/>
                  </a:lnTo>
                </a:path>
                <a:path w="952500" h="169545">
                  <a:moveTo>
                    <a:pt x="659498" y="0"/>
                  </a:moveTo>
                  <a:lnTo>
                    <a:pt x="952298" y="16904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416862" y="3400418"/>
              <a:ext cx="109649" cy="89524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32" name="object 32"/>
          <p:cNvSpPr txBox="1"/>
          <p:nvPr/>
        </p:nvSpPr>
        <p:spPr>
          <a:xfrm>
            <a:off x="5688611" y="4120076"/>
            <a:ext cx="160655" cy="746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0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19685">
              <a:spcBef>
                <a:spcPts val="1355"/>
              </a:spcBef>
            </a:pPr>
            <a:r>
              <a:rPr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5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5699308" y="4896372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9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999271" y="4124719"/>
            <a:ext cx="1604521" cy="807972"/>
            <a:chOff x="1999270" y="3267468"/>
            <a:chExt cx="1604521" cy="807972"/>
          </a:xfrm>
        </p:grpSpPr>
        <p:sp>
          <p:nvSpPr>
            <p:cNvPr id="35" name="object 35"/>
            <p:cNvSpPr/>
            <p:nvPr/>
          </p:nvSpPr>
          <p:spPr>
            <a:xfrm>
              <a:off x="2142490" y="3458018"/>
              <a:ext cx="452120" cy="452120"/>
            </a:xfrm>
            <a:custGeom>
              <a:avLst/>
              <a:gdLst/>
              <a:ahLst/>
              <a:cxnLst/>
              <a:rect l="l" t="t" r="r" b="b"/>
              <a:pathLst>
                <a:path w="452119" h="452120">
                  <a:moveTo>
                    <a:pt x="0" y="226049"/>
                  </a:moveTo>
                  <a:lnTo>
                    <a:pt x="4592" y="180490"/>
                  </a:lnTo>
                  <a:lnTo>
                    <a:pt x="17763" y="138058"/>
                  </a:lnTo>
                  <a:lnTo>
                    <a:pt x="38605" y="99660"/>
                  </a:lnTo>
                  <a:lnTo>
                    <a:pt x="66207" y="66206"/>
                  </a:lnTo>
                  <a:lnTo>
                    <a:pt x="99662" y="38604"/>
                  </a:lnTo>
                  <a:lnTo>
                    <a:pt x="138060" y="17763"/>
                  </a:lnTo>
                  <a:lnTo>
                    <a:pt x="180492" y="4592"/>
                  </a:lnTo>
                  <a:lnTo>
                    <a:pt x="226049" y="0"/>
                  </a:lnTo>
                  <a:lnTo>
                    <a:pt x="270355" y="4381"/>
                  </a:lnTo>
                  <a:lnTo>
                    <a:pt x="312553" y="17199"/>
                  </a:lnTo>
                  <a:lnTo>
                    <a:pt x="351456" y="37968"/>
                  </a:lnTo>
                  <a:lnTo>
                    <a:pt x="385879" y="66199"/>
                  </a:lnTo>
                  <a:lnTo>
                    <a:pt x="414114" y="100633"/>
                  </a:lnTo>
                  <a:lnTo>
                    <a:pt x="434891" y="139543"/>
                  </a:lnTo>
                  <a:lnTo>
                    <a:pt x="447718" y="181744"/>
                  </a:lnTo>
                  <a:lnTo>
                    <a:pt x="452104" y="226049"/>
                  </a:lnTo>
                  <a:lnTo>
                    <a:pt x="447511" y="271608"/>
                  </a:lnTo>
                  <a:lnTo>
                    <a:pt x="434339" y="314040"/>
                  </a:lnTo>
                  <a:lnTo>
                    <a:pt x="413497" y="352438"/>
                  </a:lnTo>
                  <a:lnTo>
                    <a:pt x="385893" y="385892"/>
                  </a:lnTo>
                  <a:lnTo>
                    <a:pt x="352438" y="413494"/>
                  </a:lnTo>
                  <a:lnTo>
                    <a:pt x="314039" y="434335"/>
                  </a:lnTo>
                  <a:lnTo>
                    <a:pt x="271606" y="447506"/>
                  </a:lnTo>
                  <a:lnTo>
                    <a:pt x="226049" y="452099"/>
                  </a:lnTo>
                  <a:lnTo>
                    <a:pt x="180492" y="447506"/>
                  </a:lnTo>
                  <a:lnTo>
                    <a:pt x="138060" y="434335"/>
                  </a:lnTo>
                  <a:lnTo>
                    <a:pt x="99662" y="413494"/>
                  </a:lnTo>
                  <a:lnTo>
                    <a:pt x="66207" y="385892"/>
                  </a:lnTo>
                  <a:lnTo>
                    <a:pt x="38605" y="352438"/>
                  </a:lnTo>
                  <a:lnTo>
                    <a:pt x="17763" y="314040"/>
                  </a:lnTo>
                  <a:lnTo>
                    <a:pt x="4592" y="271608"/>
                  </a:lnTo>
                  <a:lnTo>
                    <a:pt x="0" y="226049"/>
                  </a:lnTo>
                  <a:close/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1999270" y="3574243"/>
              <a:ext cx="105499" cy="81999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2945569" y="3308468"/>
              <a:ext cx="538480" cy="0"/>
            </a:xfrm>
            <a:custGeom>
              <a:avLst/>
              <a:gdLst/>
              <a:ahLst/>
              <a:cxnLst/>
              <a:rect l="l" t="t" r="r" b="b"/>
              <a:pathLst>
                <a:path w="538479">
                  <a:moveTo>
                    <a:pt x="0" y="0"/>
                  </a:moveTo>
                  <a:lnTo>
                    <a:pt x="537898" y="0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3473942" y="3267468"/>
              <a:ext cx="105499" cy="81999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2560619" y="3309643"/>
              <a:ext cx="947419" cy="725170"/>
            </a:xfrm>
            <a:custGeom>
              <a:avLst/>
              <a:gdLst/>
              <a:ahLst/>
              <a:cxnLst/>
              <a:rect l="l" t="t" r="r" b="b"/>
              <a:pathLst>
                <a:path w="947420" h="725170">
                  <a:moveTo>
                    <a:pt x="0" y="215999"/>
                  </a:moveTo>
                  <a:lnTo>
                    <a:pt x="373799" y="0"/>
                  </a:lnTo>
                </a:path>
                <a:path w="947420" h="725170">
                  <a:moveTo>
                    <a:pt x="409299" y="724798"/>
                  </a:moveTo>
                  <a:lnTo>
                    <a:pt x="947198" y="724798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3498292" y="3993466"/>
              <a:ext cx="105499" cy="81974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2567919" y="3801542"/>
              <a:ext cx="391795" cy="226695"/>
            </a:xfrm>
            <a:custGeom>
              <a:avLst/>
              <a:gdLst/>
              <a:ahLst/>
              <a:cxnLst/>
              <a:rect l="l" t="t" r="r" b="b"/>
              <a:pathLst>
                <a:path w="391794" h="226695">
                  <a:moveTo>
                    <a:pt x="0" y="0"/>
                  </a:moveTo>
                  <a:lnTo>
                    <a:pt x="391799" y="226199"/>
                  </a:lnTo>
                </a:path>
              </a:pathLst>
            </a:custGeom>
            <a:ln w="190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46" name="object 46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19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43" name="object 43"/>
          <p:cNvSpPr txBox="1"/>
          <p:nvPr/>
        </p:nvSpPr>
        <p:spPr>
          <a:xfrm>
            <a:off x="3144374" y="4051545"/>
            <a:ext cx="184785" cy="785495"/>
          </a:xfrm>
          <a:prstGeom prst="rect">
            <a:avLst/>
          </a:prstGeom>
        </p:spPr>
        <p:txBody>
          <a:bodyPr vert="horz" wrap="square" lIns="0" tIns="118110" rIns="0" bIns="0" rtlCol="0">
            <a:spAutoFit/>
          </a:bodyPr>
          <a:lstStyle/>
          <a:p>
            <a:pPr marL="12700">
              <a:spcBef>
                <a:spcPts val="93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4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44450">
              <a:spcBef>
                <a:spcPts val="830"/>
              </a:spcBef>
            </a:pPr>
            <a:r>
              <a:rPr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7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179407" y="4866730"/>
            <a:ext cx="153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2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8" name="Title 47">
            <a:extLst>
              <a:ext uri="{FF2B5EF4-FFF2-40B4-BE49-F238E27FC236}">
                <a16:creationId xmlns:a16="http://schemas.microsoft.com/office/drawing/2014/main" id="{358F1AC2-B490-4805-9864-84D96BC7B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spc="-10" dirty="0"/>
              <a:t>Patterns </a:t>
            </a:r>
            <a:r>
              <a:rPr lang="en-US" sz="4400" spc="-5" dirty="0"/>
              <a:t>in gradient</a:t>
            </a:r>
            <a:r>
              <a:rPr lang="en-US" sz="4400" spc="-80" dirty="0"/>
              <a:t> </a:t>
            </a:r>
            <a:r>
              <a:rPr lang="en-US" sz="4400" spc="-5" dirty="0"/>
              <a:t>flow</a:t>
            </a:r>
            <a:endParaRPr lang="en-US" sz="4400" dirty="0"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F0F523ED-EFE2-41EB-8098-D529F669F29E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  <p:sp>
        <p:nvSpPr>
          <p:cNvPr id="51" name="object 42">
            <a:extLst>
              <a:ext uri="{FF2B5EF4-FFF2-40B4-BE49-F238E27FC236}">
                <a16:creationId xmlns:a16="http://schemas.microsoft.com/office/drawing/2014/main" id="{FB6A7ABF-3355-48AD-8EF6-72DF4A5FA190}"/>
              </a:ext>
            </a:extLst>
          </p:cNvPr>
          <p:cNvSpPr txBox="1"/>
          <p:nvPr/>
        </p:nvSpPr>
        <p:spPr>
          <a:xfrm>
            <a:off x="1107772" y="2991367"/>
            <a:ext cx="2667635" cy="1845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3880">
              <a:spcBef>
                <a:spcPts val="1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2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45"/>
              </a:spcBef>
            </a:pPr>
            <a:endParaRPr sz="1550" dirty="0">
              <a:latin typeface="Garamond" panose="02020404030301010803" pitchFamily="18" charset="0"/>
              <a:cs typeface="Arial"/>
            </a:endParaRPr>
          </a:p>
          <a:p>
            <a:pPr marL="12700"/>
            <a:r>
              <a:rPr b="1" spc="-5" dirty="0">
                <a:latin typeface="Garamond" panose="02020404030301010803" pitchFamily="18" charset="0"/>
                <a:cs typeface="Arial"/>
              </a:rPr>
              <a:t>copy </a:t>
            </a:r>
            <a:r>
              <a:rPr spc="-5" dirty="0">
                <a:latin typeface="Garamond" panose="02020404030301010803" pitchFamily="18" charset="0"/>
                <a:cs typeface="Arial"/>
              </a:rPr>
              <a:t>gate: gradient</a:t>
            </a:r>
            <a:r>
              <a:rPr spc="-80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adder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2056764">
              <a:spcBef>
                <a:spcPts val="545"/>
              </a:spcBef>
            </a:pPr>
            <a:r>
              <a:rPr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7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362585">
              <a:spcBef>
                <a:spcPts val="880"/>
              </a:spcBef>
              <a:tabLst>
                <a:tab pos="556260" algn="l"/>
                <a:tab pos="900430" algn="l"/>
              </a:tabLst>
            </a:pPr>
            <a:r>
              <a:rPr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cs typeface="Arial"/>
              </a:rPr>
              <a:t>7	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marL="250190">
              <a:spcBef>
                <a:spcPts val="275"/>
              </a:spcBef>
            </a:pPr>
            <a:r>
              <a:rPr spc="-5"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4+2=6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2" name="object 10">
            <a:extLst>
              <a:ext uri="{FF2B5EF4-FFF2-40B4-BE49-F238E27FC236}">
                <a16:creationId xmlns:a16="http://schemas.microsoft.com/office/drawing/2014/main" id="{F34B8819-8A72-4FB0-8B96-FE7E44AE6717}"/>
              </a:ext>
            </a:extLst>
          </p:cNvPr>
          <p:cNvSpPr txBox="1"/>
          <p:nvPr/>
        </p:nvSpPr>
        <p:spPr>
          <a:xfrm>
            <a:off x="2514214" y="2169855"/>
            <a:ext cx="9810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597535" algn="l"/>
                <a:tab pos="941705" algn="l"/>
              </a:tabLst>
            </a:pPr>
            <a:r>
              <a:rPr sz="4500" baseline="-29629" dirty="0">
                <a:latin typeface="Garamond" panose="02020404030301010803" pitchFamily="18" charset="0"/>
                <a:cs typeface="Arial"/>
              </a:rPr>
              <a:t>+</a:t>
            </a:r>
            <a:r>
              <a:rPr sz="3000"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cs typeface="Arial"/>
              </a:rPr>
              <a:t> 	</a:t>
            </a:r>
            <a:r>
              <a:rPr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cs typeface="Arial"/>
              </a:rPr>
              <a:t>7	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3" name="object 21">
            <a:extLst>
              <a:ext uri="{FF2B5EF4-FFF2-40B4-BE49-F238E27FC236}">
                <a16:creationId xmlns:a16="http://schemas.microsoft.com/office/drawing/2014/main" id="{EB7B9C69-C946-4308-8D93-879FFB0A35FA}"/>
              </a:ext>
            </a:extLst>
          </p:cNvPr>
          <p:cNvSpPr txBox="1"/>
          <p:nvPr/>
        </p:nvSpPr>
        <p:spPr>
          <a:xfrm>
            <a:off x="6552806" y="2169855"/>
            <a:ext cx="98107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  <a:tabLst>
                <a:tab pos="597535" algn="l"/>
                <a:tab pos="941705" algn="l"/>
              </a:tabLst>
            </a:pPr>
            <a:r>
              <a:rPr sz="4500" baseline="-29629" dirty="0">
                <a:latin typeface="Garamond" panose="02020404030301010803" pitchFamily="18" charset="0"/>
                <a:cs typeface="Arial"/>
              </a:rPr>
              <a:t>×</a:t>
            </a:r>
            <a:r>
              <a:rPr sz="3000"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cs typeface="Arial"/>
              </a:rPr>
              <a:t> 	</a:t>
            </a:r>
            <a:r>
              <a:rPr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cs typeface="Arial"/>
              </a:rPr>
              <a:t>6	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5" name="object 31">
            <a:extLst>
              <a:ext uri="{FF2B5EF4-FFF2-40B4-BE49-F238E27FC236}">
                <a16:creationId xmlns:a16="http://schemas.microsoft.com/office/drawing/2014/main" id="{A18D26CB-211A-40C1-9CDC-3B1F19649093}"/>
              </a:ext>
            </a:extLst>
          </p:cNvPr>
          <p:cNvSpPr txBox="1"/>
          <p:nvPr/>
        </p:nvSpPr>
        <p:spPr>
          <a:xfrm>
            <a:off x="6944586" y="4202048"/>
            <a:ext cx="563880" cy="624840"/>
          </a:xfrm>
          <a:prstGeom prst="rect">
            <a:avLst/>
          </a:prstGeom>
        </p:spPr>
        <p:txBody>
          <a:bodyPr vert="horz" wrap="square" lIns="0" tIns="37465" rIns="0" bIns="0" rtlCol="0">
            <a:spAutoFit/>
          </a:bodyPr>
          <a:lstStyle/>
          <a:p>
            <a:pPr algn="ctr">
              <a:spcBef>
                <a:spcPts val="295"/>
              </a:spcBef>
              <a:tabLst>
                <a:tab pos="193040" algn="l"/>
                <a:tab pos="537210" algn="l"/>
              </a:tabLst>
            </a:pPr>
            <a:r>
              <a:rPr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u="heavy" dirty="0">
                <a:solidFill>
                  <a:srgbClr val="69A84F"/>
                </a:solidFill>
                <a:uFill>
                  <a:solidFill>
                    <a:srgbClr val="000000"/>
                  </a:solidFill>
                </a:uFill>
                <a:latin typeface="Garamond" panose="02020404030301010803" pitchFamily="18" charset="0"/>
                <a:cs typeface="Arial"/>
              </a:rPr>
              <a:t>5	</a:t>
            </a:r>
            <a:endParaRPr dirty="0">
              <a:latin typeface="Garamond" panose="02020404030301010803" pitchFamily="18" charset="0"/>
              <a:cs typeface="Arial"/>
            </a:endParaRPr>
          </a:p>
          <a:p>
            <a:pPr algn="ctr">
              <a:spcBef>
                <a:spcPts val="200"/>
              </a:spcBef>
            </a:pPr>
            <a:r>
              <a:rPr dirty="0">
                <a:solidFill>
                  <a:srgbClr val="CC4124"/>
                </a:solidFill>
                <a:latin typeface="Garamond" panose="02020404030301010803" pitchFamily="18" charset="0"/>
                <a:cs typeface="Arial"/>
              </a:rPr>
              <a:t>9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0" name="object 12">
            <a:extLst>
              <a:ext uri="{FF2B5EF4-FFF2-40B4-BE49-F238E27FC236}">
                <a16:creationId xmlns:a16="http://schemas.microsoft.com/office/drawing/2014/main" id="{62CC73EE-9CB8-4F95-B62E-F3BFB478CAD2}"/>
              </a:ext>
            </a:extLst>
          </p:cNvPr>
          <p:cNvSpPr txBox="1"/>
          <p:nvPr/>
        </p:nvSpPr>
        <p:spPr>
          <a:xfrm>
            <a:off x="1657601" y="1848290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445"/>
              </a:spcBef>
            </a:pPr>
            <a:r>
              <a:rPr lang="en-US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3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4" name="object 12">
            <a:extLst>
              <a:ext uri="{FF2B5EF4-FFF2-40B4-BE49-F238E27FC236}">
                <a16:creationId xmlns:a16="http://schemas.microsoft.com/office/drawing/2014/main" id="{AD950E59-6192-4D0B-A453-042C27DE8AAF}"/>
              </a:ext>
            </a:extLst>
          </p:cNvPr>
          <p:cNvSpPr txBox="1"/>
          <p:nvPr/>
        </p:nvSpPr>
        <p:spPr>
          <a:xfrm>
            <a:off x="5714927" y="1844222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445"/>
              </a:spcBef>
            </a:pPr>
            <a:r>
              <a:rPr lang="en-US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2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6" name="object 12">
            <a:extLst>
              <a:ext uri="{FF2B5EF4-FFF2-40B4-BE49-F238E27FC236}">
                <a16:creationId xmlns:a16="http://schemas.microsoft.com/office/drawing/2014/main" id="{2AE8675C-A694-41A9-ACF4-142433DBE929}"/>
              </a:ext>
            </a:extLst>
          </p:cNvPr>
          <p:cNvSpPr txBox="1"/>
          <p:nvPr/>
        </p:nvSpPr>
        <p:spPr>
          <a:xfrm>
            <a:off x="5689527" y="3753934"/>
            <a:ext cx="154305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445"/>
              </a:spcBef>
            </a:pPr>
            <a:r>
              <a:rPr lang="en-US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4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624" y="931325"/>
            <a:ext cx="2953385" cy="4223385"/>
            <a:chOff x="5955623" y="74074"/>
            <a:chExt cx="2953385" cy="4223385"/>
          </a:xfrm>
        </p:grpSpPr>
        <p:sp>
          <p:nvSpPr>
            <p:cNvPr id="3" name="object 3"/>
            <p:cNvSpPr/>
            <p:nvPr/>
          </p:nvSpPr>
          <p:spPr>
            <a:xfrm>
              <a:off x="5955623" y="74074"/>
              <a:ext cx="2859869" cy="4195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042562" y="334899"/>
              <a:ext cx="1767839" cy="1285240"/>
            </a:xfrm>
            <a:custGeom>
              <a:avLst/>
              <a:gdLst/>
              <a:ahLst/>
              <a:cxnLst/>
              <a:rect l="l" t="t" r="r" b="b"/>
              <a:pathLst>
                <a:path w="1767840" h="1285240">
                  <a:moveTo>
                    <a:pt x="0" y="0"/>
                  </a:moveTo>
                  <a:lnTo>
                    <a:pt x="1767596" y="0"/>
                  </a:lnTo>
                  <a:lnTo>
                    <a:pt x="1767596" y="1284897"/>
                  </a:lnTo>
                  <a:lnTo>
                    <a:pt x="0" y="12848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42562" y="1754421"/>
              <a:ext cx="2857500" cy="2533015"/>
            </a:xfrm>
            <a:custGeom>
              <a:avLst/>
              <a:gdLst/>
              <a:ahLst/>
              <a:cxnLst/>
              <a:rect l="l" t="t" r="r" b="b"/>
              <a:pathLst>
                <a:path w="2857500" h="2533015">
                  <a:moveTo>
                    <a:pt x="0" y="0"/>
                  </a:moveTo>
                  <a:lnTo>
                    <a:pt x="2856894" y="0"/>
                  </a:lnTo>
                  <a:lnTo>
                    <a:pt x="2856894" y="2532894"/>
                  </a:lnTo>
                  <a:lnTo>
                    <a:pt x="0" y="2532894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7225" y="992157"/>
            <a:ext cx="3554095" cy="76174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Backprop</a:t>
            </a:r>
            <a:r>
              <a:rPr sz="2400" spc="-10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Implementation:  </a:t>
            </a:r>
            <a:r>
              <a:rPr sz="2400" dirty="0">
                <a:latin typeface="Garamond" panose="02020404030301010803" pitchFamily="18" charset="0"/>
                <a:cs typeface="Arial"/>
              </a:rPr>
              <a:t>“Flat”</a:t>
            </a:r>
            <a:r>
              <a:rPr sz="24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code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26976" y="2144944"/>
            <a:ext cx="3748404" cy="2285365"/>
            <a:chOff x="326976" y="1287693"/>
            <a:chExt cx="3748404" cy="2285365"/>
          </a:xfrm>
        </p:grpSpPr>
        <p:sp>
          <p:nvSpPr>
            <p:cNvPr id="8" name="object 8"/>
            <p:cNvSpPr/>
            <p:nvPr/>
          </p:nvSpPr>
          <p:spPr>
            <a:xfrm>
              <a:off x="326976" y="1287693"/>
              <a:ext cx="3059417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43067" y="2676967"/>
              <a:ext cx="332084" cy="2848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6393" y="2623144"/>
              <a:ext cx="356235" cy="327025"/>
            </a:xfrm>
            <a:custGeom>
              <a:avLst/>
              <a:gdLst/>
              <a:ahLst/>
              <a:cxnLst/>
              <a:rect l="l" t="t" r="r" b="b"/>
              <a:pathLst>
                <a:path w="356235" h="327025">
                  <a:moveTo>
                    <a:pt x="0" y="163499"/>
                  </a:moveTo>
                  <a:lnTo>
                    <a:pt x="5840" y="120034"/>
                  </a:lnTo>
                  <a:lnTo>
                    <a:pt x="22322" y="80977"/>
                  </a:lnTo>
                  <a:lnTo>
                    <a:pt x="47887" y="47887"/>
                  </a:lnTo>
                  <a:lnTo>
                    <a:pt x="80977" y="22322"/>
                  </a:lnTo>
                  <a:lnTo>
                    <a:pt x="120034" y="5840"/>
                  </a:lnTo>
                  <a:lnTo>
                    <a:pt x="163499" y="0"/>
                  </a:lnTo>
                  <a:lnTo>
                    <a:pt x="192599" y="0"/>
                  </a:lnTo>
                  <a:lnTo>
                    <a:pt x="255171" y="12446"/>
                  </a:lnTo>
                  <a:lnTo>
                    <a:pt x="308199" y="47899"/>
                  </a:lnTo>
                  <a:lnTo>
                    <a:pt x="343652" y="100927"/>
                  </a:lnTo>
                  <a:lnTo>
                    <a:pt x="356099" y="163499"/>
                  </a:lnTo>
                  <a:lnTo>
                    <a:pt x="350259" y="206964"/>
                  </a:lnTo>
                  <a:lnTo>
                    <a:pt x="333777" y="246021"/>
                  </a:lnTo>
                  <a:lnTo>
                    <a:pt x="308211" y="279111"/>
                  </a:lnTo>
                  <a:lnTo>
                    <a:pt x="275121" y="304677"/>
                  </a:lnTo>
                  <a:lnTo>
                    <a:pt x="236064" y="321159"/>
                  </a:lnTo>
                  <a:lnTo>
                    <a:pt x="192599" y="326999"/>
                  </a:lnTo>
                  <a:lnTo>
                    <a:pt x="163499" y="326999"/>
                  </a:lnTo>
                  <a:lnTo>
                    <a:pt x="120034" y="321159"/>
                  </a:lnTo>
                  <a:lnTo>
                    <a:pt x="80977" y="304677"/>
                  </a:lnTo>
                  <a:lnTo>
                    <a:pt x="47887" y="279111"/>
                  </a:lnTo>
                  <a:lnTo>
                    <a:pt x="22322" y="246021"/>
                  </a:lnTo>
                  <a:lnTo>
                    <a:pt x="5840" y="206964"/>
                  </a:lnTo>
                  <a:lnTo>
                    <a:pt x="0" y="163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88517" y="2690319"/>
              <a:ext cx="151874" cy="192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4319013" y="1526395"/>
            <a:ext cx="147066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Forward pass:  Compute</a:t>
            </a:r>
            <a:r>
              <a:rPr sz="16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output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20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363466" y="3486843"/>
            <a:ext cx="145669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Backward</a:t>
            </a:r>
            <a:r>
              <a:rPr sz="1600" spc="-9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pass:  Compute</a:t>
            </a:r>
            <a:r>
              <a:rPr sz="1600" spc="-5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grads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EDBFAA-3F1D-47E2-AE9D-ADAD22017786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624" y="931325"/>
            <a:ext cx="2953385" cy="4195445"/>
            <a:chOff x="5955623" y="74074"/>
            <a:chExt cx="2953385" cy="4195445"/>
          </a:xfrm>
        </p:grpSpPr>
        <p:sp>
          <p:nvSpPr>
            <p:cNvPr id="3" name="object 3"/>
            <p:cNvSpPr/>
            <p:nvPr/>
          </p:nvSpPr>
          <p:spPr>
            <a:xfrm>
              <a:off x="5955623" y="74074"/>
              <a:ext cx="2859869" cy="4195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042562" y="334899"/>
              <a:ext cx="1767839" cy="1285240"/>
            </a:xfrm>
            <a:custGeom>
              <a:avLst/>
              <a:gdLst/>
              <a:ahLst/>
              <a:cxnLst/>
              <a:rect l="l" t="t" r="r" b="b"/>
              <a:pathLst>
                <a:path w="1767840" h="1285240">
                  <a:moveTo>
                    <a:pt x="0" y="0"/>
                  </a:moveTo>
                  <a:lnTo>
                    <a:pt x="1767596" y="0"/>
                  </a:lnTo>
                  <a:lnTo>
                    <a:pt x="1767596" y="1284897"/>
                  </a:lnTo>
                  <a:lnTo>
                    <a:pt x="0" y="12848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42562" y="1754421"/>
              <a:ext cx="2857500" cy="298450"/>
            </a:xfrm>
            <a:custGeom>
              <a:avLst/>
              <a:gdLst/>
              <a:ahLst/>
              <a:cxnLst/>
              <a:rect l="l" t="t" r="r" b="b"/>
              <a:pathLst>
                <a:path w="2857500" h="298450">
                  <a:moveTo>
                    <a:pt x="0" y="0"/>
                  </a:moveTo>
                  <a:lnTo>
                    <a:pt x="2856894" y="0"/>
                  </a:lnTo>
                  <a:lnTo>
                    <a:pt x="2856894" y="298199"/>
                  </a:lnTo>
                  <a:lnTo>
                    <a:pt x="0" y="2981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7225" y="992157"/>
            <a:ext cx="3554095" cy="76174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Backprop</a:t>
            </a:r>
            <a:r>
              <a:rPr sz="2400" spc="-10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Implementation:  </a:t>
            </a:r>
            <a:r>
              <a:rPr sz="2400" dirty="0">
                <a:latin typeface="Garamond" panose="02020404030301010803" pitchFamily="18" charset="0"/>
                <a:cs typeface="Arial"/>
              </a:rPr>
              <a:t>“Flat”</a:t>
            </a:r>
            <a:r>
              <a:rPr sz="24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code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26976" y="2144944"/>
            <a:ext cx="3782060" cy="2285365"/>
            <a:chOff x="326976" y="1287693"/>
            <a:chExt cx="3782060" cy="2285365"/>
          </a:xfrm>
        </p:grpSpPr>
        <p:sp>
          <p:nvSpPr>
            <p:cNvPr id="8" name="object 8"/>
            <p:cNvSpPr/>
            <p:nvPr/>
          </p:nvSpPr>
          <p:spPr>
            <a:xfrm>
              <a:off x="326976" y="1287693"/>
              <a:ext cx="3059417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43067" y="2676967"/>
              <a:ext cx="332084" cy="2848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6393" y="2623144"/>
              <a:ext cx="356235" cy="327025"/>
            </a:xfrm>
            <a:custGeom>
              <a:avLst/>
              <a:gdLst/>
              <a:ahLst/>
              <a:cxnLst/>
              <a:rect l="l" t="t" r="r" b="b"/>
              <a:pathLst>
                <a:path w="356235" h="327025">
                  <a:moveTo>
                    <a:pt x="0" y="163499"/>
                  </a:moveTo>
                  <a:lnTo>
                    <a:pt x="5840" y="120034"/>
                  </a:lnTo>
                  <a:lnTo>
                    <a:pt x="22322" y="80977"/>
                  </a:lnTo>
                  <a:lnTo>
                    <a:pt x="47887" y="47887"/>
                  </a:lnTo>
                  <a:lnTo>
                    <a:pt x="80977" y="22322"/>
                  </a:lnTo>
                  <a:lnTo>
                    <a:pt x="120034" y="5840"/>
                  </a:lnTo>
                  <a:lnTo>
                    <a:pt x="163499" y="0"/>
                  </a:lnTo>
                  <a:lnTo>
                    <a:pt x="192599" y="0"/>
                  </a:lnTo>
                  <a:lnTo>
                    <a:pt x="255171" y="12446"/>
                  </a:lnTo>
                  <a:lnTo>
                    <a:pt x="308199" y="47899"/>
                  </a:lnTo>
                  <a:lnTo>
                    <a:pt x="343652" y="100927"/>
                  </a:lnTo>
                  <a:lnTo>
                    <a:pt x="356099" y="163499"/>
                  </a:lnTo>
                  <a:lnTo>
                    <a:pt x="350259" y="206964"/>
                  </a:lnTo>
                  <a:lnTo>
                    <a:pt x="333777" y="246021"/>
                  </a:lnTo>
                  <a:lnTo>
                    <a:pt x="308211" y="279111"/>
                  </a:lnTo>
                  <a:lnTo>
                    <a:pt x="275121" y="304677"/>
                  </a:lnTo>
                  <a:lnTo>
                    <a:pt x="236064" y="321159"/>
                  </a:lnTo>
                  <a:lnTo>
                    <a:pt x="192599" y="326999"/>
                  </a:lnTo>
                  <a:lnTo>
                    <a:pt x="163499" y="326999"/>
                  </a:lnTo>
                  <a:lnTo>
                    <a:pt x="120034" y="321159"/>
                  </a:lnTo>
                  <a:lnTo>
                    <a:pt x="80977" y="304677"/>
                  </a:lnTo>
                  <a:lnTo>
                    <a:pt x="47887" y="279111"/>
                  </a:lnTo>
                  <a:lnTo>
                    <a:pt x="22322" y="246021"/>
                  </a:lnTo>
                  <a:lnTo>
                    <a:pt x="5840" y="206964"/>
                  </a:lnTo>
                  <a:lnTo>
                    <a:pt x="0" y="163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88517" y="2690319"/>
              <a:ext cx="151874" cy="192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771067" y="2514444"/>
              <a:ext cx="328295" cy="546100"/>
            </a:xfrm>
            <a:custGeom>
              <a:avLst/>
              <a:gdLst/>
              <a:ahLst/>
              <a:cxnLst/>
              <a:rect l="l" t="t" r="r" b="b"/>
              <a:pathLst>
                <a:path w="328295" h="546100">
                  <a:moveTo>
                    <a:pt x="0" y="0"/>
                  </a:moveTo>
                  <a:lnTo>
                    <a:pt x="328199" y="0"/>
                  </a:lnTo>
                  <a:lnTo>
                    <a:pt x="328199" y="545998"/>
                  </a:lnTo>
                  <a:lnTo>
                    <a:pt x="0" y="5459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9013" y="1526395"/>
            <a:ext cx="147066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Forward pass:  Compute</a:t>
            </a:r>
            <a:r>
              <a:rPr sz="16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output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21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37687" y="2609221"/>
            <a:ext cx="972819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Base</a:t>
            </a:r>
            <a:r>
              <a:rPr sz="1600" spc="-8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case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3C34CFB-CD93-451E-A939-A3975E2C21FB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624" y="931325"/>
            <a:ext cx="2953385" cy="4195445"/>
            <a:chOff x="5955623" y="74074"/>
            <a:chExt cx="2953385" cy="4195445"/>
          </a:xfrm>
        </p:grpSpPr>
        <p:sp>
          <p:nvSpPr>
            <p:cNvPr id="3" name="object 3"/>
            <p:cNvSpPr/>
            <p:nvPr/>
          </p:nvSpPr>
          <p:spPr>
            <a:xfrm>
              <a:off x="5955623" y="74074"/>
              <a:ext cx="2859869" cy="4195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042562" y="334899"/>
              <a:ext cx="1767839" cy="1285240"/>
            </a:xfrm>
            <a:custGeom>
              <a:avLst/>
              <a:gdLst/>
              <a:ahLst/>
              <a:cxnLst/>
              <a:rect l="l" t="t" r="r" b="b"/>
              <a:pathLst>
                <a:path w="1767840" h="1285240">
                  <a:moveTo>
                    <a:pt x="0" y="0"/>
                  </a:moveTo>
                  <a:lnTo>
                    <a:pt x="1767596" y="0"/>
                  </a:lnTo>
                  <a:lnTo>
                    <a:pt x="1767596" y="1284897"/>
                  </a:lnTo>
                  <a:lnTo>
                    <a:pt x="0" y="12848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42562" y="1280747"/>
              <a:ext cx="2857500" cy="1045210"/>
            </a:xfrm>
            <a:custGeom>
              <a:avLst/>
              <a:gdLst/>
              <a:ahLst/>
              <a:cxnLst/>
              <a:rect l="l" t="t" r="r" b="b"/>
              <a:pathLst>
                <a:path w="2857500" h="1045210">
                  <a:moveTo>
                    <a:pt x="0" y="746733"/>
                  </a:moveTo>
                  <a:lnTo>
                    <a:pt x="2856894" y="746733"/>
                  </a:lnTo>
                  <a:lnTo>
                    <a:pt x="2856894" y="1044932"/>
                  </a:lnTo>
                  <a:lnTo>
                    <a:pt x="0" y="1044932"/>
                  </a:lnTo>
                  <a:lnTo>
                    <a:pt x="0" y="746733"/>
                  </a:lnTo>
                  <a:close/>
                </a:path>
                <a:path w="2857500" h="1045210">
                  <a:moveTo>
                    <a:pt x="32399" y="0"/>
                  </a:moveTo>
                  <a:lnTo>
                    <a:pt x="1448997" y="0"/>
                  </a:lnTo>
                  <a:lnTo>
                    <a:pt x="1448997" y="298199"/>
                  </a:lnTo>
                  <a:lnTo>
                    <a:pt x="32399" y="298199"/>
                  </a:lnTo>
                  <a:lnTo>
                    <a:pt x="323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7225" y="992157"/>
            <a:ext cx="3554095" cy="76174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Backprop</a:t>
            </a:r>
            <a:r>
              <a:rPr sz="2400" spc="-10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Implementation:  </a:t>
            </a:r>
            <a:r>
              <a:rPr sz="2400" dirty="0">
                <a:latin typeface="Garamond" panose="02020404030301010803" pitchFamily="18" charset="0"/>
                <a:cs typeface="Arial"/>
              </a:rPr>
              <a:t>“Flat”</a:t>
            </a:r>
            <a:r>
              <a:rPr sz="24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code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26976" y="2144944"/>
            <a:ext cx="3748404" cy="2285365"/>
            <a:chOff x="326976" y="1287693"/>
            <a:chExt cx="3748404" cy="2285365"/>
          </a:xfrm>
        </p:grpSpPr>
        <p:sp>
          <p:nvSpPr>
            <p:cNvPr id="8" name="object 8"/>
            <p:cNvSpPr/>
            <p:nvPr/>
          </p:nvSpPr>
          <p:spPr>
            <a:xfrm>
              <a:off x="326976" y="1287693"/>
              <a:ext cx="3059417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43067" y="2676967"/>
              <a:ext cx="332084" cy="2848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6393" y="2623144"/>
              <a:ext cx="356235" cy="327025"/>
            </a:xfrm>
            <a:custGeom>
              <a:avLst/>
              <a:gdLst/>
              <a:ahLst/>
              <a:cxnLst/>
              <a:rect l="l" t="t" r="r" b="b"/>
              <a:pathLst>
                <a:path w="356235" h="327025">
                  <a:moveTo>
                    <a:pt x="0" y="163499"/>
                  </a:moveTo>
                  <a:lnTo>
                    <a:pt x="5840" y="120034"/>
                  </a:lnTo>
                  <a:lnTo>
                    <a:pt x="22322" y="80977"/>
                  </a:lnTo>
                  <a:lnTo>
                    <a:pt x="47887" y="47887"/>
                  </a:lnTo>
                  <a:lnTo>
                    <a:pt x="80977" y="22322"/>
                  </a:lnTo>
                  <a:lnTo>
                    <a:pt x="120034" y="5840"/>
                  </a:lnTo>
                  <a:lnTo>
                    <a:pt x="163499" y="0"/>
                  </a:lnTo>
                  <a:lnTo>
                    <a:pt x="192599" y="0"/>
                  </a:lnTo>
                  <a:lnTo>
                    <a:pt x="255171" y="12446"/>
                  </a:lnTo>
                  <a:lnTo>
                    <a:pt x="308199" y="47899"/>
                  </a:lnTo>
                  <a:lnTo>
                    <a:pt x="343652" y="100927"/>
                  </a:lnTo>
                  <a:lnTo>
                    <a:pt x="356099" y="163499"/>
                  </a:lnTo>
                  <a:lnTo>
                    <a:pt x="350259" y="206964"/>
                  </a:lnTo>
                  <a:lnTo>
                    <a:pt x="333777" y="246021"/>
                  </a:lnTo>
                  <a:lnTo>
                    <a:pt x="308211" y="279111"/>
                  </a:lnTo>
                  <a:lnTo>
                    <a:pt x="275121" y="304677"/>
                  </a:lnTo>
                  <a:lnTo>
                    <a:pt x="236064" y="321159"/>
                  </a:lnTo>
                  <a:lnTo>
                    <a:pt x="192599" y="326999"/>
                  </a:lnTo>
                  <a:lnTo>
                    <a:pt x="163499" y="326999"/>
                  </a:lnTo>
                  <a:lnTo>
                    <a:pt x="120034" y="321159"/>
                  </a:lnTo>
                  <a:lnTo>
                    <a:pt x="80977" y="304677"/>
                  </a:lnTo>
                  <a:lnTo>
                    <a:pt x="47887" y="279111"/>
                  </a:lnTo>
                  <a:lnTo>
                    <a:pt x="22322" y="246021"/>
                  </a:lnTo>
                  <a:lnTo>
                    <a:pt x="5840" y="206964"/>
                  </a:lnTo>
                  <a:lnTo>
                    <a:pt x="0" y="163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88517" y="2690319"/>
              <a:ext cx="151874" cy="192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3009068" y="2514444"/>
              <a:ext cx="1044575" cy="546100"/>
            </a:xfrm>
            <a:custGeom>
              <a:avLst/>
              <a:gdLst/>
              <a:ahLst/>
              <a:cxnLst/>
              <a:rect l="l" t="t" r="r" b="b"/>
              <a:pathLst>
                <a:path w="1044575" h="546100">
                  <a:moveTo>
                    <a:pt x="0" y="0"/>
                  </a:moveTo>
                  <a:lnTo>
                    <a:pt x="1044297" y="0"/>
                  </a:lnTo>
                  <a:lnTo>
                    <a:pt x="1044297" y="545998"/>
                  </a:lnTo>
                  <a:lnTo>
                    <a:pt x="0" y="5459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9013" y="1526395"/>
            <a:ext cx="147066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Forward pass:  Compute</a:t>
            </a:r>
            <a:r>
              <a:rPr sz="16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output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22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37686" y="2876968"/>
            <a:ext cx="75819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Sigmoid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9CDE4FE-A454-4D96-AB00-147CA9269B1D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624" y="931325"/>
            <a:ext cx="2953385" cy="4195445"/>
            <a:chOff x="5955623" y="74074"/>
            <a:chExt cx="2953385" cy="4195445"/>
          </a:xfrm>
        </p:grpSpPr>
        <p:sp>
          <p:nvSpPr>
            <p:cNvPr id="3" name="object 3"/>
            <p:cNvSpPr/>
            <p:nvPr/>
          </p:nvSpPr>
          <p:spPr>
            <a:xfrm>
              <a:off x="5955623" y="74074"/>
              <a:ext cx="2859869" cy="4195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042562" y="334899"/>
              <a:ext cx="1767839" cy="1285240"/>
            </a:xfrm>
            <a:custGeom>
              <a:avLst/>
              <a:gdLst/>
              <a:ahLst/>
              <a:cxnLst/>
              <a:rect l="l" t="t" r="r" b="b"/>
              <a:pathLst>
                <a:path w="1767840" h="1285240">
                  <a:moveTo>
                    <a:pt x="0" y="0"/>
                  </a:moveTo>
                  <a:lnTo>
                    <a:pt x="1767596" y="0"/>
                  </a:lnTo>
                  <a:lnTo>
                    <a:pt x="1767596" y="1284897"/>
                  </a:lnTo>
                  <a:lnTo>
                    <a:pt x="0" y="12848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42562" y="1074447"/>
              <a:ext cx="2857500" cy="1727835"/>
            </a:xfrm>
            <a:custGeom>
              <a:avLst/>
              <a:gdLst/>
              <a:ahLst/>
              <a:cxnLst/>
              <a:rect l="l" t="t" r="r" b="b"/>
              <a:pathLst>
                <a:path w="2857500" h="1727835">
                  <a:moveTo>
                    <a:pt x="0" y="1181615"/>
                  </a:moveTo>
                  <a:lnTo>
                    <a:pt x="2856894" y="1181615"/>
                  </a:lnTo>
                  <a:lnTo>
                    <a:pt x="2856894" y="1727621"/>
                  </a:lnTo>
                  <a:lnTo>
                    <a:pt x="0" y="1727621"/>
                  </a:lnTo>
                  <a:lnTo>
                    <a:pt x="0" y="1181615"/>
                  </a:lnTo>
                  <a:close/>
                </a:path>
                <a:path w="2857500" h="1727835">
                  <a:moveTo>
                    <a:pt x="62874" y="0"/>
                  </a:moveTo>
                  <a:lnTo>
                    <a:pt x="1226572" y="0"/>
                  </a:lnTo>
                  <a:lnTo>
                    <a:pt x="1226572" y="279299"/>
                  </a:lnTo>
                  <a:lnTo>
                    <a:pt x="62874" y="279299"/>
                  </a:lnTo>
                  <a:lnTo>
                    <a:pt x="62874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7225" y="992157"/>
            <a:ext cx="3554095" cy="76174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Backprop</a:t>
            </a:r>
            <a:r>
              <a:rPr sz="2400" spc="-10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Implementation:  </a:t>
            </a:r>
            <a:r>
              <a:rPr sz="2400" dirty="0">
                <a:latin typeface="Garamond" panose="02020404030301010803" pitchFamily="18" charset="0"/>
                <a:cs typeface="Arial"/>
              </a:rPr>
              <a:t>“Flat”</a:t>
            </a:r>
            <a:r>
              <a:rPr sz="24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code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26976" y="2144943"/>
            <a:ext cx="3748404" cy="2306320"/>
            <a:chOff x="326976" y="1287693"/>
            <a:chExt cx="3748404" cy="2306320"/>
          </a:xfrm>
        </p:grpSpPr>
        <p:sp>
          <p:nvSpPr>
            <p:cNvPr id="8" name="object 8"/>
            <p:cNvSpPr/>
            <p:nvPr/>
          </p:nvSpPr>
          <p:spPr>
            <a:xfrm>
              <a:off x="326976" y="1287693"/>
              <a:ext cx="3059417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43067" y="2676967"/>
              <a:ext cx="332084" cy="2848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6393" y="2623144"/>
              <a:ext cx="356235" cy="327025"/>
            </a:xfrm>
            <a:custGeom>
              <a:avLst/>
              <a:gdLst/>
              <a:ahLst/>
              <a:cxnLst/>
              <a:rect l="l" t="t" r="r" b="b"/>
              <a:pathLst>
                <a:path w="356235" h="327025">
                  <a:moveTo>
                    <a:pt x="0" y="163499"/>
                  </a:moveTo>
                  <a:lnTo>
                    <a:pt x="5840" y="120034"/>
                  </a:lnTo>
                  <a:lnTo>
                    <a:pt x="22322" y="80977"/>
                  </a:lnTo>
                  <a:lnTo>
                    <a:pt x="47887" y="47887"/>
                  </a:lnTo>
                  <a:lnTo>
                    <a:pt x="80977" y="22322"/>
                  </a:lnTo>
                  <a:lnTo>
                    <a:pt x="120034" y="5840"/>
                  </a:lnTo>
                  <a:lnTo>
                    <a:pt x="163499" y="0"/>
                  </a:lnTo>
                  <a:lnTo>
                    <a:pt x="192599" y="0"/>
                  </a:lnTo>
                  <a:lnTo>
                    <a:pt x="255171" y="12446"/>
                  </a:lnTo>
                  <a:lnTo>
                    <a:pt x="308199" y="47899"/>
                  </a:lnTo>
                  <a:lnTo>
                    <a:pt x="343652" y="100927"/>
                  </a:lnTo>
                  <a:lnTo>
                    <a:pt x="356099" y="163499"/>
                  </a:lnTo>
                  <a:lnTo>
                    <a:pt x="350259" y="206964"/>
                  </a:lnTo>
                  <a:lnTo>
                    <a:pt x="333777" y="246021"/>
                  </a:lnTo>
                  <a:lnTo>
                    <a:pt x="308211" y="279111"/>
                  </a:lnTo>
                  <a:lnTo>
                    <a:pt x="275121" y="304677"/>
                  </a:lnTo>
                  <a:lnTo>
                    <a:pt x="236064" y="321159"/>
                  </a:lnTo>
                  <a:lnTo>
                    <a:pt x="192599" y="326999"/>
                  </a:lnTo>
                  <a:lnTo>
                    <a:pt x="163499" y="326999"/>
                  </a:lnTo>
                  <a:lnTo>
                    <a:pt x="120034" y="321159"/>
                  </a:lnTo>
                  <a:lnTo>
                    <a:pt x="80977" y="304677"/>
                  </a:lnTo>
                  <a:lnTo>
                    <a:pt x="47887" y="279111"/>
                  </a:lnTo>
                  <a:lnTo>
                    <a:pt x="22322" y="246021"/>
                  </a:lnTo>
                  <a:lnTo>
                    <a:pt x="5840" y="206964"/>
                  </a:lnTo>
                  <a:lnTo>
                    <a:pt x="0" y="163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88517" y="2690319"/>
              <a:ext cx="151874" cy="192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85849" y="2008120"/>
              <a:ext cx="2819400" cy="1576070"/>
            </a:xfrm>
            <a:custGeom>
              <a:avLst/>
              <a:gdLst/>
              <a:ahLst/>
              <a:cxnLst/>
              <a:rect l="l" t="t" r="r" b="b"/>
              <a:pathLst>
                <a:path w="2819400" h="1576070">
                  <a:moveTo>
                    <a:pt x="1714921" y="0"/>
                  </a:moveTo>
                  <a:lnTo>
                    <a:pt x="2818919" y="0"/>
                  </a:lnTo>
                  <a:lnTo>
                    <a:pt x="2818919" y="1142997"/>
                  </a:lnTo>
                  <a:lnTo>
                    <a:pt x="1714921" y="1142997"/>
                  </a:lnTo>
                  <a:lnTo>
                    <a:pt x="1714921" y="0"/>
                  </a:lnTo>
                  <a:close/>
                </a:path>
                <a:path w="2819400" h="1576070">
                  <a:moveTo>
                    <a:pt x="0" y="1143097"/>
                  </a:moveTo>
                  <a:lnTo>
                    <a:pt x="2818794" y="1143097"/>
                  </a:lnTo>
                  <a:lnTo>
                    <a:pt x="2818794" y="1575996"/>
                  </a:lnTo>
                  <a:lnTo>
                    <a:pt x="0" y="1575996"/>
                  </a:lnTo>
                  <a:lnTo>
                    <a:pt x="0" y="1143097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2223020" y="3075168"/>
              <a:ext cx="1075055" cy="156210"/>
            </a:xfrm>
            <a:custGeom>
              <a:avLst/>
              <a:gdLst/>
              <a:ahLst/>
              <a:cxnLst/>
              <a:rect l="l" t="t" r="r" b="b"/>
              <a:pathLst>
                <a:path w="1075054" h="156210">
                  <a:moveTo>
                    <a:pt x="1074597" y="155699"/>
                  </a:moveTo>
                  <a:lnTo>
                    <a:pt x="0" y="155699"/>
                  </a:lnTo>
                  <a:lnTo>
                    <a:pt x="0" y="0"/>
                  </a:lnTo>
                  <a:lnTo>
                    <a:pt x="1074597" y="0"/>
                  </a:lnTo>
                  <a:lnTo>
                    <a:pt x="1074597" y="155699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319013" y="1526395"/>
            <a:ext cx="147066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Forward pass:  Compute</a:t>
            </a:r>
            <a:r>
              <a:rPr sz="16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output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23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837687" y="3203999"/>
            <a:ext cx="8375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Add</a:t>
            </a:r>
            <a:r>
              <a:rPr sz="1600" spc="-8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gate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20A8D0-2500-45C7-A94D-F9BE0B55C3F4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624" y="931325"/>
            <a:ext cx="2953385" cy="4195445"/>
            <a:chOff x="5955623" y="74074"/>
            <a:chExt cx="2953385" cy="4195445"/>
          </a:xfrm>
        </p:grpSpPr>
        <p:sp>
          <p:nvSpPr>
            <p:cNvPr id="3" name="object 3"/>
            <p:cNvSpPr/>
            <p:nvPr/>
          </p:nvSpPr>
          <p:spPr>
            <a:xfrm>
              <a:off x="5955623" y="74074"/>
              <a:ext cx="2859869" cy="4195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042562" y="334899"/>
              <a:ext cx="1767839" cy="1285240"/>
            </a:xfrm>
            <a:custGeom>
              <a:avLst/>
              <a:gdLst/>
              <a:ahLst/>
              <a:cxnLst/>
              <a:rect l="l" t="t" r="r" b="b"/>
              <a:pathLst>
                <a:path w="1767840" h="1285240">
                  <a:moveTo>
                    <a:pt x="0" y="0"/>
                  </a:moveTo>
                  <a:lnTo>
                    <a:pt x="1767596" y="0"/>
                  </a:lnTo>
                  <a:lnTo>
                    <a:pt x="1767596" y="1284897"/>
                  </a:lnTo>
                  <a:lnTo>
                    <a:pt x="0" y="12848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42562" y="823618"/>
              <a:ext cx="2857500" cy="2512060"/>
            </a:xfrm>
            <a:custGeom>
              <a:avLst/>
              <a:gdLst/>
              <a:ahLst/>
              <a:cxnLst/>
              <a:rect l="l" t="t" r="r" b="b"/>
              <a:pathLst>
                <a:path w="2857500" h="2512060">
                  <a:moveTo>
                    <a:pt x="0" y="1965851"/>
                  </a:moveTo>
                  <a:lnTo>
                    <a:pt x="2856894" y="1965851"/>
                  </a:lnTo>
                  <a:lnTo>
                    <a:pt x="2856894" y="2511849"/>
                  </a:lnTo>
                  <a:lnTo>
                    <a:pt x="0" y="2511849"/>
                  </a:lnTo>
                  <a:lnTo>
                    <a:pt x="0" y="1965851"/>
                  </a:lnTo>
                  <a:close/>
                </a:path>
                <a:path w="2857500" h="2512060">
                  <a:moveTo>
                    <a:pt x="62874" y="0"/>
                  </a:moveTo>
                  <a:lnTo>
                    <a:pt x="1226572" y="0"/>
                  </a:lnTo>
                  <a:lnTo>
                    <a:pt x="1226572" y="279299"/>
                  </a:lnTo>
                  <a:lnTo>
                    <a:pt x="62874" y="279299"/>
                  </a:lnTo>
                  <a:lnTo>
                    <a:pt x="62874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207225" y="992157"/>
            <a:ext cx="3554095" cy="761746"/>
          </a:xfrm>
          <a:prstGeom prst="rect">
            <a:avLst/>
          </a:prstGeom>
        </p:spPr>
        <p:txBody>
          <a:bodyPr vert="horz" wrap="square" lIns="0" tIns="27939" rIns="0" bIns="0" rtlCol="0"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Backprop</a:t>
            </a:r>
            <a:r>
              <a:rPr sz="2400" spc="-10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Implementation:  </a:t>
            </a:r>
            <a:r>
              <a:rPr sz="2400" dirty="0">
                <a:latin typeface="Garamond" panose="02020404030301010803" pitchFamily="18" charset="0"/>
                <a:cs typeface="Arial"/>
              </a:rPr>
              <a:t>“Flat”</a:t>
            </a:r>
            <a:r>
              <a:rPr sz="24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400" dirty="0">
                <a:latin typeface="Garamond" panose="02020404030301010803" pitchFamily="18" charset="0"/>
                <a:cs typeface="Arial"/>
              </a:rPr>
              <a:t>code</a:t>
            </a:r>
          </a:p>
        </p:txBody>
      </p:sp>
      <p:grpSp>
        <p:nvGrpSpPr>
          <p:cNvPr id="7" name="object 7"/>
          <p:cNvGrpSpPr/>
          <p:nvPr/>
        </p:nvGrpSpPr>
        <p:grpSpPr>
          <a:xfrm>
            <a:off x="326976" y="2144944"/>
            <a:ext cx="3748404" cy="2285365"/>
            <a:chOff x="326976" y="1287693"/>
            <a:chExt cx="3748404" cy="2285365"/>
          </a:xfrm>
        </p:grpSpPr>
        <p:sp>
          <p:nvSpPr>
            <p:cNvPr id="8" name="object 8"/>
            <p:cNvSpPr/>
            <p:nvPr/>
          </p:nvSpPr>
          <p:spPr>
            <a:xfrm>
              <a:off x="326976" y="1287693"/>
              <a:ext cx="3059417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43067" y="2676967"/>
              <a:ext cx="332084" cy="2848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6393" y="2623144"/>
              <a:ext cx="356235" cy="327025"/>
            </a:xfrm>
            <a:custGeom>
              <a:avLst/>
              <a:gdLst/>
              <a:ahLst/>
              <a:cxnLst/>
              <a:rect l="l" t="t" r="r" b="b"/>
              <a:pathLst>
                <a:path w="356235" h="327025">
                  <a:moveTo>
                    <a:pt x="0" y="163499"/>
                  </a:moveTo>
                  <a:lnTo>
                    <a:pt x="5840" y="120034"/>
                  </a:lnTo>
                  <a:lnTo>
                    <a:pt x="22322" y="80977"/>
                  </a:lnTo>
                  <a:lnTo>
                    <a:pt x="47887" y="47887"/>
                  </a:lnTo>
                  <a:lnTo>
                    <a:pt x="80977" y="22322"/>
                  </a:lnTo>
                  <a:lnTo>
                    <a:pt x="120034" y="5840"/>
                  </a:lnTo>
                  <a:lnTo>
                    <a:pt x="163499" y="0"/>
                  </a:lnTo>
                  <a:lnTo>
                    <a:pt x="192599" y="0"/>
                  </a:lnTo>
                  <a:lnTo>
                    <a:pt x="255171" y="12446"/>
                  </a:lnTo>
                  <a:lnTo>
                    <a:pt x="308199" y="47899"/>
                  </a:lnTo>
                  <a:lnTo>
                    <a:pt x="343652" y="100927"/>
                  </a:lnTo>
                  <a:lnTo>
                    <a:pt x="356099" y="163499"/>
                  </a:lnTo>
                  <a:lnTo>
                    <a:pt x="350259" y="206964"/>
                  </a:lnTo>
                  <a:lnTo>
                    <a:pt x="333777" y="246021"/>
                  </a:lnTo>
                  <a:lnTo>
                    <a:pt x="308211" y="279111"/>
                  </a:lnTo>
                  <a:lnTo>
                    <a:pt x="275121" y="304677"/>
                  </a:lnTo>
                  <a:lnTo>
                    <a:pt x="236064" y="321159"/>
                  </a:lnTo>
                  <a:lnTo>
                    <a:pt x="192599" y="326999"/>
                  </a:lnTo>
                  <a:lnTo>
                    <a:pt x="163499" y="326999"/>
                  </a:lnTo>
                  <a:lnTo>
                    <a:pt x="120034" y="321159"/>
                  </a:lnTo>
                  <a:lnTo>
                    <a:pt x="80977" y="304677"/>
                  </a:lnTo>
                  <a:lnTo>
                    <a:pt x="47887" y="279111"/>
                  </a:lnTo>
                  <a:lnTo>
                    <a:pt x="22322" y="246021"/>
                  </a:lnTo>
                  <a:lnTo>
                    <a:pt x="5840" y="206964"/>
                  </a:lnTo>
                  <a:lnTo>
                    <a:pt x="0" y="163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88517" y="2690319"/>
              <a:ext cx="151874" cy="192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1282247" y="1415322"/>
              <a:ext cx="1223010" cy="1437640"/>
            </a:xfrm>
            <a:custGeom>
              <a:avLst/>
              <a:gdLst/>
              <a:ahLst/>
              <a:cxnLst/>
              <a:rect l="l" t="t" r="r" b="b"/>
              <a:pathLst>
                <a:path w="1223010" h="1437639">
                  <a:moveTo>
                    <a:pt x="0" y="0"/>
                  </a:moveTo>
                  <a:lnTo>
                    <a:pt x="1222497" y="0"/>
                  </a:lnTo>
                  <a:lnTo>
                    <a:pt x="1222497" y="1437597"/>
                  </a:lnTo>
                  <a:lnTo>
                    <a:pt x="0" y="14375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9013" y="1526395"/>
            <a:ext cx="147066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Forward pass:  Compute</a:t>
            </a:r>
            <a:r>
              <a:rPr sz="16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output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3124200" y="7959725"/>
            <a:ext cx="2895600" cy="538609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Fei-Fei Li </a:t>
            </a:r>
            <a:r>
              <a:rPr dirty="0">
                <a:latin typeface="Garamond" panose="02020404030301010803" pitchFamily="18" charset="0"/>
              </a:rPr>
              <a:t>&amp; Justin Johnson &amp; </a:t>
            </a:r>
            <a:r>
              <a:rPr spc="-5" dirty="0">
                <a:latin typeface="Garamond" panose="02020404030301010803" pitchFamily="18" charset="0"/>
              </a:rPr>
              <a:t>Serena</a:t>
            </a:r>
            <a:r>
              <a:rPr spc="-145" dirty="0">
                <a:latin typeface="Garamond" panose="02020404030301010803" pitchFamily="18" charset="0"/>
              </a:rPr>
              <a:t> </a:t>
            </a:r>
            <a:r>
              <a:rPr spc="-40" dirty="0">
                <a:latin typeface="Garamond" panose="02020404030301010803" pitchFamily="18" charset="0"/>
              </a:rPr>
              <a:t>Yeung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6553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Lecture </a:t>
            </a:r>
            <a:r>
              <a:rPr dirty="0">
                <a:latin typeface="Garamond" panose="02020404030301010803" pitchFamily="18" charset="0"/>
              </a:rPr>
              <a:t>4 -</a:t>
            </a:r>
            <a:r>
              <a:rPr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dirty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24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457200" y="7959725"/>
            <a:ext cx="2133600" cy="269304"/>
          </a:xfrm>
          <a:prstGeom prst="rect">
            <a:avLst/>
          </a:prstGeom>
        </p:spPr>
        <p:txBody>
          <a:bodyPr vert="horz" wrap="square" lIns="0" tIns="0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latin typeface="Garamond" panose="02020404030301010803" pitchFamily="18" charset="0"/>
              </a:rPr>
              <a:t>April </a:t>
            </a:r>
            <a:r>
              <a:rPr spc="-50" dirty="0">
                <a:latin typeface="Garamond" panose="02020404030301010803" pitchFamily="18" charset="0"/>
              </a:rPr>
              <a:t>11,</a:t>
            </a:r>
            <a:r>
              <a:rPr spc="-85" dirty="0">
                <a:latin typeface="Garamond" panose="02020404030301010803" pitchFamily="18" charset="0"/>
              </a:rPr>
              <a:t> </a:t>
            </a:r>
            <a:r>
              <a:rPr spc="-5" dirty="0">
                <a:latin typeface="Garamond" panose="02020404030301010803" pitchFamily="18" charset="0"/>
              </a:rPr>
              <a:t>2019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837687" y="3737398"/>
            <a:ext cx="837565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Add</a:t>
            </a:r>
            <a:r>
              <a:rPr sz="1600" spc="-8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gate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C2965-FF8C-4EEE-9C19-972C78F2FB75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624" y="931324"/>
            <a:ext cx="2953385" cy="4246880"/>
            <a:chOff x="5955623" y="74074"/>
            <a:chExt cx="2953385" cy="4246880"/>
          </a:xfrm>
        </p:grpSpPr>
        <p:sp>
          <p:nvSpPr>
            <p:cNvPr id="3" name="object 3"/>
            <p:cNvSpPr/>
            <p:nvPr/>
          </p:nvSpPr>
          <p:spPr>
            <a:xfrm>
              <a:off x="5955623" y="74074"/>
              <a:ext cx="2859869" cy="4195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042562" y="334899"/>
              <a:ext cx="1767839" cy="1285240"/>
            </a:xfrm>
            <a:custGeom>
              <a:avLst/>
              <a:gdLst/>
              <a:ahLst/>
              <a:cxnLst/>
              <a:rect l="l" t="t" r="r" b="b"/>
              <a:pathLst>
                <a:path w="1767840" h="1285240">
                  <a:moveTo>
                    <a:pt x="0" y="0"/>
                  </a:moveTo>
                  <a:lnTo>
                    <a:pt x="1767596" y="0"/>
                  </a:lnTo>
                  <a:lnTo>
                    <a:pt x="1767596" y="1284897"/>
                  </a:lnTo>
                  <a:lnTo>
                    <a:pt x="0" y="12848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42562" y="364324"/>
              <a:ext cx="2857500" cy="3947160"/>
            </a:xfrm>
            <a:custGeom>
              <a:avLst/>
              <a:gdLst/>
              <a:ahLst/>
              <a:cxnLst/>
              <a:rect l="l" t="t" r="r" b="b"/>
              <a:pathLst>
                <a:path w="2857500" h="3947160">
                  <a:moveTo>
                    <a:pt x="0" y="3400918"/>
                  </a:moveTo>
                  <a:lnTo>
                    <a:pt x="2856894" y="3400918"/>
                  </a:lnTo>
                  <a:lnTo>
                    <a:pt x="2856894" y="3946917"/>
                  </a:lnTo>
                  <a:lnTo>
                    <a:pt x="0" y="3946917"/>
                  </a:lnTo>
                  <a:lnTo>
                    <a:pt x="0" y="3400918"/>
                  </a:lnTo>
                  <a:close/>
                </a:path>
                <a:path w="2857500" h="3947160">
                  <a:moveTo>
                    <a:pt x="62874" y="0"/>
                  </a:moveTo>
                  <a:lnTo>
                    <a:pt x="1226572" y="0"/>
                  </a:lnTo>
                  <a:lnTo>
                    <a:pt x="1226572" y="239999"/>
                  </a:lnTo>
                  <a:lnTo>
                    <a:pt x="62874" y="239999"/>
                  </a:lnTo>
                  <a:lnTo>
                    <a:pt x="62874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7225" y="992157"/>
            <a:ext cx="3554095" cy="753110"/>
          </a:xfrm>
          <a:prstGeom prst="rect">
            <a:avLst/>
          </a:prstGeom>
        </p:spPr>
        <p:txBody>
          <a:bodyPr vert="horz" wrap="square" lIns="0" tIns="2793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/>
              <a:t>Backprop</a:t>
            </a:r>
            <a:r>
              <a:rPr sz="2400" spc="-105" dirty="0"/>
              <a:t> </a:t>
            </a:r>
            <a:r>
              <a:rPr sz="2400" spc="-5" dirty="0"/>
              <a:t>Implementation:  </a:t>
            </a:r>
            <a:r>
              <a:rPr sz="2400" dirty="0"/>
              <a:t>“Flat”</a:t>
            </a:r>
            <a:r>
              <a:rPr sz="2400" spc="-10" dirty="0"/>
              <a:t> </a:t>
            </a:r>
            <a:r>
              <a:rPr sz="2400" dirty="0"/>
              <a:t>code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259649" y="2088215"/>
            <a:ext cx="3815502" cy="2342084"/>
            <a:chOff x="259649" y="1230964"/>
            <a:chExt cx="3815502" cy="2342084"/>
          </a:xfrm>
        </p:grpSpPr>
        <p:sp>
          <p:nvSpPr>
            <p:cNvPr id="8" name="object 8"/>
            <p:cNvSpPr/>
            <p:nvPr/>
          </p:nvSpPr>
          <p:spPr>
            <a:xfrm>
              <a:off x="326976" y="1287693"/>
              <a:ext cx="3059417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43067" y="2676967"/>
              <a:ext cx="332084" cy="2848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6393" y="2623144"/>
              <a:ext cx="356235" cy="327025"/>
            </a:xfrm>
            <a:custGeom>
              <a:avLst/>
              <a:gdLst/>
              <a:ahLst/>
              <a:cxnLst/>
              <a:rect l="l" t="t" r="r" b="b"/>
              <a:pathLst>
                <a:path w="356235" h="327025">
                  <a:moveTo>
                    <a:pt x="0" y="163499"/>
                  </a:moveTo>
                  <a:lnTo>
                    <a:pt x="5840" y="120034"/>
                  </a:lnTo>
                  <a:lnTo>
                    <a:pt x="22322" y="80977"/>
                  </a:lnTo>
                  <a:lnTo>
                    <a:pt x="47887" y="47887"/>
                  </a:lnTo>
                  <a:lnTo>
                    <a:pt x="80977" y="22322"/>
                  </a:lnTo>
                  <a:lnTo>
                    <a:pt x="120034" y="5840"/>
                  </a:lnTo>
                  <a:lnTo>
                    <a:pt x="163499" y="0"/>
                  </a:lnTo>
                  <a:lnTo>
                    <a:pt x="192599" y="0"/>
                  </a:lnTo>
                  <a:lnTo>
                    <a:pt x="255171" y="12446"/>
                  </a:lnTo>
                  <a:lnTo>
                    <a:pt x="308199" y="47899"/>
                  </a:lnTo>
                  <a:lnTo>
                    <a:pt x="343652" y="100927"/>
                  </a:lnTo>
                  <a:lnTo>
                    <a:pt x="356099" y="163499"/>
                  </a:lnTo>
                  <a:lnTo>
                    <a:pt x="350259" y="206964"/>
                  </a:lnTo>
                  <a:lnTo>
                    <a:pt x="333777" y="246021"/>
                  </a:lnTo>
                  <a:lnTo>
                    <a:pt x="308211" y="279111"/>
                  </a:lnTo>
                  <a:lnTo>
                    <a:pt x="275121" y="304677"/>
                  </a:lnTo>
                  <a:lnTo>
                    <a:pt x="236064" y="321159"/>
                  </a:lnTo>
                  <a:lnTo>
                    <a:pt x="192599" y="326999"/>
                  </a:lnTo>
                  <a:lnTo>
                    <a:pt x="163499" y="326999"/>
                  </a:lnTo>
                  <a:lnTo>
                    <a:pt x="120034" y="321159"/>
                  </a:lnTo>
                  <a:lnTo>
                    <a:pt x="80977" y="304677"/>
                  </a:lnTo>
                  <a:lnTo>
                    <a:pt x="47887" y="279111"/>
                  </a:lnTo>
                  <a:lnTo>
                    <a:pt x="22322" y="246021"/>
                  </a:lnTo>
                  <a:lnTo>
                    <a:pt x="5840" y="206964"/>
                  </a:lnTo>
                  <a:lnTo>
                    <a:pt x="0" y="163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88518" y="2690319"/>
              <a:ext cx="151874" cy="192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9649" y="1230964"/>
              <a:ext cx="1430020" cy="882015"/>
            </a:xfrm>
            <a:custGeom>
              <a:avLst/>
              <a:gdLst/>
              <a:ahLst/>
              <a:cxnLst/>
              <a:rect l="l" t="t" r="r" b="b"/>
              <a:pathLst>
                <a:path w="1430020" h="882014">
                  <a:moveTo>
                    <a:pt x="0" y="0"/>
                  </a:moveTo>
                  <a:lnTo>
                    <a:pt x="1429797" y="0"/>
                  </a:lnTo>
                  <a:lnTo>
                    <a:pt x="1429797" y="881698"/>
                  </a:lnTo>
                  <a:lnTo>
                    <a:pt x="0" y="8816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9013" y="1526395"/>
            <a:ext cx="147066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Forward pass:  Compute</a:t>
            </a:r>
            <a:r>
              <a:rPr sz="16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output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5105644" y="4693239"/>
            <a:ext cx="144525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25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63491" y="4743941"/>
            <a:ext cx="11658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Multiply</a:t>
            </a:r>
            <a:r>
              <a:rPr sz="1600" spc="-8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gate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BEFAD6C-3134-4FBF-9914-868AAB464BE3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5955624" y="931325"/>
            <a:ext cx="2953385" cy="4195445"/>
            <a:chOff x="5955623" y="74074"/>
            <a:chExt cx="2953385" cy="4195445"/>
          </a:xfrm>
        </p:grpSpPr>
        <p:sp>
          <p:nvSpPr>
            <p:cNvPr id="3" name="object 3"/>
            <p:cNvSpPr/>
            <p:nvPr/>
          </p:nvSpPr>
          <p:spPr>
            <a:xfrm>
              <a:off x="5955623" y="74074"/>
              <a:ext cx="2859869" cy="4195425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6042562" y="334899"/>
              <a:ext cx="1767839" cy="1285240"/>
            </a:xfrm>
            <a:custGeom>
              <a:avLst/>
              <a:gdLst/>
              <a:ahLst/>
              <a:cxnLst/>
              <a:rect l="l" t="t" r="r" b="b"/>
              <a:pathLst>
                <a:path w="1767840" h="1285240">
                  <a:moveTo>
                    <a:pt x="0" y="0"/>
                  </a:moveTo>
                  <a:lnTo>
                    <a:pt x="1767596" y="0"/>
                  </a:lnTo>
                  <a:lnTo>
                    <a:pt x="1767596" y="1284897"/>
                  </a:lnTo>
                  <a:lnTo>
                    <a:pt x="0" y="1284897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6042562" y="572788"/>
              <a:ext cx="2857500" cy="3220085"/>
            </a:xfrm>
            <a:custGeom>
              <a:avLst/>
              <a:gdLst/>
              <a:ahLst/>
              <a:cxnLst/>
              <a:rect l="l" t="t" r="r" b="b"/>
              <a:pathLst>
                <a:path w="2857500" h="3220085">
                  <a:moveTo>
                    <a:pt x="0" y="2673879"/>
                  </a:moveTo>
                  <a:lnTo>
                    <a:pt x="2856894" y="2673879"/>
                  </a:lnTo>
                  <a:lnTo>
                    <a:pt x="2856894" y="3219878"/>
                  </a:lnTo>
                  <a:lnTo>
                    <a:pt x="0" y="3219878"/>
                  </a:lnTo>
                  <a:lnTo>
                    <a:pt x="0" y="2673879"/>
                  </a:lnTo>
                  <a:close/>
                </a:path>
                <a:path w="2857500" h="3220085">
                  <a:moveTo>
                    <a:pt x="62874" y="0"/>
                  </a:moveTo>
                  <a:lnTo>
                    <a:pt x="1226572" y="0"/>
                  </a:lnTo>
                  <a:lnTo>
                    <a:pt x="1226572" y="279299"/>
                  </a:lnTo>
                  <a:lnTo>
                    <a:pt x="62874" y="279299"/>
                  </a:lnTo>
                  <a:lnTo>
                    <a:pt x="62874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207225" y="992157"/>
            <a:ext cx="3554095" cy="753110"/>
          </a:xfrm>
          <a:prstGeom prst="rect">
            <a:avLst/>
          </a:prstGeom>
        </p:spPr>
        <p:txBody>
          <a:bodyPr vert="horz" wrap="square" lIns="0" tIns="27939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 marR="5080">
              <a:lnSpc>
                <a:spcPts val="2850"/>
              </a:lnSpc>
              <a:spcBef>
                <a:spcPts val="219"/>
              </a:spcBef>
            </a:pPr>
            <a:r>
              <a:rPr sz="2400" spc="-5" dirty="0"/>
              <a:t>Backprop</a:t>
            </a:r>
            <a:r>
              <a:rPr sz="2400" spc="-105" dirty="0"/>
              <a:t> </a:t>
            </a:r>
            <a:r>
              <a:rPr sz="2400" spc="-5" dirty="0"/>
              <a:t>Implementation:  </a:t>
            </a:r>
            <a:r>
              <a:rPr sz="2400" dirty="0"/>
              <a:t>“Flat”</a:t>
            </a:r>
            <a:r>
              <a:rPr sz="2400" spc="-10" dirty="0"/>
              <a:t> </a:t>
            </a:r>
            <a:r>
              <a:rPr sz="2400" dirty="0"/>
              <a:t>code</a:t>
            </a:r>
            <a:endParaRPr sz="2400"/>
          </a:p>
        </p:txBody>
      </p:sp>
      <p:grpSp>
        <p:nvGrpSpPr>
          <p:cNvPr id="7" name="object 7"/>
          <p:cNvGrpSpPr/>
          <p:nvPr/>
        </p:nvGrpSpPr>
        <p:grpSpPr>
          <a:xfrm>
            <a:off x="259649" y="2144944"/>
            <a:ext cx="3815502" cy="2285355"/>
            <a:chOff x="259649" y="1287693"/>
            <a:chExt cx="3815502" cy="2285355"/>
          </a:xfrm>
        </p:grpSpPr>
        <p:sp>
          <p:nvSpPr>
            <p:cNvPr id="8" name="object 8"/>
            <p:cNvSpPr/>
            <p:nvPr/>
          </p:nvSpPr>
          <p:spPr>
            <a:xfrm>
              <a:off x="326976" y="1287693"/>
              <a:ext cx="3059417" cy="2285355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743067" y="2676967"/>
              <a:ext cx="332084" cy="284801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386393" y="2623144"/>
              <a:ext cx="356235" cy="327025"/>
            </a:xfrm>
            <a:custGeom>
              <a:avLst/>
              <a:gdLst/>
              <a:ahLst/>
              <a:cxnLst/>
              <a:rect l="l" t="t" r="r" b="b"/>
              <a:pathLst>
                <a:path w="356235" h="327025">
                  <a:moveTo>
                    <a:pt x="0" y="163499"/>
                  </a:moveTo>
                  <a:lnTo>
                    <a:pt x="5840" y="120034"/>
                  </a:lnTo>
                  <a:lnTo>
                    <a:pt x="22322" y="80977"/>
                  </a:lnTo>
                  <a:lnTo>
                    <a:pt x="47887" y="47887"/>
                  </a:lnTo>
                  <a:lnTo>
                    <a:pt x="80977" y="22322"/>
                  </a:lnTo>
                  <a:lnTo>
                    <a:pt x="120034" y="5840"/>
                  </a:lnTo>
                  <a:lnTo>
                    <a:pt x="163499" y="0"/>
                  </a:lnTo>
                  <a:lnTo>
                    <a:pt x="192599" y="0"/>
                  </a:lnTo>
                  <a:lnTo>
                    <a:pt x="255171" y="12446"/>
                  </a:lnTo>
                  <a:lnTo>
                    <a:pt x="308199" y="47899"/>
                  </a:lnTo>
                  <a:lnTo>
                    <a:pt x="343652" y="100927"/>
                  </a:lnTo>
                  <a:lnTo>
                    <a:pt x="356099" y="163499"/>
                  </a:lnTo>
                  <a:lnTo>
                    <a:pt x="350259" y="206964"/>
                  </a:lnTo>
                  <a:lnTo>
                    <a:pt x="333777" y="246021"/>
                  </a:lnTo>
                  <a:lnTo>
                    <a:pt x="308211" y="279111"/>
                  </a:lnTo>
                  <a:lnTo>
                    <a:pt x="275121" y="304677"/>
                  </a:lnTo>
                  <a:lnTo>
                    <a:pt x="236064" y="321159"/>
                  </a:lnTo>
                  <a:lnTo>
                    <a:pt x="192599" y="326999"/>
                  </a:lnTo>
                  <a:lnTo>
                    <a:pt x="163499" y="326999"/>
                  </a:lnTo>
                  <a:lnTo>
                    <a:pt x="120034" y="321159"/>
                  </a:lnTo>
                  <a:lnTo>
                    <a:pt x="80977" y="304677"/>
                  </a:lnTo>
                  <a:lnTo>
                    <a:pt x="47887" y="279111"/>
                  </a:lnTo>
                  <a:lnTo>
                    <a:pt x="22322" y="246021"/>
                  </a:lnTo>
                  <a:lnTo>
                    <a:pt x="5840" y="206964"/>
                  </a:lnTo>
                  <a:lnTo>
                    <a:pt x="0" y="163499"/>
                  </a:lnTo>
                  <a:close/>
                </a:path>
              </a:pathLst>
            </a:custGeom>
            <a:ln w="95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3488518" y="2690319"/>
              <a:ext cx="151874" cy="19264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259649" y="2230540"/>
              <a:ext cx="1430020" cy="882015"/>
            </a:xfrm>
            <a:custGeom>
              <a:avLst/>
              <a:gdLst/>
              <a:ahLst/>
              <a:cxnLst/>
              <a:rect l="l" t="t" r="r" b="b"/>
              <a:pathLst>
                <a:path w="1430020" h="882014">
                  <a:moveTo>
                    <a:pt x="0" y="0"/>
                  </a:moveTo>
                  <a:lnTo>
                    <a:pt x="1429797" y="0"/>
                  </a:lnTo>
                  <a:lnTo>
                    <a:pt x="1429797" y="881698"/>
                  </a:lnTo>
                  <a:lnTo>
                    <a:pt x="0" y="881698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4319013" y="1526395"/>
            <a:ext cx="147066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12700" marR="5080">
              <a:lnSpc>
                <a:spcPct val="101600"/>
              </a:lnSpc>
              <a:spcBef>
                <a:spcPts val="70"/>
              </a:spcBef>
            </a:pP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Forward pass:  Compute</a:t>
            </a:r>
            <a:r>
              <a:rPr sz="1600" spc="-9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output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xfrm>
            <a:off x="5105644" y="4693239"/>
            <a:ext cx="144525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26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563491" y="4225363"/>
            <a:ext cx="1165860" cy="269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6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Multiply</a:t>
            </a:r>
            <a:r>
              <a:rPr sz="1600" spc="-8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6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gate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E749DCA-8BDB-495E-9CEA-4A4B70345969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467210" y="2586936"/>
            <a:ext cx="6202680" cy="141320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spcBef>
                <a:spcPts val="100"/>
              </a:spcBef>
            </a:pPr>
            <a:r>
              <a:rPr sz="3000" spc="-5" dirty="0">
                <a:latin typeface="Garamond" panose="02020404030301010803" pitchFamily="18" charset="0"/>
                <a:cs typeface="Arial"/>
              </a:rPr>
              <a:t>So far: backprop with</a:t>
            </a:r>
            <a:r>
              <a:rPr sz="30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3000" dirty="0">
                <a:latin typeface="Garamond" panose="02020404030301010803" pitchFamily="18" charset="0"/>
                <a:cs typeface="Arial"/>
              </a:rPr>
              <a:t>scalars</a:t>
            </a:r>
          </a:p>
          <a:p>
            <a:pPr>
              <a:spcBef>
                <a:spcPts val="35"/>
              </a:spcBef>
            </a:pPr>
            <a:endParaRPr sz="31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3000" spc="-10" dirty="0">
                <a:latin typeface="Garamond" panose="02020404030301010803" pitchFamily="18" charset="0"/>
                <a:cs typeface="Arial"/>
              </a:rPr>
              <a:t>What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about </a:t>
            </a:r>
            <a:r>
              <a:rPr sz="3000" dirty="0">
                <a:latin typeface="Garamond" panose="02020404030301010803" pitchFamily="18" charset="0"/>
                <a:cs typeface="Arial"/>
              </a:rPr>
              <a:t>vector-valued</a:t>
            </a:r>
            <a:r>
              <a:rPr sz="3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3000" spc="-5" dirty="0">
                <a:latin typeface="Garamond" panose="02020404030301010803" pitchFamily="18" charset="0"/>
                <a:cs typeface="Arial"/>
              </a:rPr>
              <a:t>functions?</a:t>
            </a:r>
            <a:endParaRPr sz="3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xfrm>
            <a:off x="5105644" y="4693239"/>
            <a:ext cx="1445259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Lecture </a:t>
            </a:r>
            <a:r>
              <a:rPr lang="en-US" dirty="0">
                <a:latin typeface="Garamond" panose="02020404030301010803" pitchFamily="18" charset="0"/>
              </a:rPr>
              <a:t>4 -</a:t>
            </a:r>
            <a:r>
              <a:rPr lang="en-US" spc="-210" dirty="0">
                <a:latin typeface="Garamond" panose="02020404030301010803" pitchFamily="18" charset="0"/>
              </a:rPr>
              <a:t> </a:t>
            </a:r>
            <a:fld id="{81D60167-4931-47E6-BA6A-407CBD079E47}" type="slidenum">
              <a:rPr smtClean="0">
                <a:latin typeface="Garamond" panose="02020404030301010803" pitchFamily="18" charset="0"/>
              </a:rPr>
              <a:pPr marL="12700">
                <a:lnSpc>
                  <a:spcPts val="2090"/>
                </a:lnSpc>
              </a:pPr>
              <a:t>27</a:t>
            </a:fld>
            <a:endParaRPr dirty="0">
              <a:latin typeface="Garamond" panose="02020404030301010803" pitchFamily="18" charset="0"/>
            </a:endParaRPr>
          </a:p>
        </p:txBody>
      </p:sp>
      <p:sp>
        <p:nvSpPr>
          <p:cNvPr id="5" name="object 5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1E7618-75F4-405E-BAD3-F9C64AA06F24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00" y="977959"/>
            <a:ext cx="4342765" cy="48260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Recap: </a:t>
            </a:r>
            <a:r>
              <a:rPr sz="3000" spc="-35" dirty="0"/>
              <a:t>Vector</a:t>
            </a:r>
            <a:r>
              <a:rPr sz="3000" spc="-75" dirty="0"/>
              <a:t> </a:t>
            </a:r>
            <a:r>
              <a:rPr sz="3000" spc="-5" dirty="0"/>
              <a:t>derivatives</a:t>
            </a:r>
            <a:endParaRPr sz="3000"/>
          </a:p>
        </p:txBody>
      </p:sp>
      <p:sp>
        <p:nvSpPr>
          <p:cNvPr id="3" name="object 3"/>
          <p:cNvSpPr/>
          <p:nvPr/>
        </p:nvSpPr>
        <p:spPr>
          <a:xfrm>
            <a:off x="352309" y="2202048"/>
            <a:ext cx="1845729" cy="354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499" y="1641382"/>
            <a:ext cx="2170430" cy="13188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Scalar to</a:t>
            </a:r>
            <a:r>
              <a:rPr sz="2400" spc="-10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Scalar</a:t>
            </a:r>
            <a:endParaRPr sz="2400" dirty="0">
              <a:latin typeface="Garamond" panose="02020404030301010803" pitchFamily="18" charset="0"/>
              <a:cs typeface="Arial"/>
            </a:endParaRPr>
          </a:p>
          <a:p>
            <a:pPr>
              <a:lnSpc>
                <a:spcPct val="100000"/>
              </a:lnSpc>
            </a:pPr>
            <a:endParaRPr sz="2700" dirty="0">
              <a:latin typeface="Garamond" panose="02020404030301010803" pitchFamily="18" charset="0"/>
              <a:cs typeface="Arial"/>
            </a:endParaRPr>
          </a:p>
          <a:p>
            <a:pPr marL="184785">
              <a:spcBef>
                <a:spcPts val="204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Regular</a:t>
            </a:r>
            <a:r>
              <a:rPr spc="-45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derivative: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3363" y="3190536"/>
            <a:ext cx="963776" cy="652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82950" y="4082472"/>
            <a:ext cx="208343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If </a:t>
            </a:r>
            <a:r>
              <a:rPr dirty="0">
                <a:latin typeface="Garamond" panose="02020404030301010803" pitchFamily="18" charset="0"/>
                <a:cs typeface="Arial"/>
              </a:rPr>
              <a:t>x changes </a:t>
            </a:r>
            <a:r>
              <a:rPr spc="-5" dirty="0">
                <a:latin typeface="Garamond" panose="02020404030301010803" pitchFamily="18" charset="0"/>
                <a:cs typeface="Arial"/>
              </a:rPr>
              <a:t>by </a:t>
            </a:r>
            <a:r>
              <a:rPr dirty="0">
                <a:latin typeface="Garamond" panose="02020404030301010803" pitchFamily="18" charset="0"/>
                <a:cs typeface="Arial"/>
              </a:rPr>
              <a:t>a  small </a:t>
            </a:r>
            <a:r>
              <a:rPr spc="-5" dirty="0">
                <a:latin typeface="Garamond" panose="02020404030301010803" pitchFamily="18" charset="0"/>
                <a:cs typeface="Arial"/>
              </a:rPr>
              <a:t>amount, how  </a:t>
            </a:r>
            <a:r>
              <a:rPr dirty="0">
                <a:latin typeface="Garamond" panose="02020404030301010803" pitchFamily="18" charset="0"/>
                <a:cs typeface="Arial"/>
              </a:rPr>
              <a:t>much </a:t>
            </a:r>
            <a:r>
              <a:rPr spc="-5" dirty="0">
                <a:latin typeface="Garamond" panose="02020404030301010803" pitchFamily="18" charset="0"/>
                <a:cs typeface="Arial"/>
              </a:rPr>
              <a:t>will </a:t>
            </a:r>
            <a:r>
              <a:rPr dirty="0">
                <a:latin typeface="Garamond" panose="02020404030301010803" pitchFamily="18" charset="0"/>
                <a:cs typeface="Arial"/>
              </a:rPr>
              <a:t>y</a:t>
            </a:r>
            <a:r>
              <a:rPr spc="-105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change?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28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6A3252E-369A-412E-BC3D-037EBAA4528C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00" y="977959"/>
            <a:ext cx="4342765" cy="48260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Recap: </a:t>
            </a:r>
            <a:r>
              <a:rPr sz="3000" spc="-35" dirty="0"/>
              <a:t>Vector</a:t>
            </a:r>
            <a:r>
              <a:rPr sz="3000" spc="-75" dirty="0"/>
              <a:t> </a:t>
            </a:r>
            <a:r>
              <a:rPr sz="3000" spc="-5" dirty="0"/>
              <a:t>derivatives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95500" y="1641381"/>
            <a:ext cx="4878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717800" algn="l"/>
              </a:tabLst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Scalar</a:t>
            </a:r>
            <a:r>
              <a:rPr sz="24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to Scalar	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Vector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to</a:t>
            </a:r>
            <a:r>
              <a:rPr sz="24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Scalar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2309" y="2202048"/>
            <a:ext cx="1845729" cy="354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3363" y="3190536"/>
            <a:ext cx="963776" cy="652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849" y="2660401"/>
            <a:ext cx="1930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Regular</a:t>
            </a:r>
            <a:r>
              <a:rPr spc="-75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derivative: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950" y="4082472"/>
            <a:ext cx="208343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If </a:t>
            </a:r>
            <a:r>
              <a:rPr dirty="0">
                <a:latin typeface="Garamond" panose="02020404030301010803" pitchFamily="18" charset="0"/>
                <a:cs typeface="Arial"/>
              </a:rPr>
              <a:t>x changes </a:t>
            </a:r>
            <a:r>
              <a:rPr spc="-5" dirty="0">
                <a:latin typeface="Garamond" panose="02020404030301010803" pitchFamily="18" charset="0"/>
                <a:cs typeface="Arial"/>
              </a:rPr>
              <a:t>by </a:t>
            </a:r>
            <a:r>
              <a:rPr dirty="0">
                <a:latin typeface="Garamond" panose="02020404030301010803" pitchFamily="18" charset="0"/>
                <a:cs typeface="Arial"/>
              </a:rPr>
              <a:t>a  small </a:t>
            </a:r>
            <a:r>
              <a:rPr spc="-5" dirty="0">
                <a:latin typeface="Garamond" panose="02020404030301010803" pitchFamily="18" charset="0"/>
                <a:cs typeface="Arial"/>
              </a:rPr>
              <a:t>amount, how  </a:t>
            </a:r>
            <a:r>
              <a:rPr dirty="0">
                <a:latin typeface="Garamond" panose="02020404030301010803" pitchFamily="18" charset="0"/>
                <a:cs typeface="Arial"/>
              </a:rPr>
              <a:t>much </a:t>
            </a:r>
            <a:r>
              <a:rPr spc="-5" dirty="0">
                <a:latin typeface="Garamond" panose="02020404030301010803" pitchFamily="18" charset="0"/>
                <a:cs typeface="Arial"/>
              </a:rPr>
              <a:t>will </a:t>
            </a:r>
            <a:r>
              <a:rPr dirty="0">
                <a:latin typeface="Garamond" panose="02020404030301010803" pitchFamily="18" charset="0"/>
                <a:cs typeface="Arial"/>
              </a:rPr>
              <a:t>y</a:t>
            </a:r>
            <a:r>
              <a:rPr spc="-105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change?</a:t>
            </a:r>
          </a:p>
        </p:txBody>
      </p:sp>
      <p:sp>
        <p:nvSpPr>
          <p:cNvPr id="8" name="object 8"/>
          <p:cNvSpPr/>
          <p:nvPr/>
        </p:nvSpPr>
        <p:spPr>
          <a:xfrm>
            <a:off x="3100239" y="2204470"/>
            <a:ext cx="1930803" cy="3661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94393" y="3171912"/>
            <a:ext cx="1114322" cy="629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9950" y="2686100"/>
            <a:ext cx="233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Derivative is</a:t>
            </a:r>
            <a:r>
              <a:rPr spc="-55" dirty="0">
                <a:latin typeface="Garamond" panose="02020404030301010803" pitchFamily="18" charset="0"/>
                <a:cs typeface="Arial"/>
              </a:rPr>
              <a:t> </a:t>
            </a:r>
            <a:r>
              <a:rPr b="1" spc="-5" dirty="0">
                <a:latin typeface="Garamond" panose="02020404030301010803" pitchFamily="18" charset="0"/>
                <a:cs typeface="Arial"/>
              </a:rPr>
              <a:t>Gradient</a:t>
            </a:r>
            <a:r>
              <a:rPr spc="-5" dirty="0">
                <a:latin typeface="Garamond" panose="02020404030301010803" pitchFamily="18" charset="0"/>
                <a:cs typeface="Arial"/>
              </a:rPr>
              <a:t>: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9810" y="4082472"/>
            <a:ext cx="2399030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For each element of </a:t>
            </a:r>
            <a:r>
              <a:rPr dirty="0">
                <a:latin typeface="Garamond" panose="02020404030301010803" pitchFamily="18" charset="0"/>
                <a:cs typeface="Arial"/>
              </a:rPr>
              <a:t>x,  </a:t>
            </a:r>
            <a:r>
              <a:rPr spc="-5" dirty="0">
                <a:latin typeface="Garamond" panose="02020404030301010803" pitchFamily="18" charset="0"/>
                <a:cs typeface="Arial"/>
              </a:rPr>
              <a:t>if it </a:t>
            </a:r>
            <a:r>
              <a:rPr dirty="0">
                <a:latin typeface="Garamond" panose="02020404030301010803" pitchFamily="18" charset="0"/>
                <a:cs typeface="Arial"/>
              </a:rPr>
              <a:t>changes </a:t>
            </a:r>
            <a:r>
              <a:rPr spc="-5" dirty="0">
                <a:latin typeface="Garamond" panose="02020404030301010803" pitchFamily="18" charset="0"/>
                <a:cs typeface="Arial"/>
              </a:rPr>
              <a:t>by </a:t>
            </a:r>
            <a:r>
              <a:rPr dirty="0">
                <a:latin typeface="Garamond" panose="02020404030301010803" pitchFamily="18" charset="0"/>
                <a:cs typeface="Arial"/>
              </a:rPr>
              <a:t>a small  </a:t>
            </a:r>
            <a:r>
              <a:rPr spc="-5" dirty="0">
                <a:latin typeface="Garamond" panose="02020404030301010803" pitchFamily="18" charset="0"/>
                <a:cs typeface="Arial"/>
              </a:rPr>
              <a:t>amount then how</a:t>
            </a:r>
            <a:r>
              <a:rPr spc="-90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much  </a:t>
            </a:r>
            <a:r>
              <a:rPr spc="-5" dirty="0">
                <a:latin typeface="Garamond" panose="02020404030301010803" pitchFamily="18" charset="0"/>
                <a:cs typeface="Arial"/>
              </a:rPr>
              <a:t>will </a:t>
            </a:r>
            <a:r>
              <a:rPr dirty="0">
                <a:latin typeface="Garamond" panose="02020404030301010803" pitchFamily="18" charset="0"/>
                <a:cs typeface="Arial"/>
              </a:rPr>
              <a:t>y</a:t>
            </a:r>
            <a:r>
              <a:rPr spc="-20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change?</a:t>
            </a:r>
          </a:p>
        </p:txBody>
      </p:sp>
      <p:sp>
        <p:nvSpPr>
          <p:cNvPr id="12" name="object 12"/>
          <p:cNvSpPr/>
          <p:nvPr/>
        </p:nvSpPr>
        <p:spPr>
          <a:xfrm>
            <a:off x="3992167" y="3213514"/>
            <a:ext cx="1420358" cy="5606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29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AF4B9E-3306-4C72-93FB-75CFE1FD8B9C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000" y="977959"/>
            <a:ext cx="4342765" cy="48260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3000" spc="-5" dirty="0"/>
              <a:t>Recap: </a:t>
            </a:r>
            <a:r>
              <a:rPr sz="3000" spc="-35" dirty="0"/>
              <a:t>Vector</a:t>
            </a:r>
            <a:r>
              <a:rPr sz="3000" spc="-75" dirty="0"/>
              <a:t> </a:t>
            </a:r>
            <a:r>
              <a:rPr sz="3000" spc="-5" dirty="0"/>
              <a:t>derivatives</a:t>
            </a:r>
            <a:endParaRPr sz="3000"/>
          </a:p>
        </p:txBody>
      </p:sp>
      <p:sp>
        <p:nvSpPr>
          <p:cNvPr id="3" name="object 3"/>
          <p:cNvSpPr txBox="1"/>
          <p:nvPr/>
        </p:nvSpPr>
        <p:spPr>
          <a:xfrm>
            <a:off x="195500" y="1641381"/>
            <a:ext cx="487870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717800" algn="l"/>
              </a:tabLst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Scalar</a:t>
            </a:r>
            <a:r>
              <a:rPr sz="24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to Scalar	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Vector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to</a:t>
            </a:r>
            <a:r>
              <a:rPr sz="2400" spc="-50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Scalar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52309" y="2202048"/>
            <a:ext cx="1845729" cy="35494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83363" y="3190536"/>
            <a:ext cx="963776" cy="6528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67849" y="2660401"/>
            <a:ext cx="19304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Regular</a:t>
            </a:r>
            <a:r>
              <a:rPr spc="-75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derivative: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2950" y="4082472"/>
            <a:ext cx="2083435" cy="852169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If </a:t>
            </a:r>
            <a:r>
              <a:rPr dirty="0">
                <a:latin typeface="Garamond" panose="02020404030301010803" pitchFamily="18" charset="0"/>
                <a:cs typeface="Arial"/>
              </a:rPr>
              <a:t>x changes </a:t>
            </a:r>
            <a:r>
              <a:rPr spc="-5" dirty="0">
                <a:latin typeface="Garamond" panose="02020404030301010803" pitchFamily="18" charset="0"/>
                <a:cs typeface="Arial"/>
              </a:rPr>
              <a:t>by </a:t>
            </a:r>
            <a:r>
              <a:rPr dirty="0">
                <a:latin typeface="Garamond" panose="02020404030301010803" pitchFamily="18" charset="0"/>
                <a:cs typeface="Arial"/>
              </a:rPr>
              <a:t>a  small </a:t>
            </a:r>
            <a:r>
              <a:rPr spc="-5" dirty="0">
                <a:latin typeface="Garamond" panose="02020404030301010803" pitchFamily="18" charset="0"/>
                <a:cs typeface="Arial"/>
              </a:rPr>
              <a:t>amount, how  </a:t>
            </a:r>
            <a:r>
              <a:rPr dirty="0">
                <a:latin typeface="Garamond" panose="02020404030301010803" pitchFamily="18" charset="0"/>
                <a:cs typeface="Arial"/>
              </a:rPr>
              <a:t>much </a:t>
            </a:r>
            <a:r>
              <a:rPr spc="-5" dirty="0">
                <a:latin typeface="Garamond" panose="02020404030301010803" pitchFamily="18" charset="0"/>
                <a:cs typeface="Arial"/>
              </a:rPr>
              <a:t>will </a:t>
            </a:r>
            <a:r>
              <a:rPr dirty="0">
                <a:latin typeface="Garamond" panose="02020404030301010803" pitchFamily="18" charset="0"/>
                <a:cs typeface="Arial"/>
              </a:rPr>
              <a:t>y</a:t>
            </a:r>
            <a:r>
              <a:rPr spc="-105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change?</a:t>
            </a:r>
          </a:p>
        </p:txBody>
      </p:sp>
      <p:sp>
        <p:nvSpPr>
          <p:cNvPr id="8" name="object 8"/>
          <p:cNvSpPr/>
          <p:nvPr/>
        </p:nvSpPr>
        <p:spPr>
          <a:xfrm>
            <a:off x="3100239" y="2204470"/>
            <a:ext cx="1930803" cy="36618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694393" y="3171912"/>
            <a:ext cx="1114322" cy="62983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69950" y="2686100"/>
            <a:ext cx="23374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Derivative is</a:t>
            </a:r>
            <a:r>
              <a:rPr spc="-55" dirty="0">
                <a:latin typeface="Garamond" panose="02020404030301010803" pitchFamily="18" charset="0"/>
                <a:cs typeface="Arial"/>
              </a:rPr>
              <a:t> </a:t>
            </a:r>
            <a:r>
              <a:rPr b="1" spc="-5" dirty="0">
                <a:latin typeface="Garamond" panose="02020404030301010803" pitchFamily="18" charset="0"/>
                <a:cs typeface="Arial"/>
              </a:rPr>
              <a:t>Gradient</a:t>
            </a:r>
            <a:r>
              <a:rPr spc="-5" dirty="0">
                <a:latin typeface="Garamond" panose="02020404030301010803" pitchFamily="18" charset="0"/>
                <a:cs typeface="Arial"/>
              </a:rPr>
              <a:t>: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19810" y="4082472"/>
            <a:ext cx="2399030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 algn="just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For each element of </a:t>
            </a:r>
            <a:r>
              <a:rPr dirty="0">
                <a:latin typeface="Garamond" panose="02020404030301010803" pitchFamily="18" charset="0"/>
                <a:cs typeface="Arial"/>
              </a:rPr>
              <a:t>x,  </a:t>
            </a:r>
            <a:r>
              <a:rPr spc="-5" dirty="0">
                <a:latin typeface="Garamond" panose="02020404030301010803" pitchFamily="18" charset="0"/>
                <a:cs typeface="Arial"/>
              </a:rPr>
              <a:t>if it </a:t>
            </a:r>
            <a:r>
              <a:rPr dirty="0">
                <a:latin typeface="Garamond" panose="02020404030301010803" pitchFamily="18" charset="0"/>
                <a:cs typeface="Arial"/>
              </a:rPr>
              <a:t>changes </a:t>
            </a:r>
            <a:r>
              <a:rPr spc="-5" dirty="0">
                <a:latin typeface="Garamond" panose="02020404030301010803" pitchFamily="18" charset="0"/>
                <a:cs typeface="Arial"/>
              </a:rPr>
              <a:t>by </a:t>
            </a:r>
            <a:r>
              <a:rPr dirty="0">
                <a:latin typeface="Garamond" panose="02020404030301010803" pitchFamily="18" charset="0"/>
                <a:cs typeface="Arial"/>
              </a:rPr>
              <a:t>a small  </a:t>
            </a:r>
            <a:r>
              <a:rPr spc="-5" dirty="0">
                <a:latin typeface="Garamond" panose="02020404030301010803" pitchFamily="18" charset="0"/>
                <a:cs typeface="Arial"/>
              </a:rPr>
              <a:t>amount then how</a:t>
            </a:r>
            <a:r>
              <a:rPr spc="-90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much  </a:t>
            </a:r>
            <a:r>
              <a:rPr spc="-5" dirty="0">
                <a:latin typeface="Garamond" panose="02020404030301010803" pitchFamily="18" charset="0"/>
                <a:cs typeface="Arial"/>
              </a:rPr>
              <a:t>will </a:t>
            </a:r>
            <a:r>
              <a:rPr dirty="0">
                <a:latin typeface="Garamond" panose="02020404030301010803" pitchFamily="18" charset="0"/>
                <a:cs typeface="Arial"/>
              </a:rPr>
              <a:t>y</a:t>
            </a:r>
            <a:r>
              <a:rPr spc="-20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change?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6216038" y="1641381"/>
            <a:ext cx="2174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30" dirty="0">
                <a:latin typeface="Garamond" panose="02020404030301010803" pitchFamily="18" charset="0"/>
                <a:cs typeface="Arial"/>
              </a:rPr>
              <a:t>Vector </a:t>
            </a:r>
            <a:r>
              <a:rPr sz="2400" spc="-5" dirty="0">
                <a:latin typeface="Garamond" panose="02020404030301010803" pitchFamily="18" charset="0"/>
                <a:cs typeface="Arial"/>
              </a:rPr>
              <a:t>to</a:t>
            </a:r>
            <a:r>
              <a:rPr sz="2400" spc="-30" dirty="0">
                <a:latin typeface="Garamond" panose="02020404030301010803" pitchFamily="18" charset="0"/>
                <a:cs typeface="Arial"/>
              </a:rPr>
              <a:t> Vector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992167" y="3213514"/>
            <a:ext cx="1420358" cy="5606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232924" y="2184533"/>
            <a:ext cx="2139417" cy="37439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159508" y="2686090"/>
            <a:ext cx="238887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Derivative is</a:t>
            </a:r>
            <a:r>
              <a:rPr spc="-65" dirty="0">
                <a:latin typeface="Garamond" panose="02020404030301010803" pitchFamily="18" charset="0"/>
                <a:cs typeface="Arial"/>
              </a:rPr>
              <a:t> </a:t>
            </a:r>
            <a:r>
              <a:rPr b="1" spc="-5" dirty="0">
                <a:latin typeface="Garamond" panose="02020404030301010803" pitchFamily="18" charset="0"/>
                <a:cs typeface="Arial"/>
              </a:rPr>
              <a:t>Jacobian</a:t>
            </a:r>
            <a:r>
              <a:rPr spc="-5" dirty="0">
                <a:latin typeface="Garamond" panose="02020404030301010803" pitchFamily="18" charset="0"/>
                <a:cs typeface="Arial"/>
              </a:rPr>
              <a:t>: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5722263" y="3215371"/>
            <a:ext cx="1330710" cy="54058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7175686" y="3106297"/>
            <a:ext cx="1789036" cy="65055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5928041" y="4074338"/>
            <a:ext cx="2807335" cy="112839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700" marR="508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latin typeface="Garamond" panose="02020404030301010803" pitchFamily="18" charset="0"/>
                <a:cs typeface="Arial"/>
              </a:rPr>
              <a:t>For each element of </a:t>
            </a:r>
            <a:r>
              <a:rPr dirty="0">
                <a:latin typeface="Garamond" panose="02020404030301010803" pitchFamily="18" charset="0"/>
                <a:cs typeface="Arial"/>
              </a:rPr>
              <a:t>x, </a:t>
            </a:r>
            <a:r>
              <a:rPr spc="-5" dirty="0">
                <a:latin typeface="Garamond" panose="02020404030301010803" pitchFamily="18" charset="0"/>
                <a:cs typeface="Arial"/>
              </a:rPr>
              <a:t>if it  </a:t>
            </a:r>
            <a:r>
              <a:rPr dirty="0">
                <a:latin typeface="Garamond" panose="02020404030301010803" pitchFamily="18" charset="0"/>
                <a:cs typeface="Arial"/>
              </a:rPr>
              <a:t>changes </a:t>
            </a:r>
            <a:r>
              <a:rPr spc="-5" dirty="0">
                <a:latin typeface="Garamond" panose="02020404030301010803" pitchFamily="18" charset="0"/>
                <a:cs typeface="Arial"/>
              </a:rPr>
              <a:t>by </a:t>
            </a:r>
            <a:r>
              <a:rPr dirty="0">
                <a:latin typeface="Garamond" panose="02020404030301010803" pitchFamily="18" charset="0"/>
                <a:cs typeface="Arial"/>
              </a:rPr>
              <a:t>a small</a:t>
            </a:r>
            <a:r>
              <a:rPr spc="-110" dirty="0"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latin typeface="Garamond" panose="02020404030301010803" pitchFamily="18" charset="0"/>
                <a:cs typeface="Arial"/>
              </a:rPr>
              <a:t>amount  then how </a:t>
            </a:r>
            <a:r>
              <a:rPr dirty="0">
                <a:latin typeface="Garamond" panose="02020404030301010803" pitchFamily="18" charset="0"/>
                <a:cs typeface="Arial"/>
              </a:rPr>
              <a:t>much </a:t>
            </a:r>
            <a:r>
              <a:rPr spc="-5" dirty="0">
                <a:latin typeface="Garamond" panose="02020404030301010803" pitchFamily="18" charset="0"/>
                <a:cs typeface="Arial"/>
              </a:rPr>
              <a:t>will each  element of </a:t>
            </a:r>
            <a:r>
              <a:rPr dirty="0">
                <a:latin typeface="Garamond" panose="02020404030301010803" pitchFamily="18" charset="0"/>
                <a:cs typeface="Arial"/>
              </a:rPr>
              <a:t>y</a:t>
            </a:r>
            <a:r>
              <a:rPr spc="-30" dirty="0"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latin typeface="Garamond" panose="02020404030301010803" pitchFamily="18" charset="0"/>
                <a:cs typeface="Arial"/>
              </a:rPr>
              <a:t>change?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30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3398C14-BA47-4600-8C90-72CA420A1914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433" y="325844"/>
            <a:ext cx="7903134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pc="-190" dirty="0"/>
              <a:t>G</a:t>
            </a:r>
            <a:r>
              <a:rPr spc="-124" dirty="0"/>
              <a:t>r</a:t>
            </a:r>
            <a:r>
              <a:rPr spc="-119" dirty="0"/>
              <a:t>a</a:t>
            </a:r>
            <a:r>
              <a:rPr spc="-128" dirty="0"/>
              <a:t>d</a:t>
            </a:r>
            <a:r>
              <a:rPr spc="-154" dirty="0"/>
              <a:t>i</a:t>
            </a:r>
            <a:r>
              <a:rPr spc="-176" dirty="0"/>
              <a:t>e</a:t>
            </a:r>
            <a:r>
              <a:rPr spc="-190" dirty="0"/>
              <a:t>n</a:t>
            </a:r>
            <a:r>
              <a:rPr spc="-141" dirty="0"/>
              <a:t>t</a:t>
            </a:r>
            <a:r>
              <a:rPr spc="-97" dirty="0"/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433" y="1233242"/>
            <a:ext cx="6392396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2656" indent="-431449">
              <a:spcBef>
                <a:spcPts val="88"/>
              </a:spcBef>
              <a:buClr>
                <a:srgbClr val="CC0000"/>
              </a:buClr>
              <a:buChar char="•"/>
              <a:tabLst>
                <a:tab pos="442096" algn="l"/>
                <a:tab pos="442656" algn="l"/>
              </a:tabLst>
            </a:pPr>
            <a:r>
              <a:rPr sz="2647" spc="-154" dirty="0">
                <a:latin typeface="Garamond" panose="02020404030301010803" pitchFamily="18" charset="0"/>
                <a:cs typeface="Arial"/>
              </a:rPr>
              <a:t>Given </a:t>
            </a:r>
            <a:r>
              <a:rPr sz="2647" spc="-207" dirty="0">
                <a:latin typeface="Garamond" panose="02020404030301010803" pitchFamily="18" charset="0"/>
                <a:cs typeface="Arial"/>
              </a:rPr>
              <a:t>a </a:t>
            </a:r>
            <a:r>
              <a:rPr sz="2647" spc="-40" dirty="0">
                <a:latin typeface="Garamond" panose="02020404030301010803" pitchFamily="18" charset="0"/>
                <a:cs typeface="Arial"/>
              </a:rPr>
              <a:t>function </a:t>
            </a:r>
            <a:r>
              <a:rPr sz="2647" spc="9" dirty="0">
                <a:latin typeface="Garamond" panose="02020404030301010803" pitchFamily="18" charset="0"/>
                <a:cs typeface="Arial"/>
              </a:rPr>
              <a:t>with </a:t>
            </a:r>
            <a:r>
              <a:rPr sz="2647" spc="-132" dirty="0">
                <a:latin typeface="Garamond" panose="02020404030301010803" pitchFamily="18" charset="0"/>
                <a:cs typeface="Arial"/>
              </a:rPr>
              <a:t>1 </a:t>
            </a:r>
            <a:r>
              <a:rPr sz="2647" spc="-9" dirty="0">
                <a:latin typeface="Garamond" panose="02020404030301010803" pitchFamily="18" charset="0"/>
                <a:cs typeface="Arial"/>
              </a:rPr>
              <a:t>output </a:t>
            </a:r>
            <a:r>
              <a:rPr sz="2647" spc="-128" dirty="0">
                <a:latin typeface="Garamond" panose="02020404030301010803" pitchFamily="18" charset="0"/>
                <a:cs typeface="Arial"/>
              </a:rPr>
              <a:t>and </a:t>
            </a:r>
            <a:r>
              <a:rPr sz="2647" i="1" spc="-88" dirty="0">
                <a:latin typeface="Trebuchet MS"/>
                <a:cs typeface="Trebuchet MS"/>
              </a:rPr>
              <a:t>n</a:t>
            </a:r>
            <a:r>
              <a:rPr sz="2647" i="1" spc="-499" dirty="0">
                <a:latin typeface="Trebuchet MS"/>
                <a:cs typeface="Trebuchet MS"/>
              </a:rPr>
              <a:t> </a:t>
            </a:r>
            <a:r>
              <a:rPr sz="2647" spc="-66" dirty="0">
                <a:latin typeface="Garamond" panose="02020404030301010803" pitchFamily="18" charset="0"/>
                <a:cs typeface="Arial"/>
              </a:rPr>
              <a:t>inputs</a:t>
            </a:r>
            <a:endParaRPr sz="2647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0433" y="3094315"/>
            <a:ext cx="7105089" cy="826026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2096" marR="4483" indent="-431449">
              <a:spcBef>
                <a:spcPts val="88"/>
              </a:spcBef>
              <a:buClr>
                <a:srgbClr val="CC0000"/>
              </a:buClr>
              <a:buChar char="•"/>
              <a:tabLst>
                <a:tab pos="442096" algn="l"/>
                <a:tab pos="442656" algn="l"/>
              </a:tabLst>
            </a:pPr>
            <a:r>
              <a:rPr sz="2647" spc="-40" dirty="0">
                <a:latin typeface="Garamond" panose="02020404030301010803" pitchFamily="18" charset="0"/>
                <a:cs typeface="Arial"/>
              </a:rPr>
              <a:t>Its </a:t>
            </a:r>
            <a:r>
              <a:rPr sz="2647" spc="-75" dirty="0">
                <a:latin typeface="Garamond" panose="02020404030301010803" pitchFamily="18" charset="0"/>
                <a:cs typeface="Arial"/>
              </a:rPr>
              <a:t>gradient </a:t>
            </a:r>
            <a:r>
              <a:rPr sz="2647" spc="-141" dirty="0">
                <a:latin typeface="Garamond" panose="02020404030301010803" pitchFamily="18" charset="0"/>
                <a:cs typeface="Arial"/>
              </a:rPr>
              <a:t>is </a:t>
            </a:r>
            <a:r>
              <a:rPr sz="2647" spc="-207" dirty="0">
                <a:latin typeface="Garamond" panose="02020404030301010803" pitchFamily="18" charset="0"/>
                <a:cs typeface="Arial"/>
              </a:rPr>
              <a:t>a </a:t>
            </a:r>
            <a:r>
              <a:rPr sz="2647" spc="-71" dirty="0">
                <a:latin typeface="Garamond" panose="02020404030301010803" pitchFamily="18" charset="0"/>
                <a:cs typeface="Arial"/>
              </a:rPr>
              <a:t>vector </a:t>
            </a:r>
            <a:r>
              <a:rPr sz="2647" spc="-9" dirty="0">
                <a:latin typeface="Garamond" panose="02020404030301010803" pitchFamily="18" charset="0"/>
                <a:cs typeface="Arial"/>
              </a:rPr>
              <a:t>of </a:t>
            </a:r>
            <a:r>
              <a:rPr sz="2647" spc="-44" dirty="0">
                <a:latin typeface="Garamond" panose="02020404030301010803" pitchFamily="18" charset="0"/>
                <a:cs typeface="Arial"/>
              </a:rPr>
              <a:t>partial </a:t>
            </a:r>
            <a:r>
              <a:rPr sz="2647" spc="-88" dirty="0">
                <a:latin typeface="Garamond" panose="02020404030301010803" pitchFamily="18" charset="0"/>
                <a:cs typeface="Arial"/>
              </a:rPr>
              <a:t>derivatives</a:t>
            </a:r>
            <a:r>
              <a:rPr sz="2647" spc="-490" dirty="0">
                <a:latin typeface="Garamond" panose="02020404030301010803" pitchFamily="18" charset="0"/>
                <a:cs typeface="Arial"/>
              </a:rPr>
              <a:t> </a:t>
            </a:r>
            <a:r>
              <a:rPr sz="2647" spc="9" dirty="0">
                <a:latin typeface="Garamond" panose="02020404030301010803" pitchFamily="18" charset="0"/>
                <a:cs typeface="Arial"/>
              </a:rPr>
              <a:t>with  </a:t>
            </a:r>
            <a:r>
              <a:rPr sz="2647" spc="-106" dirty="0">
                <a:latin typeface="Garamond" panose="02020404030301010803" pitchFamily="18" charset="0"/>
                <a:cs typeface="Arial"/>
              </a:rPr>
              <a:t>respect </a:t>
            </a:r>
            <a:r>
              <a:rPr sz="2647" spc="35" dirty="0">
                <a:latin typeface="Garamond" panose="02020404030301010803" pitchFamily="18" charset="0"/>
                <a:cs typeface="Arial"/>
              </a:rPr>
              <a:t>to </a:t>
            </a:r>
            <a:r>
              <a:rPr sz="2647" spc="-168" dirty="0">
                <a:latin typeface="Garamond" panose="02020404030301010803" pitchFamily="18" charset="0"/>
                <a:cs typeface="Arial"/>
              </a:rPr>
              <a:t>each</a:t>
            </a:r>
            <a:r>
              <a:rPr sz="2647" spc="-349" dirty="0">
                <a:latin typeface="Garamond" panose="02020404030301010803" pitchFamily="18" charset="0"/>
                <a:cs typeface="Arial"/>
              </a:rPr>
              <a:t> </a:t>
            </a:r>
            <a:r>
              <a:rPr sz="2647" spc="-18" dirty="0">
                <a:latin typeface="Garamond" panose="02020404030301010803" pitchFamily="18" charset="0"/>
                <a:cs typeface="Arial"/>
              </a:rPr>
              <a:t>input</a:t>
            </a:r>
            <a:endParaRPr sz="2647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067247" y="1874072"/>
            <a:ext cx="4343400" cy="441064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7248" y="4437080"/>
            <a:ext cx="4849009" cy="103542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277028-1800-4A2D-B969-F50703203F4A}"/>
              </a:ext>
            </a:extLst>
          </p:cNvPr>
          <p:cNvSpPr txBox="1"/>
          <p:nvPr/>
        </p:nvSpPr>
        <p:spPr>
          <a:xfrm>
            <a:off x="0" y="6604084"/>
            <a:ext cx="14686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200" dirty="0">
                <a:latin typeface="Garamond" panose="02020404030301010803" pitchFamily="18" charset="0"/>
              </a:rPr>
              <a:t>Christopher Manning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Garamond" panose="02020404030301010803" pitchFamily="18" charset="0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0" y="387399"/>
            <a:ext cx="9144000" cy="565313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3600" spc="-202" dirty="0"/>
              <a:t>Jacobian </a:t>
            </a:r>
            <a:r>
              <a:rPr sz="3600" spc="-110" dirty="0"/>
              <a:t>Matrix: </a:t>
            </a:r>
            <a:r>
              <a:rPr sz="3600" spc="-168" dirty="0"/>
              <a:t>Generalization </a:t>
            </a:r>
            <a:r>
              <a:rPr sz="3600" spc="-119" dirty="0"/>
              <a:t>of </a:t>
            </a:r>
            <a:r>
              <a:rPr sz="3600" spc="-154" dirty="0"/>
              <a:t>Gradient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431" y="1233242"/>
            <a:ext cx="8071747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2656" indent="-431449">
              <a:spcBef>
                <a:spcPts val="88"/>
              </a:spcBef>
              <a:buClr>
                <a:srgbClr val="CC0000"/>
              </a:buClr>
              <a:buChar char="•"/>
              <a:tabLst>
                <a:tab pos="442096" algn="l"/>
                <a:tab pos="442656" algn="l"/>
              </a:tabLst>
            </a:pPr>
            <a:r>
              <a:rPr sz="2647" dirty="0">
                <a:latin typeface="Garamond" panose="02020404030301010803" pitchFamily="18" charset="0"/>
                <a:cs typeface="Arial"/>
              </a:rPr>
              <a:t>Given a function with </a:t>
            </a:r>
            <a:r>
              <a:rPr sz="2647" b="1" i="1" dirty="0">
                <a:latin typeface="Trebuchet MS"/>
                <a:cs typeface="Trebuchet MS"/>
              </a:rPr>
              <a:t>m </a:t>
            </a:r>
            <a:r>
              <a:rPr sz="2647" b="1" dirty="0">
                <a:latin typeface="Trebuchet MS"/>
                <a:cs typeface="Trebuchet MS"/>
              </a:rPr>
              <a:t>outputs </a:t>
            </a:r>
            <a:r>
              <a:rPr sz="2647" dirty="0">
                <a:latin typeface="Garamond" panose="02020404030301010803" pitchFamily="18" charset="0"/>
                <a:cs typeface="Arial"/>
              </a:rPr>
              <a:t>and </a:t>
            </a:r>
            <a:r>
              <a:rPr sz="2647" i="1" dirty="0">
                <a:latin typeface="Trebuchet MS"/>
                <a:cs typeface="Trebuchet MS"/>
              </a:rPr>
              <a:t>n </a:t>
            </a:r>
            <a:r>
              <a:rPr sz="2647" dirty="0">
                <a:latin typeface="Garamond" panose="02020404030301010803" pitchFamily="18" charset="0"/>
                <a:cs typeface="Arial"/>
              </a:rPr>
              <a:t>inputs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620433" y="3094315"/>
            <a:ext cx="8415991" cy="41867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2656" indent="-431449">
              <a:spcBef>
                <a:spcPts val="88"/>
              </a:spcBef>
              <a:buClr>
                <a:srgbClr val="CC0000"/>
              </a:buClr>
              <a:buChar char="•"/>
              <a:tabLst>
                <a:tab pos="442096" algn="l"/>
                <a:tab pos="442656" algn="l"/>
              </a:tabLst>
            </a:pPr>
            <a:r>
              <a:rPr sz="2647" dirty="0">
                <a:latin typeface="Garamond" panose="02020404030301010803" pitchFamily="18" charset="0"/>
                <a:cs typeface="Arial"/>
              </a:rPr>
              <a:t>Its Jacobian is an </a:t>
            </a:r>
            <a:r>
              <a:rPr sz="2647" b="1" i="1" dirty="0">
                <a:latin typeface="Trebuchet MS"/>
                <a:cs typeface="Trebuchet MS"/>
              </a:rPr>
              <a:t>m </a:t>
            </a:r>
            <a:r>
              <a:rPr sz="2647" b="1" dirty="0">
                <a:latin typeface="Trebuchet MS"/>
                <a:cs typeface="Trebuchet MS"/>
              </a:rPr>
              <a:t>x </a:t>
            </a:r>
            <a:r>
              <a:rPr sz="2647" b="1" i="1" dirty="0">
                <a:latin typeface="Trebuchet MS"/>
                <a:cs typeface="Trebuchet MS"/>
              </a:rPr>
              <a:t>n </a:t>
            </a:r>
            <a:r>
              <a:rPr sz="2647" b="1" dirty="0">
                <a:latin typeface="Trebuchet MS"/>
                <a:cs typeface="Trebuchet MS"/>
              </a:rPr>
              <a:t>matrix </a:t>
            </a:r>
            <a:r>
              <a:rPr sz="2647" dirty="0">
                <a:latin typeface="Garamond" panose="02020404030301010803" pitchFamily="18" charset="0"/>
                <a:cs typeface="Arial"/>
              </a:rPr>
              <a:t>of partial derivatives</a:t>
            </a:r>
          </a:p>
        </p:txBody>
      </p:sp>
      <p:sp>
        <p:nvSpPr>
          <p:cNvPr id="5" name="object 5"/>
          <p:cNvSpPr/>
          <p:nvPr/>
        </p:nvSpPr>
        <p:spPr>
          <a:xfrm>
            <a:off x="1067248" y="1841799"/>
            <a:ext cx="7331336" cy="3711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067247" y="3753971"/>
            <a:ext cx="3853927" cy="16916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grpSp>
        <p:nvGrpSpPr>
          <p:cNvPr id="7" name="object 7"/>
          <p:cNvGrpSpPr/>
          <p:nvPr/>
        </p:nvGrpSpPr>
        <p:grpSpPr>
          <a:xfrm>
            <a:off x="5954141" y="4187455"/>
            <a:ext cx="2086535" cy="938493"/>
            <a:chOff x="6595626" y="4745782"/>
            <a:chExt cx="2364740" cy="1063625"/>
          </a:xfrm>
        </p:grpSpPr>
        <p:sp>
          <p:nvSpPr>
            <p:cNvPr id="8" name="object 8"/>
            <p:cNvSpPr/>
            <p:nvPr/>
          </p:nvSpPr>
          <p:spPr>
            <a:xfrm>
              <a:off x="6790436" y="4909819"/>
              <a:ext cx="1883664" cy="75590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6616014" y="4766170"/>
              <a:ext cx="2323465" cy="1022985"/>
            </a:xfrm>
            <a:custGeom>
              <a:avLst/>
              <a:gdLst/>
              <a:ahLst/>
              <a:cxnLst/>
              <a:rect l="l" t="t" r="r" b="b"/>
              <a:pathLst>
                <a:path w="2323465" h="1022985">
                  <a:moveTo>
                    <a:pt x="0" y="0"/>
                  </a:moveTo>
                  <a:lnTo>
                    <a:pt x="2323388" y="0"/>
                  </a:lnTo>
                  <a:lnTo>
                    <a:pt x="2323388" y="1022374"/>
                  </a:lnTo>
                  <a:lnTo>
                    <a:pt x="0" y="1022374"/>
                  </a:lnTo>
                  <a:lnTo>
                    <a:pt x="0" y="0"/>
                  </a:lnTo>
                  <a:close/>
                </a:path>
              </a:pathLst>
            </a:custGeom>
            <a:ln w="40775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425BA402-CB73-4D99-A717-25F830B89856}"/>
              </a:ext>
            </a:extLst>
          </p:cNvPr>
          <p:cNvSpPr txBox="1"/>
          <p:nvPr/>
        </p:nvSpPr>
        <p:spPr>
          <a:xfrm>
            <a:off x="0" y="6604084"/>
            <a:ext cx="13083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050" dirty="0">
                <a:latin typeface="Garamond" panose="02020404030301010803" pitchFamily="18" charset="0"/>
              </a:rPr>
              <a:t>Christopher Manning</a:t>
            </a:r>
            <a:endParaRPr lang="en-US" sz="105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433" y="325844"/>
            <a:ext cx="7903134" cy="688424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pc="-168" dirty="0"/>
              <a:t>Chain</a:t>
            </a:r>
            <a:r>
              <a:rPr spc="-274" dirty="0"/>
              <a:t> </a:t>
            </a:r>
            <a:r>
              <a:rPr spc="-168" dirty="0"/>
              <a:t>Rule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20433" y="1296931"/>
            <a:ext cx="6039410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2656" indent="-431449">
              <a:spcBef>
                <a:spcPts val="88"/>
              </a:spcBef>
              <a:buClr>
                <a:srgbClr val="CC0000"/>
              </a:buClr>
              <a:buChar char="•"/>
              <a:tabLst>
                <a:tab pos="442096" algn="l"/>
                <a:tab pos="442656" algn="l"/>
              </a:tabLst>
            </a:pPr>
            <a:r>
              <a:rPr sz="2294" spc="-141" dirty="0">
                <a:latin typeface="Garamond" panose="02020404030301010803" pitchFamily="18" charset="0"/>
                <a:cs typeface="Arial"/>
              </a:rPr>
              <a:t>For </a:t>
            </a:r>
            <a:r>
              <a:rPr sz="2294" spc="-93" dirty="0">
                <a:latin typeface="Garamond" panose="02020404030301010803" pitchFamily="18" charset="0"/>
                <a:cs typeface="Arial"/>
              </a:rPr>
              <a:t>one-variable </a:t>
            </a:r>
            <a:r>
              <a:rPr sz="2294" spc="-66" dirty="0">
                <a:latin typeface="Garamond" panose="02020404030301010803" pitchFamily="18" charset="0"/>
                <a:cs typeface="Arial"/>
              </a:rPr>
              <a:t>functions: </a:t>
            </a:r>
            <a:r>
              <a:rPr sz="2294" b="1" spc="-132" dirty="0">
                <a:latin typeface="Trebuchet MS"/>
                <a:cs typeface="Trebuchet MS"/>
              </a:rPr>
              <a:t>multiply</a:t>
            </a:r>
            <a:r>
              <a:rPr sz="2294" b="1" spc="-331" dirty="0">
                <a:latin typeface="Trebuchet MS"/>
                <a:cs typeface="Trebuchet MS"/>
              </a:rPr>
              <a:t> </a:t>
            </a:r>
            <a:r>
              <a:rPr sz="2294" b="1" spc="-137" dirty="0">
                <a:latin typeface="Trebuchet MS"/>
                <a:cs typeface="Trebuchet MS"/>
              </a:rPr>
              <a:t>derivatives</a:t>
            </a:r>
            <a:endParaRPr sz="2294" dirty="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0433" y="3539901"/>
            <a:ext cx="6257365" cy="364361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442656" indent="-431449">
              <a:spcBef>
                <a:spcPts val="88"/>
              </a:spcBef>
              <a:buClr>
                <a:srgbClr val="CC0000"/>
              </a:buClr>
              <a:buChar char="•"/>
              <a:tabLst>
                <a:tab pos="442096" algn="l"/>
                <a:tab pos="442656" algn="l"/>
              </a:tabLst>
            </a:pPr>
            <a:r>
              <a:rPr sz="2294" spc="-141" dirty="0">
                <a:latin typeface="Garamond" panose="02020404030301010803" pitchFamily="18" charset="0"/>
                <a:cs typeface="Arial"/>
              </a:rPr>
              <a:t>For </a:t>
            </a:r>
            <a:r>
              <a:rPr sz="2294" spc="-35" dirty="0">
                <a:latin typeface="Garamond" panose="02020404030301010803" pitchFamily="18" charset="0"/>
                <a:cs typeface="Arial"/>
              </a:rPr>
              <a:t>multiple </a:t>
            </a:r>
            <a:r>
              <a:rPr sz="2294" spc="-106" dirty="0">
                <a:latin typeface="Garamond" panose="02020404030301010803" pitchFamily="18" charset="0"/>
                <a:cs typeface="Arial"/>
              </a:rPr>
              <a:t>variables </a:t>
            </a:r>
            <a:r>
              <a:rPr sz="2294" spc="-31" dirty="0">
                <a:latin typeface="Garamond" panose="02020404030301010803" pitchFamily="18" charset="0"/>
                <a:cs typeface="Arial"/>
              </a:rPr>
              <a:t>at </a:t>
            </a:r>
            <a:r>
              <a:rPr sz="2294" spc="-110" dirty="0">
                <a:latin typeface="Garamond" panose="02020404030301010803" pitchFamily="18" charset="0"/>
                <a:cs typeface="Arial"/>
              </a:rPr>
              <a:t>once: </a:t>
            </a:r>
            <a:r>
              <a:rPr sz="2294" b="1" spc="-132" dirty="0">
                <a:latin typeface="Trebuchet MS"/>
                <a:cs typeface="Trebuchet MS"/>
              </a:rPr>
              <a:t>multiply</a:t>
            </a:r>
            <a:r>
              <a:rPr sz="2294" b="1" spc="-534" dirty="0">
                <a:latin typeface="Trebuchet MS"/>
                <a:cs typeface="Trebuchet MS"/>
              </a:rPr>
              <a:t> </a:t>
            </a:r>
            <a:r>
              <a:rPr sz="2294" b="1" spc="-163" dirty="0">
                <a:latin typeface="Trebuchet MS"/>
                <a:cs typeface="Trebuchet MS"/>
              </a:rPr>
              <a:t>Jacobians</a:t>
            </a:r>
            <a:endParaRPr sz="2294" dirty="0">
              <a:latin typeface="Trebuchet MS"/>
              <a:cs typeface="Trebuchet MS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414182" y="4195033"/>
            <a:ext cx="2659828" cy="172660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1414182" y="1769184"/>
            <a:ext cx="3601122" cy="158406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F3DBFB-D85E-4E3B-9707-F60E88ED0571}"/>
              </a:ext>
            </a:extLst>
          </p:cNvPr>
          <p:cNvSpPr txBox="1"/>
          <p:nvPr/>
        </p:nvSpPr>
        <p:spPr>
          <a:xfrm>
            <a:off x="0" y="6604084"/>
            <a:ext cx="13083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050" dirty="0">
                <a:latin typeface="Garamond" panose="02020404030301010803" pitchFamily="18" charset="0"/>
              </a:rPr>
              <a:t>Christopher Manning</a:t>
            </a:r>
            <a:endParaRPr lang="en-US" sz="105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433" y="475499"/>
            <a:ext cx="7456394" cy="432200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168" dirty="0"/>
              <a:t>Example </a:t>
            </a:r>
            <a:r>
              <a:rPr sz="2735" spc="-199" dirty="0"/>
              <a:t>Jacobian: </a:t>
            </a:r>
            <a:r>
              <a:rPr sz="2735" spc="-159" dirty="0"/>
              <a:t>Elementwise </a:t>
            </a:r>
            <a:r>
              <a:rPr sz="2735" spc="-146" dirty="0"/>
              <a:t>activation</a:t>
            </a:r>
            <a:r>
              <a:rPr sz="2735" spc="-304" dirty="0"/>
              <a:t> </a:t>
            </a:r>
            <a:r>
              <a:rPr sz="2735" spc="-180" dirty="0"/>
              <a:t>Function</a:t>
            </a:r>
            <a:endParaRPr sz="2735"/>
          </a:p>
        </p:txBody>
      </p:sp>
      <p:grpSp>
        <p:nvGrpSpPr>
          <p:cNvPr id="3" name="object 3"/>
          <p:cNvGrpSpPr/>
          <p:nvPr/>
        </p:nvGrpSpPr>
        <p:grpSpPr>
          <a:xfrm>
            <a:off x="849405" y="1155999"/>
            <a:ext cx="6059581" cy="1081368"/>
            <a:chOff x="810259" y="1310132"/>
            <a:chExt cx="6867525" cy="1225550"/>
          </a:xfrm>
        </p:grpSpPr>
        <p:sp>
          <p:nvSpPr>
            <p:cNvPr id="4" name="object 4"/>
            <p:cNvSpPr/>
            <p:nvPr/>
          </p:nvSpPr>
          <p:spPr>
            <a:xfrm>
              <a:off x="810259" y="1310132"/>
              <a:ext cx="6867144" cy="8229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0259" y="2130044"/>
              <a:ext cx="1709927" cy="4053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8C69931C-4EA1-487F-B90A-52E50D5BB89B}"/>
              </a:ext>
            </a:extLst>
          </p:cNvPr>
          <p:cNvSpPr txBox="1"/>
          <p:nvPr/>
        </p:nvSpPr>
        <p:spPr>
          <a:xfrm>
            <a:off x="0" y="6604084"/>
            <a:ext cx="13083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050" dirty="0">
                <a:latin typeface="Garamond" panose="02020404030301010803" pitchFamily="18" charset="0"/>
              </a:rPr>
              <a:t>Christopher Manning</a:t>
            </a:r>
            <a:endParaRPr lang="en-US" sz="105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849405" y="1155999"/>
            <a:ext cx="6059581" cy="1081368"/>
            <a:chOff x="810259" y="1310132"/>
            <a:chExt cx="6867525" cy="1225550"/>
          </a:xfrm>
        </p:grpSpPr>
        <p:sp>
          <p:nvSpPr>
            <p:cNvPr id="4" name="object 4"/>
            <p:cNvSpPr/>
            <p:nvPr/>
          </p:nvSpPr>
          <p:spPr>
            <a:xfrm>
              <a:off x="810259" y="1310132"/>
              <a:ext cx="6867144" cy="82296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0259" y="2130044"/>
              <a:ext cx="1709927" cy="405384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28408" y="3157086"/>
            <a:ext cx="6885454" cy="391548"/>
          </a:xfrm>
          <a:prstGeom prst="rect">
            <a:avLst/>
          </a:prstGeom>
        </p:spPr>
        <p:txBody>
          <a:bodyPr vert="horz" wrap="square" lIns="0" tIns="11206" rIns="0" bIns="0" rtlCol="0">
            <a:spAutoFit/>
          </a:bodyPr>
          <a:lstStyle/>
          <a:p>
            <a:pPr marL="11206">
              <a:spcBef>
                <a:spcPts val="88"/>
              </a:spcBef>
            </a:pPr>
            <a:r>
              <a:rPr sz="2471" spc="-97" dirty="0">
                <a:latin typeface="Garamond" panose="02020404030301010803" pitchFamily="18" charset="0"/>
                <a:cs typeface="Arial"/>
              </a:rPr>
              <a:t>Function</a:t>
            </a:r>
            <a:r>
              <a:rPr sz="2471" spc="-146" dirty="0">
                <a:latin typeface="Garamond" panose="02020404030301010803" pitchFamily="18" charset="0"/>
                <a:cs typeface="Arial"/>
              </a:rPr>
              <a:t> </a:t>
            </a:r>
            <a:r>
              <a:rPr sz="2471" spc="-185" dirty="0">
                <a:latin typeface="Garamond" panose="02020404030301010803" pitchFamily="18" charset="0"/>
                <a:cs typeface="Arial"/>
              </a:rPr>
              <a:t>has</a:t>
            </a:r>
            <a:r>
              <a:rPr sz="2471" spc="-141" dirty="0">
                <a:latin typeface="Garamond" panose="02020404030301010803" pitchFamily="18" charset="0"/>
                <a:cs typeface="Arial"/>
              </a:rPr>
              <a:t> </a:t>
            </a:r>
            <a:r>
              <a:rPr sz="2471" i="1" spc="-84" dirty="0">
                <a:latin typeface="Trebuchet MS"/>
                <a:cs typeface="Trebuchet MS"/>
              </a:rPr>
              <a:t>n</a:t>
            </a:r>
            <a:r>
              <a:rPr sz="2471" i="1" spc="-199" dirty="0">
                <a:latin typeface="Trebuchet MS"/>
                <a:cs typeface="Trebuchet MS"/>
              </a:rPr>
              <a:t> </a:t>
            </a:r>
            <a:r>
              <a:rPr sz="2471" spc="-53" dirty="0">
                <a:latin typeface="Garamond" panose="02020404030301010803" pitchFamily="18" charset="0"/>
                <a:cs typeface="Arial"/>
              </a:rPr>
              <a:t>outputs</a:t>
            </a:r>
            <a:r>
              <a:rPr sz="2471" spc="-141" dirty="0">
                <a:latin typeface="Garamond" panose="02020404030301010803" pitchFamily="18" charset="0"/>
                <a:cs typeface="Arial"/>
              </a:rPr>
              <a:t> </a:t>
            </a:r>
            <a:r>
              <a:rPr sz="2471" spc="-124" dirty="0">
                <a:latin typeface="Garamond" panose="02020404030301010803" pitchFamily="18" charset="0"/>
                <a:cs typeface="Arial"/>
              </a:rPr>
              <a:t>and</a:t>
            </a:r>
            <a:r>
              <a:rPr sz="2471" spc="-141" dirty="0">
                <a:latin typeface="Garamond" panose="02020404030301010803" pitchFamily="18" charset="0"/>
                <a:cs typeface="Arial"/>
              </a:rPr>
              <a:t> </a:t>
            </a:r>
            <a:r>
              <a:rPr sz="2471" i="1" spc="-84" dirty="0">
                <a:latin typeface="Trebuchet MS"/>
                <a:cs typeface="Trebuchet MS"/>
              </a:rPr>
              <a:t>n</a:t>
            </a:r>
            <a:r>
              <a:rPr sz="2471" i="1" spc="-199" dirty="0">
                <a:latin typeface="Trebuchet MS"/>
                <a:cs typeface="Trebuchet MS"/>
              </a:rPr>
              <a:t> </a:t>
            </a:r>
            <a:r>
              <a:rPr sz="2471" spc="-66" dirty="0">
                <a:latin typeface="Garamond" panose="02020404030301010803" pitchFamily="18" charset="0"/>
                <a:cs typeface="Arial"/>
              </a:rPr>
              <a:t>inputs</a:t>
            </a:r>
            <a:r>
              <a:rPr sz="2471" spc="-141" dirty="0">
                <a:latin typeface="Garamond" panose="02020404030301010803" pitchFamily="18" charset="0"/>
                <a:cs typeface="Arial"/>
              </a:rPr>
              <a:t> </a:t>
            </a:r>
            <a:r>
              <a:rPr sz="2294" spc="-221" dirty="0">
                <a:latin typeface="Garamond" panose="02020404030301010803" pitchFamily="18" charset="0"/>
                <a:cs typeface="Arial"/>
              </a:rPr>
              <a:t>→</a:t>
            </a:r>
            <a:r>
              <a:rPr sz="2294" spc="-106" dirty="0">
                <a:latin typeface="Garamond" panose="02020404030301010803" pitchFamily="18" charset="0"/>
                <a:cs typeface="Arial"/>
              </a:rPr>
              <a:t> </a:t>
            </a:r>
            <a:r>
              <a:rPr sz="2471" i="1" spc="-84" dirty="0">
                <a:latin typeface="Trebuchet MS"/>
                <a:cs typeface="Trebuchet MS"/>
              </a:rPr>
              <a:t>n</a:t>
            </a:r>
            <a:r>
              <a:rPr sz="2471" i="1" spc="-199" dirty="0">
                <a:latin typeface="Trebuchet MS"/>
                <a:cs typeface="Trebuchet MS"/>
              </a:rPr>
              <a:t> </a:t>
            </a:r>
            <a:r>
              <a:rPr sz="2471" spc="-110" dirty="0">
                <a:latin typeface="Garamond" panose="02020404030301010803" pitchFamily="18" charset="0"/>
                <a:cs typeface="Arial"/>
              </a:rPr>
              <a:t>by</a:t>
            </a:r>
            <a:r>
              <a:rPr sz="2471" spc="-141" dirty="0">
                <a:latin typeface="Garamond" panose="02020404030301010803" pitchFamily="18" charset="0"/>
                <a:cs typeface="Arial"/>
              </a:rPr>
              <a:t> </a:t>
            </a:r>
            <a:r>
              <a:rPr sz="2471" i="1" spc="-84" dirty="0">
                <a:latin typeface="Trebuchet MS"/>
                <a:cs typeface="Trebuchet MS"/>
              </a:rPr>
              <a:t>n</a:t>
            </a:r>
            <a:r>
              <a:rPr sz="2471" i="1" spc="-199" dirty="0">
                <a:latin typeface="Trebuchet MS"/>
                <a:cs typeface="Trebuchet MS"/>
              </a:rPr>
              <a:t> </a:t>
            </a:r>
            <a:r>
              <a:rPr sz="2471" spc="-168" dirty="0">
                <a:latin typeface="Garamond" panose="02020404030301010803" pitchFamily="18" charset="0"/>
                <a:cs typeface="Arial"/>
              </a:rPr>
              <a:t>Jacobian</a:t>
            </a:r>
            <a:endParaRPr sz="2471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xfrm>
            <a:off x="5916706" y="5510493"/>
            <a:ext cx="1882588" cy="399770"/>
          </a:xfrm>
          <a:prstGeom prst="rect">
            <a:avLst/>
          </a:prstGeom>
        </p:spPr>
        <p:txBody>
          <a:bodyPr vert="horz" wrap="square" lIns="0" tIns="121584" rIns="0" bIns="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33619">
              <a:spcBef>
                <a:spcPts val="957"/>
              </a:spcBef>
            </a:pPr>
            <a:fld id="{81D60167-4931-47E6-BA6A-407CBD079E47}" type="slidenum">
              <a:rPr spc="-66" dirty="0">
                <a:latin typeface="Garamond" panose="02020404030301010803" pitchFamily="18" charset="0"/>
              </a:rPr>
              <a:pPr marL="33619">
                <a:spcBef>
                  <a:spcPts val="957"/>
                </a:spcBef>
              </a:pPr>
              <a:t>35</a:t>
            </a:fld>
            <a:endParaRPr spc="-66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126F71-25B4-49AA-AD8E-09BD3C3CFD0D}"/>
              </a:ext>
            </a:extLst>
          </p:cNvPr>
          <p:cNvSpPr txBox="1"/>
          <p:nvPr/>
        </p:nvSpPr>
        <p:spPr>
          <a:xfrm>
            <a:off x="0" y="6604084"/>
            <a:ext cx="13083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050" dirty="0">
                <a:latin typeface="Garamond" panose="02020404030301010803" pitchFamily="18" charset="0"/>
              </a:rPr>
              <a:t>Christopher Manning</a:t>
            </a:r>
            <a:endParaRPr lang="en-US" sz="105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193816B0-826F-4263-A635-90BE48D8B7A2}"/>
              </a:ext>
            </a:extLst>
          </p:cNvPr>
          <p:cNvSpPr txBox="1">
            <a:spLocks/>
          </p:cNvSpPr>
          <p:nvPr/>
        </p:nvSpPr>
        <p:spPr bwMode="auto">
          <a:xfrm>
            <a:off x="620433" y="475499"/>
            <a:ext cx="7456394" cy="43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800" b="0" i="0">
                <a:solidFill>
                  <a:schemeClr val="tx1"/>
                </a:solidFill>
                <a:latin typeface="Arial"/>
                <a:ea typeface="+mj-ea"/>
                <a:cs typeface="Arial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</a:defRPr>
            </a:lvl9pPr>
          </a:lstStyle>
          <a:p>
            <a:pPr marL="11206">
              <a:spcBef>
                <a:spcPts val="88"/>
              </a:spcBef>
            </a:pPr>
            <a:r>
              <a:rPr lang="en-US" sz="2735" kern="0" spc="-168" dirty="0">
                <a:latin typeface="Garamond" panose="02020404030301010803" pitchFamily="18" charset="0"/>
              </a:rPr>
              <a:t>Example </a:t>
            </a:r>
            <a:r>
              <a:rPr lang="en-US" sz="2735" kern="0" spc="-199" dirty="0">
                <a:latin typeface="Garamond" panose="02020404030301010803" pitchFamily="18" charset="0"/>
              </a:rPr>
              <a:t>Jacobian: </a:t>
            </a:r>
            <a:r>
              <a:rPr lang="en-US" sz="2735" kern="0" spc="-159" dirty="0">
                <a:latin typeface="Garamond" panose="02020404030301010803" pitchFamily="18" charset="0"/>
              </a:rPr>
              <a:t>Elementwise </a:t>
            </a:r>
            <a:r>
              <a:rPr lang="en-US" sz="2735" kern="0" spc="-146" dirty="0">
                <a:latin typeface="Garamond" panose="02020404030301010803" pitchFamily="18" charset="0"/>
              </a:rPr>
              <a:t>activation</a:t>
            </a:r>
            <a:r>
              <a:rPr lang="en-US" sz="2735" kern="0" spc="-304" dirty="0">
                <a:latin typeface="Garamond" panose="02020404030301010803" pitchFamily="18" charset="0"/>
              </a:rPr>
              <a:t> </a:t>
            </a:r>
            <a:r>
              <a:rPr lang="en-US" sz="2735" kern="0" spc="-180" dirty="0">
                <a:latin typeface="Garamond" panose="02020404030301010803" pitchFamily="18" charset="0"/>
              </a:rPr>
              <a:t>Function</a:t>
            </a:r>
            <a:endParaRPr lang="en-US" sz="2735" kern="0" dirty="0">
              <a:latin typeface="Garamond" panose="02020404030301010803" pitchFamily="18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433" y="475499"/>
            <a:ext cx="7456394" cy="432200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168" dirty="0"/>
              <a:t>Example </a:t>
            </a:r>
            <a:r>
              <a:rPr sz="2735" spc="-199" dirty="0"/>
              <a:t>Jacobian: </a:t>
            </a:r>
            <a:r>
              <a:rPr sz="2735" spc="-159" dirty="0"/>
              <a:t>Elementwise </a:t>
            </a:r>
            <a:r>
              <a:rPr sz="2735" spc="-146" dirty="0"/>
              <a:t>activation</a:t>
            </a:r>
            <a:r>
              <a:rPr sz="2735" spc="-304" dirty="0"/>
              <a:t> </a:t>
            </a:r>
            <a:r>
              <a:rPr sz="2735" spc="-180" dirty="0"/>
              <a:t>Function</a:t>
            </a:r>
            <a:endParaRPr sz="2735"/>
          </a:p>
        </p:txBody>
      </p:sp>
      <p:grpSp>
        <p:nvGrpSpPr>
          <p:cNvPr id="3" name="object 3"/>
          <p:cNvGrpSpPr/>
          <p:nvPr/>
        </p:nvGrpSpPr>
        <p:grpSpPr>
          <a:xfrm>
            <a:off x="849405" y="1155999"/>
            <a:ext cx="6059581" cy="1081368"/>
            <a:chOff x="810259" y="1310132"/>
            <a:chExt cx="6867525" cy="1225550"/>
          </a:xfrm>
        </p:grpSpPr>
        <p:sp>
          <p:nvSpPr>
            <p:cNvPr id="4" name="object 4"/>
            <p:cNvSpPr/>
            <p:nvPr/>
          </p:nvSpPr>
          <p:spPr>
            <a:xfrm>
              <a:off x="810259" y="1310132"/>
              <a:ext cx="6867144" cy="8229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0259" y="2130044"/>
              <a:ext cx="1709927" cy="4053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849405" y="2952526"/>
            <a:ext cx="7749428" cy="1847850"/>
            <a:chOff x="810259" y="3346196"/>
            <a:chExt cx="8782685" cy="2094230"/>
          </a:xfrm>
        </p:grpSpPr>
        <p:sp>
          <p:nvSpPr>
            <p:cNvPr id="7" name="object 7"/>
            <p:cNvSpPr/>
            <p:nvPr/>
          </p:nvSpPr>
          <p:spPr>
            <a:xfrm>
              <a:off x="810259" y="3346196"/>
              <a:ext cx="8433816" cy="1834895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813146" y="4181818"/>
              <a:ext cx="8780145" cy="1258570"/>
            </a:xfrm>
            <a:custGeom>
              <a:avLst/>
              <a:gdLst/>
              <a:ahLst/>
              <a:cxnLst/>
              <a:rect l="l" t="t" r="r" b="b"/>
              <a:pathLst>
                <a:path w="8780145" h="1258570">
                  <a:moveTo>
                    <a:pt x="8779582" y="0"/>
                  </a:moveTo>
                  <a:lnTo>
                    <a:pt x="0" y="0"/>
                  </a:lnTo>
                  <a:lnTo>
                    <a:pt x="0" y="1258303"/>
                  </a:lnTo>
                  <a:lnTo>
                    <a:pt x="8779582" y="1258303"/>
                  </a:lnTo>
                  <a:lnTo>
                    <a:pt x="8779582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0B3310F9-4920-4B4E-96FE-D5B0C1BCEBC7}"/>
              </a:ext>
            </a:extLst>
          </p:cNvPr>
          <p:cNvSpPr txBox="1"/>
          <p:nvPr/>
        </p:nvSpPr>
        <p:spPr>
          <a:xfrm>
            <a:off x="0" y="6604084"/>
            <a:ext cx="13083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050" dirty="0">
                <a:latin typeface="Garamond" panose="02020404030301010803" pitchFamily="18" charset="0"/>
              </a:rPr>
              <a:t>Christopher Manning</a:t>
            </a:r>
            <a:endParaRPr lang="en-US" sz="105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433" y="475499"/>
            <a:ext cx="7456394" cy="432200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168" dirty="0"/>
              <a:t>Example </a:t>
            </a:r>
            <a:r>
              <a:rPr sz="2735" spc="-199" dirty="0"/>
              <a:t>Jacobian: </a:t>
            </a:r>
            <a:r>
              <a:rPr sz="2735" spc="-159" dirty="0"/>
              <a:t>Elementwise </a:t>
            </a:r>
            <a:r>
              <a:rPr sz="2735" spc="-146" dirty="0"/>
              <a:t>activation</a:t>
            </a:r>
            <a:r>
              <a:rPr sz="2735" spc="-304" dirty="0"/>
              <a:t> </a:t>
            </a:r>
            <a:r>
              <a:rPr sz="2735" spc="-180" dirty="0"/>
              <a:t>Function</a:t>
            </a:r>
            <a:endParaRPr sz="2735"/>
          </a:p>
        </p:txBody>
      </p:sp>
      <p:grpSp>
        <p:nvGrpSpPr>
          <p:cNvPr id="3" name="object 3"/>
          <p:cNvGrpSpPr/>
          <p:nvPr/>
        </p:nvGrpSpPr>
        <p:grpSpPr>
          <a:xfrm>
            <a:off x="849405" y="1155999"/>
            <a:ext cx="6059581" cy="1081368"/>
            <a:chOff x="810259" y="1310132"/>
            <a:chExt cx="6867525" cy="1225550"/>
          </a:xfrm>
        </p:grpSpPr>
        <p:sp>
          <p:nvSpPr>
            <p:cNvPr id="4" name="object 4"/>
            <p:cNvSpPr/>
            <p:nvPr/>
          </p:nvSpPr>
          <p:spPr>
            <a:xfrm>
              <a:off x="810259" y="1310132"/>
              <a:ext cx="6867144" cy="8229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0259" y="2130044"/>
              <a:ext cx="1709927" cy="4053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849405" y="2952526"/>
            <a:ext cx="7441602" cy="1619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E2047B-1548-4A36-8099-544DC321A608}"/>
              </a:ext>
            </a:extLst>
          </p:cNvPr>
          <p:cNvSpPr txBox="1"/>
          <p:nvPr/>
        </p:nvSpPr>
        <p:spPr>
          <a:xfrm>
            <a:off x="0" y="6604084"/>
            <a:ext cx="13083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050" dirty="0">
                <a:latin typeface="Garamond" panose="02020404030301010803" pitchFamily="18" charset="0"/>
              </a:rPr>
              <a:t>Christopher Manning</a:t>
            </a:r>
            <a:endParaRPr lang="en-US" sz="105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0433" y="475499"/>
            <a:ext cx="7456394" cy="432200"/>
          </a:xfrm>
          <a:prstGeom prst="rect">
            <a:avLst/>
          </a:prstGeom>
        </p:spPr>
        <p:txBody>
          <a:bodyPr vert="horz" wrap="square" lIns="0" tIns="11206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1206">
              <a:spcBef>
                <a:spcPts val="88"/>
              </a:spcBef>
            </a:pPr>
            <a:r>
              <a:rPr sz="2735" spc="-168" dirty="0"/>
              <a:t>Example </a:t>
            </a:r>
            <a:r>
              <a:rPr sz="2735" spc="-199" dirty="0"/>
              <a:t>Jacobian: </a:t>
            </a:r>
            <a:r>
              <a:rPr sz="2735" spc="-159" dirty="0"/>
              <a:t>Elementwise </a:t>
            </a:r>
            <a:r>
              <a:rPr sz="2735" spc="-146" dirty="0"/>
              <a:t>activation</a:t>
            </a:r>
            <a:r>
              <a:rPr sz="2735" spc="-304" dirty="0"/>
              <a:t> </a:t>
            </a:r>
            <a:r>
              <a:rPr sz="2735" spc="-180" dirty="0"/>
              <a:t>Function</a:t>
            </a:r>
            <a:endParaRPr sz="2735"/>
          </a:p>
        </p:txBody>
      </p:sp>
      <p:grpSp>
        <p:nvGrpSpPr>
          <p:cNvPr id="3" name="object 3"/>
          <p:cNvGrpSpPr/>
          <p:nvPr/>
        </p:nvGrpSpPr>
        <p:grpSpPr>
          <a:xfrm>
            <a:off x="849405" y="1155999"/>
            <a:ext cx="6059581" cy="1081368"/>
            <a:chOff x="810259" y="1310132"/>
            <a:chExt cx="6867525" cy="1225550"/>
          </a:xfrm>
        </p:grpSpPr>
        <p:sp>
          <p:nvSpPr>
            <p:cNvPr id="4" name="object 4"/>
            <p:cNvSpPr/>
            <p:nvPr/>
          </p:nvSpPr>
          <p:spPr>
            <a:xfrm>
              <a:off x="810259" y="1310132"/>
              <a:ext cx="6867144" cy="82296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810259" y="2130044"/>
              <a:ext cx="1709927" cy="4053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588" dirty="0">
                <a:latin typeface="Garamond" panose="02020404030301010803" pitchFamily="18" charset="0"/>
              </a:endParaRPr>
            </a:p>
          </p:txBody>
        </p:sp>
      </p:grpSp>
      <p:sp>
        <p:nvSpPr>
          <p:cNvPr id="6" name="object 6"/>
          <p:cNvSpPr/>
          <p:nvPr/>
        </p:nvSpPr>
        <p:spPr>
          <a:xfrm>
            <a:off x="849405" y="2952526"/>
            <a:ext cx="7441602" cy="161902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920253" y="5090607"/>
            <a:ext cx="2818504" cy="138235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997784" y="5456368"/>
            <a:ext cx="718073" cy="63470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6064174" y="5615043"/>
            <a:ext cx="1683572" cy="3173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1588" dirty="0">
              <a:latin typeface="Garamond" panose="02020404030301010803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418CC6-1AD5-459F-8D3E-5D47AE5F868B}"/>
              </a:ext>
            </a:extLst>
          </p:cNvPr>
          <p:cNvSpPr txBox="1"/>
          <p:nvPr/>
        </p:nvSpPr>
        <p:spPr>
          <a:xfrm>
            <a:off x="0" y="6604084"/>
            <a:ext cx="1308371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defRPr/>
            </a:pPr>
            <a:r>
              <a:rPr lang="en-US" sz="1050" dirty="0">
                <a:latin typeface="Garamond" panose="02020404030301010803" pitchFamily="18" charset="0"/>
              </a:rPr>
              <a:t>Christopher Manning</a:t>
            </a:r>
            <a:endParaRPr lang="en-US" sz="1050" dirty="0">
              <a:solidFill>
                <a:prstClr val="black"/>
              </a:solidFill>
              <a:latin typeface="Garamond" panose="02020404030301010803" pitchFamily="18" charset="0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987623" y="1705974"/>
            <a:ext cx="7633334" cy="3408679"/>
            <a:chOff x="987623" y="848723"/>
            <a:chExt cx="7633334" cy="3408679"/>
          </a:xfrm>
        </p:grpSpPr>
        <p:sp>
          <p:nvSpPr>
            <p:cNvPr id="3" name="object 3"/>
            <p:cNvSpPr/>
            <p:nvPr/>
          </p:nvSpPr>
          <p:spPr>
            <a:xfrm>
              <a:off x="1441280" y="3155051"/>
              <a:ext cx="1584125" cy="108404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997148" y="2791344"/>
              <a:ext cx="2060575" cy="506730"/>
            </a:xfrm>
            <a:custGeom>
              <a:avLst/>
              <a:gdLst/>
              <a:ahLst/>
              <a:cxnLst/>
              <a:rect l="l" t="t" r="r" b="b"/>
              <a:pathLst>
                <a:path w="2060575" h="506729">
                  <a:moveTo>
                    <a:pt x="0" y="506123"/>
                  </a:moveTo>
                  <a:lnTo>
                    <a:pt x="2060095" y="0"/>
                  </a:lnTo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040218" y="2751269"/>
              <a:ext cx="110499" cy="8014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280993" y="858248"/>
              <a:ext cx="2978785" cy="2978785"/>
            </a:xfrm>
            <a:custGeom>
              <a:avLst/>
              <a:gdLst/>
              <a:ahLst/>
              <a:cxnLst/>
              <a:rect l="l" t="t" r="r" b="b"/>
              <a:pathLst>
                <a:path w="2978785" h="2978785">
                  <a:moveTo>
                    <a:pt x="1489347" y="2978694"/>
                  </a:moveTo>
                  <a:lnTo>
                    <a:pt x="1441145" y="2977928"/>
                  </a:lnTo>
                  <a:lnTo>
                    <a:pt x="1393326" y="2975648"/>
                  </a:lnTo>
                  <a:lnTo>
                    <a:pt x="1345912" y="2971876"/>
                  </a:lnTo>
                  <a:lnTo>
                    <a:pt x="1298927" y="2966635"/>
                  </a:lnTo>
                  <a:lnTo>
                    <a:pt x="1252393" y="2959948"/>
                  </a:lnTo>
                  <a:lnTo>
                    <a:pt x="1206335" y="2951839"/>
                  </a:lnTo>
                  <a:lnTo>
                    <a:pt x="1160774" y="2942330"/>
                  </a:lnTo>
                  <a:lnTo>
                    <a:pt x="1115735" y="2931445"/>
                  </a:lnTo>
                  <a:lnTo>
                    <a:pt x="1071239" y="2919206"/>
                  </a:lnTo>
                  <a:lnTo>
                    <a:pt x="1027311" y="2905637"/>
                  </a:lnTo>
                  <a:lnTo>
                    <a:pt x="983974" y="2890762"/>
                  </a:lnTo>
                  <a:lnTo>
                    <a:pt x="941250" y="2874602"/>
                  </a:lnTo>
                  <a:lnTo>
                    <a:pt x="899163" y="2857182"/>
                  </a:lnTo>
                  <a:lnTo>
                    <a:pt x="857735" y="2838524"/>
                  </a:lnTo>
                  <a:lnTo>
                    <a:pt x="816991" y="2818651"/>
                  </a:lnTo>
                  <a:lnTo>
                    <a:pt x="776952" y="2797587"/>
                  </a:lnTo>
                  <a:lnTo>
                    <a:pt x="737642" y="2775355"/>
                  </a:lnTo>
                  <a:lnTo>
                    <a:pt x="699085" y="2751978"/>
                  </a:lnTo>
                  <a:lnTo>
                    <a:pt x="661303" y="2727478"/>
                  </a:lnTo>
                  <a:lnTo>
                    <a:pt x="624320" y="2701879"/>
                  </a:lnTo>
                  <a:lnTo>
                    <a:pt x="588158" y="2675205"/>
                  </a:lnTo>
                  <a:lnTo>
                    <a:pt x="552841" y="2647478"/>
                  </a:lnTo>
                  <a:lnTo>
                    <a:pt x="518392" y="2618721"/>
                  </a:lnTo>
                  <a:lnTo>
                    <a:pt x="484834" y="2588957"/>
                  </a:lnTo>
                  <a:lnTo>
                    <a:pt x="452190" y="2558211"/>
                  </a:lnTo>
                  <a:lnTo>
                    <a:pt x="420482" y="2526504"/>
                  </a:lnTo>
                  <a:lnTo>
                    <a:pt x="389736" y="2493859"/>
                  </a:lnTo>
                  <a:lnTo>
                    <a:pt x="359972" y="2460301"/>
                  </a:lnTo>
                  <a:lnTo>
                    <a:pt x="331215" y="2425852"/>
                  </a:lnTo>
                  <a:lnTo>
                    <a:pt x="303488" y="2390535"/>
                  </a:lnTo>
                  <a:lnTo>
                    <a:pt x="276814" y="2354373"/>
                  </a:lnTo>
                  <a:lnTo>
                    <a:pt x="251215" y="2317390"/>
                  </a:lnTo>
                  <a:lnTo>
                    <a:pt x="226716" y="2279608"/>
                  </a:lnTo>
                  <a:lnTo>
                    <a:pt x="203338" y="2241051"/>
                  </a:lnTo>
                  <a:lnTo>
                    <a:pt x="181106" y="2201741"/>
                  </a:lnTo>
                  <a:lnTo>
                    <a:pt x="160042" y="2161703"/>
                  </a:lnTo>
                  <a:lnTo>
                    <a:pt x="140169" y="2120958"/>
                  </a:lnTo>
                  <a:lnTo>
                    <a:pt x="121511" y="2079530"/>
                  </a:lnTo>
                  <a:lnTo>
                    <a:pt x="104091" y="2037443"/>
                  </a:lnTo>
                  <a:lnTo>
                    <a:pt x="87931" y="1994719"/>
                  </a:lnTo>
                  <a:lnTo>
                    <a:pt x="73056" y="1951382"/>
                  </a:lnTo>
                  <a:lnTo>
                    <a:pt x="59487" y="1907454"/>
                  </a:lnTo>
                  <a:lnTo>
                    <a:pt x="47249" y="1862959"/>
                  </a:lnTo>
                  <a:lnTo>
                    <a:pt x="36363" y="1817919"/>
                  </a:lnTo>
                  <a:lnTo>
                    <a:pt x="26854" y="1772358"/>
                  </a:lnTo>
                  <a:lnTo>
                    <a:pt x="18745" y="1726300"/>
                  </a:lnTo>
                  <a:lnTo>
                    <a:pt x="12058" y="1679766"/>
                  </a:lnTo>
                  <a:lnTo>
                    <a:pt x="6817" y="1632781"/>
                  </a:lnTo>
                  <a:lnTo>
                    <a:pt x="3045" y="1585368"/>
                  </a:lnTo>
                  <a:lnTo>
                    <a:pt x="765" y="1537548"/>
                  </a:lnTo>
                  <a:lnTo>
                    <a:pt x="0" y="1489347"/>
                  </a:lnTo>
                  <a:lnTo>
                    <a:pt x="765" y="1441145"/>
                  </a:lnTo>
                  <a:lnTo>
                    <a:pt x="3045" y="1393326"/>
                  </a:lnTo>
                  <a:lnTo>
                    <a:pt x="6817" y="1345913"/>
                  </a:lnTo>
                  <a:lnTo>
                    <a:pt x="12058" y="1298928"/>
                  </a:lnTo>
                  <a:lnTo>
                    <a:pt x="18745" y="1252394"/>
                  </a:lnTo>
                  <a:lnTo>
                    <a:pt x="26854" y="1206336"/>
                  </a:lnTo>
                  <a:lnTo>
                    <a:pt x="36363" y="1160776"/>
                  </a:lnTo>
                  <a:lnTo>
                    <a:pt x="47249" y="1115736"/>
                  </a:lnTo>
                  <a:lnTo>
                    <a:pt x="59487" y="1071241"/>
                  </a:lnTo>
                  <a:lnTo>
                    <a:pt x="73056" y="1027313"/>
                  </a:lnTo>
                  <a:lnTo>
                    <a:pt x="87931" y="983976"/>
                  </a:lnTo>
                  <a:lnTo>
                    <a:pt x="104091" y="941252"/>
                  </a:lnTo>
                  <a:lnTo>
                    <a:pt x="121511" y="899165"/>
                  </a:lnTo>
                  <a:lnTo>
                    <a:pt x="140169" y="857737"/>
                  </a:lnTo>
                  <a:lnTo>
                    <a:pt x="160042" y="816993"/>
                  </a:lnTo>
                  <a:lnTo>
                    <a:pt x="181106" y="776954"/>
                  </a:lnTo>
                  <a:lnTo>
                    <a:pt x="203338" y="737645"/>
                  </a:lnTo>
                  <a:lnTo>
                    <a:pt x="226716" y="699087"/>
                  </a:lnTo>
                  <a:lnTo>
                    <a:pt x="251215" y="661306"/>
                  </a:lnTo>
                  <a:lnTo>
                    <a:pt x="276814" y="624322"/>
                  </a:lnTo>
                  <a:lnTo>
                    <a:pt x="303488" y="588160"/>
                  </a:lnTo>
                  <a:lnTo>
                    <a:pt x="331215" y="552843"/>
                  </a:lnTo>
                  <a:lnTo>
                    <a:pt x="359972" y="518394"/>
                  </a:lnTo>
                  <a:lnTo>
                    <a:pt x="389736" y="484836"/>
                  </a:lnTo>
                  <a:lnTo>
                    <a:pt x="420482" y="452191"/>
                  </a:lnTo>
                  <a:lnTo>
                    <a:pt x="452190" y="420484"/>
                  </a:lnTo>
                  <a:lnTo>
                    <a:pt x="484834" y="389737"/>
                  </a:lnTo>
                  <a:lnTo>
                    <a:pt x="518392" y="359974"/>
                  </a:lnTo>
                  <a:lnTo>
                    <a:pt x="552841" y="331217"/>
                  </a:lnTo>
                  <a:lnTo>
                    <a:pt x="588158" y="303490"/>
                  </a:lnTo>
                  <a:lnTo>
                    <a:pt x="624320" y="276815"/>
                  </a:lnTo>
                  <a:lnTo>
                    <a:pt x="661303" y="251216"/>
                  </a:lnTo>
                  <a:lnTo>
                    <a:pt x="699085" y="226717"/>
                  </a:lnTo>
                  <a:lnTo>
                    <a:pt x="737642" y="203339"/>
                  </a:lnTo>
                  <a:lnTo>
                    <a:pt x="776952" y="181107"/>
                  </a:lnTo>
                  <a:lnTo>
                    <a:pt x="816991" y="160043"/>
                  </a:lnTo>
                  <a:lnTo>
                    <a:pt x="857735" y="140170"/>
                  </a:lnTo>
                  <a:lnTo>
                    <a:pt x="899163" y="121512"/>
                  </a:lnTo>
                  <a:lnTo>
                    <a:pt x="941250" y="104091"/>
                  </a:lnTo>
                  <a:lnTo>
                    <a:pt x="983974" y="87932"/>
                  </a:lnTo>
                  <a:lnTo>
                    <a:pt x="1027311" y="73056"/>
                  </a:lnTo>
                  <a:lnTo>
                    <a:pt x="1071239" y="59487"/>
                  </a:lnTo>
                  <a:lnTo>
                    <a:pt x="1115735" y="47249"/>
                  </a:lnTo>
                  <a:lnTo>
                    <a:pt x="1160774" y="36364"/>
                  </a:lnTo>
                  <a:lnTo>
                    <a:pt x="1206335" y="26855"/>
                  </a:lnTo>
                  <a:lnTo>
                    <a:pt x="1252393" y="18745"/>
                  </a:lnTo>
                  <a:lnTo>
                    <a:pt x="1298927" y="12058"/>
                  </a:lnTo>
                  <a:lnTo>
                    <a:pt x="1345912" y="6817"/>
                  </a:lnTo>
                  <a:lnTo>
                    <a:pt x="1393326" y="3045"/>
                  </a:lnTo>
                  <a:lnTo>
                    <a:pt x="1441145" y="765"/>
                  </a:lnTo>
                  <a:lnTo>
                    <a:pt x="1489347" y="0"/>
                  </a:lnTo>
                  <a:lnTo>
                    <a:pt x="1538631" y="814"/>
                  </a:lnTo>
                  <a:lnTo>
                    <a:pt x="1587711" y="3249"/>
                  </a:lnTo>
                  <a:lnTo>
                    <a:pt x="1636550" y="7287"/>
                  </a:lnTo>
                  <a:lnTo>
                    <a:pt x="1685112" y="12916"/>
                  </a:lnTo>
                  <a:lnTo>
                    <a:pt x="1733361" y="20119"/>
                  </a:lnTo>
                  <a:lnTo>
                    <a:pt x="1781261" y="28881"/>
                  </a:lnTo>
                  <a:lnTo>
                    <a:pt x="1828775" y="39188"/>
                  </a:lnTo>
                  <a:lnTo>
                    <a:pt x="1875867" y="51025"/>
                  </a:lnTo>
                  <a:lnTo>
                    <a:pt x="1922501" y="64377"/>
                  </a:lnTo>
                  <a:lnTo>
                    <a:pt x="1968642" y="79228"/>
                  </a:lnTo>
                  <a:lnTo>
                    <a:pt x="2014252" y="95563"/>
                  </a:lnTo>
                  <a:lnTo>
                    <a:pt x="2059295" y="113369"/>
                  </a:lnTo>
                  <a:lnTo>
                    <a:pt x="2103736" y="132629"/>
                  </a:lnTo>
                  <a:lnTo>
                    <a:pt x="2147539" y="153329"/>
                  </a:lnTo>
                  <a:lnTo>
                    <a:pt x="2190666" y="175454"/>
                  </a:lnTo>
                  <a:lnTo>
                    <a:pt x="2233082" y="198988"/>
                  </a:lnTo>
                  <a:lnTo>
                    <a:pt x="2274751" y="223918"/>
                  </a:lnTo>
                  <a:lnTo>
                    <a:pt x="2315636" y="250227"/>
                  </a:lnTo>
                  <a:lnTo>
                    <a:pt x="2355702" y="277901"/>
                  </a:lnTo>
                  <a:lnTo>
                    <a:pt x="2394912" y="306925"/>
                  </a:lnTo>
                  <a:lnTo>
                    <a:pt x="2433230" y="337283"/>
                  </a:lnTo>
                  <a:lnTo>
                    <a:pt x="2470619" y="368962"/>
                  </a:lnTo>
                  <a:lnTo>
                    <a:pt x="2507045" y="401945"/>
                  </a:lnTo>
                  <a:lnTo>
                    <a:pt x="2542469" y="436219"/>
                  </a:lnTo>
                  <a:lnTo>
                    <a:pt x="2576742" y="471644"/>
                  </a:lnTo>
                  <a:lnTo>
                    <a:pt x="2609725" y="508070"/>
                  </a:lnTo>
                  <a:lnTo>
                    <a:pt x="2641403" y="545461"/>
                  </a:lnTo>
                  <a:lnTo>
                    <a:pt x="2671761" y="583779"/>
                  </a:lnTo>
                  <a:lnTo>
                    <a:pt x="2700785" y="622990"/>
                  </a:lnTo>
                  <a:lnTo>
                    <a:pt x="2728459" y="663056"/>
                  </a:lnTo>
                  <a:lnTo>
                    <a:pt x="2754768" y="703941"/>
                  </a:lnTo>
                  <a:lnTo>
                    <a:pt x="2779698" y="745611"/>
                  </a:lnTo>
                  <a:lnTo>
                    <a:pt x="2803233" y="788027"/>
                  </a:lnTo>
                  <a:lnTo>
                    <a:pt x="2825358" y="831154"/>
                  </a:lnTo>
                  <a:lnTo>
                    <a:pt x="2846058" y="874957"/>
                  </a:lnTo>
                  <a:lnTo>
                    <a:pt x="2865319" y="919398"/>
                  </a:lnTo>
                  <a:lnTo>
                    <a:pt x="2883125" y="964442"/>
                  </a:lnTo>
                  <a:lnTo>
                    <a:pt x="2899461" y="1010052"/>
                  </a:lnTo>
                  <a:lnTo>
                    <a:pt x="2914313" y="1056192"/>
                  </a:lnTo>
                  <a:lnTo>
                    <a:pt x="2927665" y="1102826"/>
                  </a:lnTo>
                  <a:lnTo>
                    <a:pt x="2939502" y="1149919"/>
                  </a:lnTo>
                  <a:lnTo>
                    <a:pt x="2949810" y="1197433"/>
                  </a:lnTo>
                  <a:lnTo>
                    <a:pt x="2958573" y="1245332"/>
                  </a:lnTo>
                  <a:lnTo>
                    <a:pt x="2965776" y="1293581"/>
                  </a:lnTo>
                  <a:lnTo>
                    <a:pt x="2971405" y="1342143"/>
                  </a:lnTo>
                  <a:lnTo>
                    <a:pt x="2975444" y="1390982"/>
                  </a:lnTo>
                  <a:lnTo>
                    <a:pt x="2977879" y="1440062"/>
                  </a:lnTo>
                  <a:lnTo>
                    <a:pt x="2978694" y="1489347"/>
                  </a:lnTo>
                  <a:lnTo>
                    <a:pt x="2977928" y="1537548"/>
                  </a:lnTo>
                  <a:lnTo>
                    <a:pt x="2975648" y="1585368"/>
                  </a:lnTo>
                  <a:lnTo>
                    <a:pt x="2971876" y="1632781"/>
                  </a:lnTo>
                  <a:lnTo>
                    <a:pt x="2966635" y="1679766"/>
                  </a:lnTo>
                  <a:lnTo>
                    <a:pt x="2959948" y="1726300"/>
                  </a:lnTo>
                  <a:lnTo>
                    <a:pt x="2951839" y="1772358"/>
                  </a:lnTo>
                  <a:lnTo>
                    <a:pt x="2942330" y="1817919"/>
                  </a:lnTo>
                  <a:lnTo>
                    <a:pt x="2931445" y="1862959"/>
                  </a:lnTo>
                  <a:lnTo>
                    <a:pt x="2919206" y="1907454"/>
                  </a:lnTo>
                  <a:lnTo>
                    <a:pt x="2905637" y="1951382"/>
                  </a:lnTo>
                  <a:lnTo>
                    <a:pt x="2890762" y="1994719"/>
                  </a:lnTo>
                  <a:lnTo>
                    <a:pt x="2874602" y="2037443"/>
                  </a:lnTo>
                  <a:lnTo>
                    <a:pt x="2857182" y="2079530"/>
                  </a:lnTo>
                  <a:lnTo>
                    <a:pt x="2838524" y="2120958"/>
                  </a:lnTo>
                  <a:lnTo>
                    <a:pt x="2818651" y="2161703"/>
                  </a:lnTo>
                  <a:lnTo>
                    <a:pt x="2797587" y="2201741"/>
                  </a:lnTo>
                  <a:lnTo>
                    <a:pt x="2775355" y="2241051"/>
                  </a:lnTo>
                  <a:lnTo>
                    <a:pt x="2751978" y="2279608"/>
                  </a:lnTo>
                  <a:lnTo>
                    <a:pt x="2727478" y="2317390"/>
                  </a:lnTo>
                  <a:lnTo>
                    <a:pt x="2701879" y="2354373"/>
                  </a:lnTo>
                  <a:lnTo>
                    <a:pt x="2675205" y="2390535"/>
                  </a:lnTo>
                  <a:lnTo>
                    <a:pt x="2647478" y="2425852"/>
                  </a:lnTo>
                  <a:lnTo>
                    <a:pt x="2618721" y="2460301"/>
                  </a:lnTo>
                  <a:lnTo>
                    <a:pt x="2588957" y="2493859"/>
                  </a:lnTo>
                  <a:lnTo>
                    <a:pt x="2558211" y="2526504"/>
                  </a:lnTo>
                  <a:lnTo>
                    <a:pt x="2526504" y="2558211"/>
                  </a:lnTo>
                  <a:lnTo>
                    <a:pt x="2493859" y="2588957"/>
                  </a:lnTo>
                  <a:lnTo>
                    <a:pt x="2460301" y="2618721"/>
                  </a:lnTo>
                  <a:lnTo>
                    <a:pt x="2425852" y="2647478"/>
                  </a:lnTo>
                  <a:lnTo>
                    <a:pt x="2390535" y="2675205"/>
                  </a:lnTo>
                  <a:lnTo>
                    <a:pt x="2354373" y="2701879"/>
                  </a:lnTo>
                  <a:lnTo>
                    <a:pt x="2317390" y="2727478"/>
                  </a:lnTo>
                  <a:lnTo>
                    <a:pt x="2279608" y="2751978"/>
                  </a:lnTo>
                  <a:lnTo>
                    <a:pt x="2241051" y="2775355"/>
                  </a:lnTo>
                  <a:lnTo>
                    <a:pt x="2201741" y="2797587"/>
                  </a:lnTo>
                  <a:lnTo>
                    <a:pt x="2161703" y="2818651"/>
                  </a:lnTo>
                  <a:lnTo>
                    <a:pt x="2120958" y="2838524"/>
                  </a:lnTo>
                  <a:lnTo>
                    <a:pt x="2079530" y="2857182"/>
                  </a:lnTo>
                  <a:lnTo>
                    <a:pt x="2037443" y="2874602"/>
                  </a:lnTo>
                  <a:lnTo>
                    <a:pt x="1994719" y="2890762"/>
                  </a:lnTo>
                  <a:lnTo>
                    <a:pt x="1951382" y="2905637"/>
                  </a:lnTo>
                  <a:lnTo>
                    <a:pt x="1907454" y="2919206"/>
                  </a:lnTo>
                  <a:lnTo>
                    <a:pt x="1862959" y="2931445"/>
                  </a:lnTo>
                  <a:lnTo>
                    <a:pt x="1817919" y="2942330"/>
                  </a:lnTo>
                  <a:lnTo>
                    <a:pt x="1772358" y="2951839"/>
                  </a:lnTo>
                  <a:lnTo>
                    <a:pt x="1726300" y="2959948"/>
                  </a:lnTo>
                  <a:lnTo>
                    <a:pt x="1679766" y="2966635"/>
                  </a:lnTo>
                  <a:lnTo>
                    <a:pt x="1632781" y="2971876"/>
                  </a:lnTo>
                  <a:lnTo>
                    <a:pt x="1585368" y="2975648"/>
                  </a:lnTo>
                  <a:lnTo>
                    <a:pt x="1537548" y="2977928"/>
                  </a:lnTo>
                  <a:lnTo>
                    <a:pt x="1489347" y="2978694"/>
                  </a:lnTo>
                  <a:close/>
                </a:path>
              </a:pathLst>
            </a:custGeom>
            <a:solidFill>
              <a:srgbClr val="F2F2F2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280993" y="858248"/>
              <a:ext cx="2978785" cy="2978785"/>
            </a:xfrm>
            <a:custGeom>
              <a:avLst/>
              <a:gdLst/>
              <a:ahLst/>
              <a:cxnLst/>
              <a:rect l="l" t="t" r="r" b="b"/>
              <a:pathLst>
                <a:path w="2978785" h="2978785">
                  <a:moveTo>
                    <a:pt x="0" y="1489346"/>
                  </a:moveTo>
                  <a:lnTo>
                    <a:pt x="765" y="1441145"/>
                  </a:lnTo>
                  <a:lnTo>
                    <a:pt x="3045" y="1393326"/>
                  </a:lnTo>
                  <a:lnTo>
                    <a:pt x="6817" y="1345912"/>
                  </a:lnTo>
                  <a:lnTo>
                    <a:pt x="12058" y="1298928"/>
                  </a:lnTo>
                  <a:lnTo>
                    <a:pt x="18745" y="1252394"/>
                  </a:lnTo>
                  <a:lnTo>
                    <a:pt x="26854" y="1206336"/>
                  </a:lnTo>
                  <a:lnTo>
                    <a:pt x="36363" y="1160776"/>
                  </a:lnTo>
                  <a:lnTo>
                    <a:pt x="47249" y="1115736"/>
                  </a:lnTo>
                  <a:lnTo>
                    <a:pt x="59487" y="1071241"/>
                  </a:lnTo>
                  <a:lnTo>
                    <a:pt x="73056" y="1027313"/>
                  </a:lnTo>
                  <a:lnTo>
                    <a:pt x="87931" y="983976"/>
                  </a:lnTo>
                  <a:lnTo>
                    <a:pt x="104091" y="941252"/>
                  </a:lnTo>
                  <a:lnTo>
                    <a:pt x="121511" y="899165"/>
                  </a:lnTo>
                  <a:lnTo>
                    <a:pt x="140169" y="857737"/>
                  </a:lnTo>
                  <a:lnTo>
                    <a:pt x="160042" y="816993"/>
                  </a:lnTo>
                  <a:lnTo>
                    <a:pt x="181106" y="776954"/>
                  </a:lnTo>
                  <a:lnTo>
                    <a:pt x="203338" y="737645"/>
                  </a:lnTo>
                  <a:lnTo>
                    <a:pt x="226716" y="699087"/>
                  </a:lnTo>
                  <a:lnTo>
                    <a:pt x="251215" y="661306"/>
                  </a:lnTo>
                  <a:lnTo>
                    <a:pt x="276814" y="624322"/>
                  </a:lnTo>
                  <a:lnTo>
                    <a:pt x="303488" y="588160"/>
                  </a:lnTo>
                  <a:lnTo>
                    <a:pt x="331215" y="552843"/>
                  </a:lnTo>
                  <a:lnTo>
                    <a:pt x="359972" y="518394"/>
                  </a:lnTo>
                  <a:lnTo>
                    <a:pt x="389736" y="484836"/>
                  </a:lnTo>
                  <a:lnTo>
                    <a:pt x="420482" y="452191"/>
                  </a:lnTo>
                  <a:lnTo>
                    <a:pt x="452189" y="420484"/>
                  </a:lnTo>
                  <a:lnTo>
                    <a:pt x="484834" y="389737"/>
                  </a:lnTo>
                  <a:lnTo>
                    <a:pt x="518392" y="359974"/>
                  </a:lnTo>
                  <a:lnTo>
                    <a:pt x="552841" y="331217"/>
                  </a:lnTo>
                  <a:lnTo>
                    <a:pt x="588158" y="303490"/>
                  </a:lnTo>
                  <a:lnTo>
                    <a:pt x="624320" y="276815"/>
                  </a:lnTo>
                  <a:lnTo>
                    <a:pt x="661303" y="251216"/>
                  </a:lnTo>
                  <a:lnTo>
                    <a:pt x="699085" y="226717"/>
                  </a:lnTo>
                  <a:lnTo>
                    <a:pt x="737642" y="203339"/>
                  </a:lnTo>
                  <a:lnTo>
                    <a:pt x="776952" y="181107"/>
                  </a:lnTo>
                  <a:lnTo>
                    <a:pt x="816990" y="160043"/>
                  </a:lnTo>
                  <a:lnTo>
                    <a:pt x="857735" y="140170"/>
                  </a:lnTo>
                  <a:lnTo>
                    <a:pt x="899163" y="121512"/>
                  </a:lnTo>
                  <a:lnTo>
                    <a:pt x="941250" y="104091"/>
                  </a:lnTo>
                  <a:lnTo>
                    <a:pt x="983974" y="87932"/>
                  </a:lnTo>
                  <a:lnTo>
                    <a:pt x="1027311" y="73056"/>
                  </a:lnTo>
                  <a:lnTo>
                    <a:pt x="1071239" y="59487"/>
                  </a:lnTo>
                  <a:lnTo>
                    <a:pt x="1115735" y="47249"/>
                  </a:lnTo>
                  <a:lnTo>
                    <a:pt x="1160774" y="36364"/>
                  </a:lnTo>
                  <a:lnTo>
                    <a:pt x="1206335" y="26855"/>
                  </a:lnTo>
                  <a:lnTo>
                    <a:pt x="1252393" y="18745"/>
                  </a:lnTo>
                  <a:lnTo>
                    <a:pt x="1298927" y="12058"/>
                  </a:lnTo>
                  <a:lnTo>
                    <a:pt x="1345912" y="6817"/>
                  </a:lnTo>
                  <a:lnTo>
                    <a:pt x="1393325" y="3045"/>
                  </a:lnTo>
                  <a:lnTo>
                    <a:pt x="1441145" y="765"/>
                  </a:lnTo>
                  <a:lnTo>
                    <a:pt x="1489346" y="0"/>
                  </a:lnTo>
                  <a:lnTo>
                    <a:pt x="1538631" y="814"/>
                  </a:lnTo>
                  <a:lnTo>
                    <a:pt x="1587711" y="3249"/>
                  </a:lnTo>
                  <a:lnTo>
                    <a:pt x="1636550" y="7287"/>
                  </a:lnTo>
                  <a:lnTo>
                    <a:pt x="1685112" y="12916"/>
                  </a:lnTo>
                  <a:lnTo>
                    <a:pt x="1733361" y="20119"/>
                  </a:lnTo>
                  <a:lnTo>
                    <a:pt x="1781261" y="28881"/>
                  </a:lnTo>
                  <a:lnTo>
                    <a:pt x="1828775" y="39188"/>
                  </a:lnTo>
                  <a:lnTo>
                    <a:pt x="1875867" y="51025"/>
                  </a:lnTo>
                  <a:lnTo>
                    <a:pt x="1922501" y="64377"/>
                  </a:lnTo>
                  <a:lnTo>
                    <a:pt x="1968642" y="79228"/>
                  </a:lnTo>
                  <a:lnTo>
                    <a:pt x="2014252" y="95563"/>
                  </a:lnTo>
                  <a:lnTo>
                    <a:pt x="2059295" y="113369"/>
                  </a:lnTo>
                  <a:lnTo>
                    <a:pt x="2103736" y="132629"/>
                  </a:lnTo>
                  <a:lnTo>
                    <a:pt x="2147539" y="153329"/>
                  </a:lnTo>
                  <a:lnTo>
                    <a:pt x="2190666" y="175454"/>
                  </a:lnTo>
                  <a:lnTo>
                    <a:pt x="2233082" y="198988"/>
                  </a:lnTo>
                  <a:lnTo>
                    <a:pt x="2274751" y="223918"/>
                  </a:lnTo>
                  <a:lnTo>
                    <a:pt x="2315636" y="250227"/>
                  </a:lnTo>
                  <a:lnTo>
                    <a:pt x="2355702" y="277901"/>
                  </a:lnTo>
                  <a:lnTo>
                    <a:pt x="2394912" y="306925"/>
                  </a:lnTo>
                  <a:lnTo>
                    <a:pt x="2433230" y="337283"/>
                  </a:lnTo>
                  <a:lnTo>
                    <a:pt x="2470619" y="368962"/>
                  </a:lnTo>
                  <a:lnTo>
                    <a:pt x="2507045" y="401945"/>
                  </a:lnTo>
                  <a:lnTo>
                    <a:pt x="2542469" y="436219"/>
                  </a:lnTo>
                  <a:lnTo>
                    <a:pt x="2576742" y="471644"/>
                  </a:lnTo>
                  <a:lnTo>
                    <a:pt x="2609725" y="508070"/>
                  </a:lnTo>
                  <a:lnTo>
                    <a:pt x="2641403" y="545461"/>
                  </a:lnTo>
                  <a:lnTo>
                    <a:pt x="2671761" y="583779"/>
                  </a:lnTo>
                  <a:lnTo>
                    <a:pt x="2700785" y="622990"/>
                  </a:lnTo>
                  <a:lnTo>
                    <a:pt x="2728459" y="663056"/>
                  </a:lnTo>
                  <a:lnTo>
                    <a:pt x="2754768" y="703941"/>
                  </a:lnTo>
                  <a:lnTo>
                    <a:pt x="2779698" y="745611"/>
                  </a:lnTo>
                  <a:lnTo>
                    <a:pt x="2803232" y="788027"/>
                  </a:lnTo>
                  <a:lnTo>
                    <a:pt x="2825358" y="831154"/>
                  </a:lnTo>
                  <a:lnTo>
                    <a:pt x="2846058" y="874957"/>
                  </a:lnTo>
                  <a:lnTo>
                    <a:pt x="2865319" y="919398"/>
                  </a:lnTo>
                  <a:lnTo>
                    <a:pt x="2883125" y="964442"/>
                  </a:lnTo>
                  <a:lnTo>
                    <a:pt x="2899461" y="1010052"/>
                  </a:lnTo>
                  <a:lnTo>
                    <a:pt x="2914313" y="1056192"/>
                  </a:lnTo>
                  <a:lnTo>
                    <a:pt x="2927665" y="1102826"/>
                  </a:lnTo>
                  <a:lnTo>
                    <a:pt x="2939502" y="1149919"/>
                  </a:lnTo>
                  <a:lnTo>
                    <a:pt x="2949810" y="1197433"/>
                  </a:lnTo>
                  <a:lnTo>
                    <a:pt x="2958573" y="1245332"/>
                  </a:lnTo>
                  <a:lnTo>
                    <a:pt x="2965776" y="1293581"/>
                  </a:lnTo>
                  <a:lnTo>
                    <a:pt x="2971405" y="1342143"/>
                  </a:lnTo>
                  <a:lnTo>
                    <a:pt x="2975444" y="1390982"/>
                  </a:lnTo>
                  <a:lnTo>
                    <a:pt x="2977879" y="1440062"/>
                  </a:lnTo>
                  <a:lnTo>
                    <a:pt x="2978693" y="1489346"/>
                  </a:lnTo>
                  <a:lnTo>
                    <a:pt x="2977928" y="1537548"/>
                  </a:lnTo>
                  <a:lnTo>
                    <a:pt x="2975648" y="1585368"/>
                  </a:lnTo>
                  <a:lnTo>
                    <a:pt x="2971876" y="1632781"/>
                  </a:lnTo>
                  <a:lnTo>
                    <a:pt x="2966635" y="1679766"/>
                  </a:lnTo>
                  <a:lnTo>
                    <a:pt x="2959948" y="1726300"/>
                  </a:lnTo>
                  <a:lnTo>
                    <a:pt x="2951839" y="1772358"/>
                  </a:lnTo>
                  <a:lnTo>
                    <a:pt x="2942330" y="1817919"/>
                  </a:lnTo>
                  <a:lnTo>
                    <a:pt x="2931444" y="1862958"/>
                  </a:lnTo>
                  <a:lnTo>
                    <a:pt x="2919206" y="1907454"/>
                  </a:lnTo>
                  <a:lnTo>
                    <a:pt x="2905637" y="1951382"/>
                  </a:lnTo>
                  <a:lnTo>
                    <a:pt x="2890762" y="1994719"/>
                  </a:lnTo>
                  <a:lnTo>
                    <a:pt x="2874602" y="2037443"/>
                  </a:lnTo>
                  <a:lnTo>
                    <a:pt x="2857182" y="2079530"/>
                  </a:lnTo>
                  <a:lnTo>
                    <a:pt x="2838524" y="2120958"/>
                  </a:lnTo>
                  <a:lnTo>
                    <a:pt x="2818651" y="2161703"/>
                  </a:lnTo>
                  <a:lnTo>
                    <a:pt x="2797587" y="2201741"/>
                  </a:lnTo>
                  <a:lnTo>
                    <a:pt x="2775355" y="2241051"/>
                  </a:lnTo>
                  <a:lnTo>
                    <a:pt x="2751977" y="2279608"/>
                  </a:lnTo>
                  <a:lnTo>
                    <a:pt x="2727478" y="2317390"/>
                  </a:lnTo>
                  <a:lnTo>
                    <a:pt x="2701879" y="2354373"/>
                  </a:lnTo>
                  <a:lnTo>
                    <a:pt x="2675205" y="2390535"/>
                  </a:lnTo>
                  <a:lnTo>
                    <a:pt x="2647478" y="2425852"/>
                  </a:lnTo>
                  <a:lnTo>
                    <a:pt x="2618721" y="2460301"/>
                  </a:lnTo>
                  <a:lnTo>
                    <a:pt x="2588957" y="2493859"/>
                  </a:lnTo>
                  <a:lnTo>
                    <a:pt x="2558211" y="2526504"/>
                  </a:lnTo>
                  <a:lnTo>
                    <a:pt x="2526504" y="2558211"/>
                  </a:lnTo>
                  <a:lnTo>
                    <a:pt x="2493859" y="2588957"/>
                  </a:lnTo>
                  <a:lnTo>
                    <a:pt x="2460301" y="2618721"/>
                  </a:lnTo>
                  <a:lnTo>
                    <a:pt x="2425852" y="2647478"/>
                  </a:lnTo>
                  <a:lnTo>
                    <a:pt x="2390535" y="2675205"/>
                  </a:lnTo>
                  <a:lnTo>
                    <a:pt x="2354373" y="2701879"/>
                  </a:lnTo>
                  <a:lnTo>
                    <a:pt x="2317390" y="2727478"/>
                  </a:lnTo>
                  <a:lnTo>
                    <a:pt x="2279608" y="2751977"/>
                  </a:lnTo>
                  <a:lnTo>
                    <a:pt x="2241051" y="2775355"/>
                  </a:lnTo>
                  <a:lnTo>
                    <a:pt x="2201741" y="2797587"/>
                  </a:lnTo>
                  <a:lnTo>
                    <a:pt x="2161703" y="2818651"/>
                  </a:lnTo>
                  <a:lnTo>
                    <a:pt x="2120958" y="2838524"/>
                  </a:lnTo>
                  <a:lnTo>
                    <a:pt x="2079530" y="2857182"/>
                  </a:lnTo>
                  <a:lnTo>
                    <a:pt x="2037443" y="2874602"/>
                  </a:lnTo>
                  <a:lnTo>
                    <a:pt x="1994719" y="2890762"/>
                  </a:lnTo>
                  <a:lnTo>
                    <a:pt x="1951382" y="2905637"/>
                  </a:lnTo>
                  <a:lnTo>
                    <a:pt x="1907454" y="2919206"/>
                  </a:lnTo>
                  <a:lnTo>
                    <a:pt x="1862958" y="2931444"/>
                  </a:lnTo>
                  <a:lnTo>
                    <a:pt x="1817919" y="2942330"/>
                  </a:lnTo>
                  <a:lnTo>
                    <a:pt x="1772358" y="2951839"/>
                  </a:lnTo>
                  <a:lnTo>
                    <a:pt x="1726300" y="2959948"/>
                  </a:lnTo>
                  <a:lnTo>
                    <a:pt x="1679766" y="2966635"/>
                  </a:lnTo>
                  <a:lnTo>
                    <a:pt x="1632781" y="2971876"/>
                  </a:lnTo>
                  <a:lnTo>
                    <a:pt x="1585368" y="2975648"/>
                  </a:lnTo>
                  <a:lnTo>
                    <a:pt x="1537548" y="2977928"/>
                  </a:lnTo>
                  <a:lnTo>
                    <a:pt x="1489346" y="2978693"/>
                  </a:lnTo>
                  <a:lnTo>
                    <a:pt x="1441145" y="2977928"/>
                  </a:lnTo>
                  <a:lnTo>
                    <a:pt x="1393325" y="2975648"/>
                  </a:lnTo>
                  <a:lnTo>
                    <a:pt x="1345912" y="2971876"/>
                  </a:lnTo>
                  <a:lnTo>
                    <a:pt x="1298927" y="2966635"/>
                  </a:lnTo>
                  <a:lnTo>
                    <a:pt x="1252393" y="2959948"/>
                  </a:lnTo>
                  <a:lnTo>
                    <a:pt x="1206335" y="2951839"/>
                  </a:lnTo>
                  <a:lnTo>
                    <a:pt x="1160774" y="2942330"/>
                  </a:lnTo>
                  <a:lnTo>
                    <a:pt x="1115735" y="2931444"/>
                  </a:lnTo>
                  <a:lnTo>
                    <a:pt x="1071239" y="2919206"/>
                  </a:lnTo>
                  <a:lnTo>
                    <a:pt x="1027311" y="2905637"/>
                  </a:lnTo>
                  <a:lnTo>
                    <a:pt x="983974" y="2890762"/>
                  </a:lnTo>
                  <a:lnTo>
                    <a:pt x="941250" y="2874602"/>
                  </a:lnTo>
                  <a:lnTo>
                    <a:pt x="899163" y="2857182"/>
                  </a:lnTo>
                  <a:lnTo>
                    <a:pt x="857735" y="2838524"/>
                  </a:lnTo>
                  <a:lnTo>
                    <a:pt x="816990" y="2818651"/>
                  </a:lnTo>
                  <a:lnTo>
                    <a:pt x="776952" y="2797587"/>
                  </a:lnTo>
                  <a:lnTo>
                    <a:pt x="737642" y="2775355"/>
                  </a:lnTo>
                  <a:lnTo>
                    <a:pt x="699085" y="2751977"/>
                  </a:lnTo>
                  <a:lnTo>
                    <a:pt x="661303" y="2727478"/>
                  </a:lnTo>
                  <a:lnTo>
                    <a:pt x="624320" y="2701879"/>
                  </a:lnTo>
                  <a:lnTo>
                    <a:pt x="588158" y="2675205"/>
                  </a:lnTo>
                  <a:lnTo>
                    <a:pt x="552841" y="2647478"/>
                  </a:lnTo>
                  <a:lnTo>
                    <a:pt x="518392" y="2618721"/>
                  </a:lnTo>
                  <a:lnTo>
                    <a:pt x="484834" y="2588957"/>
                  </a:lnTo>
                  <a:lnTo>
                    <a:pt x="452189" y="2558211"/>
                  </a:lnTo>
                  <a:lnTo>
                    <a:pt x="420482" y="2526504"/>
                  </a:lnTo>
                  <a:lnTo>
                    <a:pt x="389736" y="2493859"/>
                  </a:lnTo>
                  <a:lnTo>
                    <a:pt x="359972" y="2460301"/>
                  </a:lnTo>
                  <a:lnTo>
                    <a:pt x="331215" y="2425852"/>
                  </a:lnTo>
                  <a:lnTo>
                    <a:pt x="303488" y="2390535"/>
                  </a:lnTo>
                  <a:lnTo>
                    <a:pt x="276814" y="2354373"/>
                  </a:lnTo>
                  <a:lnTo>
                    <a:pt x="251215" y="2317390"/>
                  </a:lnTo>
                  <a:lnTo>
                    <a:pt x="226716" y="2279608"/>
                  </a:lnTo>
                  <a:lnTo>
                    <a:pt x="203338" y="2241051"/>
                  </a:lnTo>
                  <a:lnTo>
                    <a:pt x="181106" y="2201741"/>
                  </a:lnTo>
                  <a:lnTo>
                    <a:pt x="160042" y="2161703"/>
                  </a:lnTo>
                  <a:lnTo>
                    <a:pt x="140169" y="2120958"/>
                  </a:lnTo>
                  <a:lnTo>
                    <a:pt x="121511" y="2079530"/>
                  </a:lnTo>
                  <a:lnTo>
                    <a:pt x="104091" y="2037443"/>
                  </a:lnTo>
                  <a:lnTo>
                    <a:pt x="87931" y="1994719"/>
                  </a:lnTo>
                  <a:lnTo>
                    <a:pt x="73056" y="1951382"/>
                  </a:lnTo>
                  <a:lnTo>
                    <a:pt x="59487" y="1907454"/>
                  </a:lnTo>
                  <a:lnTo>
                    <a:pt x="47249" y="1862958"/>
                  </a:lnTo>
                  <a:lnTo>
                    <a:pt x="36363" y="1817919"/>
                  </a:lnTo>
                  <a:lnTo>
                    <a:pt x="26854" y="1772358"/>
                  </a:lnTo>
                  <a:lnTo>
                    <a:pt x="18745" y="1726300"/>
                  </a:lnTo>
                  <a:lnTo>
                    <a:pt x="12058" y="1679766"/>
                  </a:lnTo>
                  <a:lnTo>
                    <a:pt x="6817" y="1632781"/>
                  </a:lnTo>
                  <a:lnTo>
                    <a:pt x="3045" y="1585368"/>
                  </a:lnTo>
                  <a:lnTo>
                    <a:pt x="765" y="1537548"/>
                  </a:lnTo>
                  <a:lnTo>
                    <a:pt x="0" y="1489346"/>
                  </a:lnTo>
                  <a:close/>
                </a:path>
              </a:pathLst>
            </a:custGeom>
            <a:ln w="19049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1174992" y="1016162"/>
              <a:ext cx="2066925" cy="615950"/>
            </a:xfrm>
            <a:custGeom>
              <a:avLst/>
              <a:gdLst/>
              <a:ahLst/>
              <a:cxnLst/>
              <a:rect l="l" t="t" r="r" b="b"/>
              <a:pathLst>
                <a:path w="2066925" h="615950">
                  <a:moveTo>
                    <a:pt x="0" y="0"/>
                  </a:moveTo>
                  <a:lnTo>
                    <a:pt x="2066350" y="615946"/>
                  </a:lnTo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222843" y="1592431"/>
              <a:ext cx="110874" cy="79357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259687" y="2347595"/>
              <a:ext cx="2160270" cy="0"/>
            </a:xfrm>
            <a:custGeom>
              <a:avLst/>
              <a:gdLst/>
              <a:ahLst/>
              <a:cxnLst/>
              <a:rect l="l" t="t" r="r" b="b"/>
              <a:pathLst>
                <a:path w="2160270">
                  <a:moveTo>
                    <a:pt x="0" y="0"/>
                  </a:moveTo>
                  <a:lnTo>
                    <a:pt x="2159995" y="0"/>
                  </a:lnTo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8410158" y="2306605"/>
              <a:ext cx="105499" cy="81979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7474510" y="1758696"/>
              <a:ext cx="314324" cy="304799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7464985" y="1749171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6509186" y="2586019"/>
              <a:ext cx="2112010" cy="0"/>
            </a:xfrm>
            <a:custGeom>
              <a:avLst/>
              <a:gdLst/>
              <a:ahLst/>
              <a:cxnLst/>
              <a:rect l="l" t="t" r="r" b="b"/>
              <a:pathLst>
                <a:path w="2112009">
                  <a:moveTo>
                    <a:pt x="2111695" y="0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413212" y="2545019"/>
              <a:ext cx="105499" cy="81999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7393560" y="2707594"/>
              <a:ext cx="514348" cy="676273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7384060" y="2698069"/>
              <a:ext cx="533400" cy="695325"/>
            </a:xfrm>
            <a:custGeom>
              <a:avLst/>
              <a:gdLst/>
              <a:ahLst/>
              <a:cxnLst/>
              <a:rect l="l" t="t" r="r" b="b"/>
              <a:pathLst>
                <a:path w="533400" h="695325">
                  <a:moveTo>
                    <a:pt x="0" y="0"/>
                  </a:moveTo>
                  <a:lnTo>
                    <a:pt x="533373" y="0"/>
                  </a:lnTo>
                  <a:lnTo>
                    <a:pt x="533373" y="695323"/>
                  </a:lnTo>
                  <a:lnTo>
                    <a:pt x="0" y="69532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529267" y="1664759"/>
              <a:ext cx="485773" cy="638173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3519717" y="1655234"/>
              <a:ext cx="505459" cy="657225"/>
            </a:xfrm>
            <a:custGeom>
              <a:avLst/>
              <a:gdLst/>
              <a:ahLst/>
              <a:cxnLst/>
              <a:rect l="l" t="t" r="r" b="b"/>
              <a:pathLst>
                <a:path w="505460" h="657225">
                  <a:moveTo>
                    <a:pt x="0" y="0"/>
                  </a:moveTo>
                  <a:lnTo>
                    <a:pt x="504848" y="0"/>
                  </a:lnTo>
                  <a:lnTo>
                    <a:pt x="504848" y="657223"/>
                  </a:lnTo>
                  <a:lnTo>
                    <a:pt x="0" y="657223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3605467" y="2417045"/>
              <a:ext cx="409574" cy="704848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1255430" y="1246484"/>
              <a:ext cx="2769235" cy="3001645"/>
            </a:xfrm>
            <a:custGeom>
              <a:avLst/>
              <a:gdLst/>
              <a:ahLst/>
              <a:cxnLst/>
              <a:rect l="l" t="t" r="r" b="b"/>
              <a:pathLst>
                <a:path w="2769235" h="3001645">
                  <a:moveTo>
                    <a:pt x="2340487" y="1161022"/>
                  </a:moveTo>
                  <a:lnTo>
                    <a:pt x="2769136" y="1161022"/>
                  </a:lnTo>
                  <a:lnTo>
                    <a:pt x="2769136" y="1884908"/>
                  </a:lnTo>
                  <a:lnTo>
                    <a:pt x="2340487" y="1884908"/>
                  </a:lnTo>
                  <a:lnTo>
                    <a:pt x="2340487" y="1161022"/>
                  </a:lnTo>
                  <a:close/>
                </a:path>
                <a:path w="2769235" h="3001645">
                  <a:moveTo>
                    <a:pt x="22417" y="2268907"/>
                  </a:moveTo>
                  <a:lnTo>
                    <a:pt x="563016" y="2124308"/>
                  </a:lnTo>
                  <a:lnTo>
                    <a:pt x="759215" y="2856606"/>
                  </a:lnTo>
                  <a:lnTo>
                    <a:pt x="218617" y="3001206"/>
                  </a:lnTo>
                  <a:lnTo>
                    <a:pt x="22417" y="2268907"/>
                  </a:lnTo>
                  <a:close/>
                </a:path>
                <a:path w="2769235" h="3001645">
                  <a:moveTo>
                    <a:pt x="2015588" y="554101"/>
                  </a:moveTo>
                  <a:lnTo>
                    <a:pt x="0" y="0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1162545" y="1206620"/>
              <a:ext cx="110749" cy="79729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3" name="object 23"/>
            <p:cNvSpPr/>
            <p:nvPr/>
          </p:nvSpPr>
          <p:spPr>
            <a:xfrm>
              <a:off x="1144625" y="2919569"/>
              <a:ext cx="2031364" cy="527050"/>
            </a:xfrm>
            <a:custGeom>
              <a:avLst/>
              <a:gdLst/>
              <a:ahLst/>
              <a:cxnLst/>
              <a:rect l="l" t="t" r="r" b="b"/>
              <a:pathLst>
                <a:path w="2031364" h="527050">
                  <a:moveTo>
                    <a:pt x="2031068" y="0"/>
                  </a:moveTo>
                  <a:lnTo>
                    <a:pt x="0" y="526898"/>
                  </a:lnTo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4" name="object 24"/>
            <p:cNvSpPr/>
            <p:nvPr/>
          </p:nvSpPr>
          <p:spPr>
            <a:xfrm>
              <a:off x="1051420" y="3406468"/>
              <a:ext cx="110632" cy="799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690482" y="1712638"/>
            <a:ext cx="390525" cy="342900"/>
            <a:chOff x="690481" y="855388"/>
            <a:chExt cx="390525" cy="342900"/>
          </a:xfrm>
        </p:grpSpPr>
        <p:sp>
          <p:nvSpPr>
            <p:cNvPr id="26" name="object 26"/>
            <p:cNvSpPr/>
            <p:nvPr/>
          </p:nvSpPr>
          <p:spPr>
            <a:xfrm>
              <a:off x="709531" y="874438"/>
              <a:ext cx="314324" cy="304799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700006" y="864913"/>
              <a:ext cx="371475" cy="323850"/>
            </a:xfrm>
            <a:custGeom>
              <a:avLst/>
              <a:gdLst/>
              <a:ahLst/>
              <a:cxnLst/>
              <a:rect l="l" t="t" r="r" b="b"/>
              <a:pathLst>
                <a:path w="371475" h="323850">
                  <a:moveTo>
                    <a:pt x="0" y="0"/>
                  </a:moveTo>
                  <a:lnTo>
                    <a:pt x="371474" y="0"/>
                  </a:lnTo>
                  <a:lnTo>
                    <a:pt x="371474" y="323849"/>
                  </a:lnTo>
                  <a:lnTo>
                    <a:pt x="0" y="32384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588402" y="3924918"/>
            <a:ext cx="333375" cy="400050"/>
            <a:chOff x="588401" y="3067668"/>
            <a:chExt cx="333375" cy="400050"/>
          </a:xfrm>
        </p:grpSpPr>
        <p:sp>
          <p:nvSpPr>
            <p:cNvPr id="29" name="object 29"/>
            <p:cNvSpPr/>
            <p:nvPr/>
          </p:nvSpPr>
          <p:spPr>
            <a:xfrm>
              <a:off x="607451" y="3086718"/>
              <a:ext cx="295274" cy="361949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597926" y="3077193"/>
              <a:ext cx="314325" cy="381000"/>
            </a:xfrm>
            <a:custGeom>
              <a:avLst/>
              <a:gdLst/>
              <a:ahLst/>
              <a:cxnLst/>
              <a:rect l="l" t="t" r="r" b="b"/>
              <a:pathLst>
                <a:path w="314325" h="381000">
                  <a:moveTo>
                    <a:pt x="0" y="0"/>
                  </a:moveTo>
                  <a:lnTo>
                    <a:pt x="314324" y="0"/>
                  </a:lnTo>
                  <a:lnTo>
                    <a:pt x="314324" y="380999"/>
                  </a:lnTo>
                  <a:lnTo>
                    <a:pt x="0" y="380999"/>
                  </a:lnTo>
                  <a:lnTo>
                    <a:pt x="0" y="0"/>
                  </a:lnTo>
                  <a:close/>
                </a:path>
              </a:pathLst>
            </a:custGeom>
            <a:ln w="19049">
              <a:solidFill>
                <a:srgbClr val="38751C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-12854" y="3081653"/>
            <a:ext cx="13849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“Downstream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58483" y="3357877"/>
            <a:ext cx="10420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gradients”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38099" y="1510274"/>
            <a:ext cx="1007110" cy="584775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182880" rIns="0" bIns="0" rtlCol="0">
            <a:spAutoFit/>
          </a:bodyPr>
          <a:lstStyle/>
          <a:p>
            <a:pPr marL="39370">
              <a:spcBef>
                <a:spcPts val="1440"/>
              </a:spcBef>
            </a:pP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</a:t>
            </a:r>
            <a:r>
              <a:rPr sz="2550" spc="7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x</a:t>
            </a:r>
            <a:endParaRPr sz="2550" baseline="-31045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3725" y="3750444"/>
            <a:ext cx="954405" cy="545662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144145" rIns="0" bIns="0" rtlCol="0">
            <a:spAutoFit/>
          </a:bodyPr>
          <a:lstStyle/>
          <a:p>
            <a:pPr marL="109220">
              <a:spcBef>
                <a:spcPts val="1135"/>
              </a:spcBef>
            </a:pP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</a:t>
            </a:r>
            <a:r>
              <a:rPr sz="2550" spc="7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y</a:t>
            </a:r>
            <a:endParaRPr sz="2550" baseline="-31045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7304561" y="2383596"/>
            <a:ext cx="1245235" cy="558486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156845" rIns="0" bIns="0" rtlCol="0">
            <a:spAutoFit/>
          </a:bodyPr>
          <a:lstStyle/>
          <a:p>
            <a:pPr marL="655955">
              <a:spcBef>
                <a:spcPts val="1235"/>
              </a:spcBef>
            </a:pP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</a:t>
            </a:r>
            <a:r>
              <a:rPr sz="2550" spc="7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z</a:t>
            </a:r>
            <a:endParaRPr sz="2550" baseline="-31045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7257761" y="3492145"/>
            <a:ext cx="1339215" cy="659155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256540" rIns="0" bIns="0" rtlCol="0">
            <a:spAutoFit/>
          </a:bodyPr>
          <a:lstStyle/>
          <a:p>
            <a:pPr marL="828675">
              <a:spcBef>
                <a:spcPts val="2020"/>
              </a:spcBef>
            </a:pP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</a:t>
            </a:r>
            <a:r>
              <a:rPr sz="2550" spc="7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z</a:t>
            </a:r>
            <a:endParaRPr sz="2550" baseline="-31045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6721261" y="1503323"/>
            <a:ext cx="2226310" cy="425758"/>
          </a:xfrm>
          <a:prstGeom prst="rect">
            <a:avLst/>
          </a:prstGeom>
          <a:ln w="19049">
            <a:solidFill>
              <a:srgbClr val="0000FF"/>
            </a:solidFill>
          </a:ln>
        </p:spPr>
        <p:txBody>
          <a:bodyPr vert="horz" wrap="square" lIns="0" tIns="147320" rIns="0" bIns="0" rtlCol="0">
            <a:spAutoFit/>
          </a:bodyPr>
          <a:lstStyle/>
          <a:p>
            <a:pPr marL="85725">
              <a:spcBef>
                <a:spcPts val="1160"/>
              </a:spcBef>
            </a:pP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Loss </a:t>
            </a:r>
            <a:r>
              <a:rPr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 still a</a:t>
            </a:r>
            <a:r>
              <a:rPr spc="-14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scalar!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4442889" y="3739429"/>
            <a:ext cx="832485" cy="278281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spcBef>
                <a:spcPts val="130"/>
              </a:spcBef>
              <a:tabLst>
                <a:tab pos="709295" algn="l"/>
              </a:tabLst>
            </a:pPr>
            <a:r>
              <a:rPr sz="1700" spc="1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y	z</a:t>
            </a:r>
            <a:endParaRPr sz="17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112788" y="3505537"/>
            <a:ext cx="1254760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544195" algn="l"/>
              </a:tabLst>
            </a:pPr>
            <a:r>
              <a:rPr sz="26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[D	</a:t>
            </a:r>
            <a:r>
              <a:rPr sz="2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x D</a:t>
            </a:r>
            <a:r>
              <a:rPr sz="2600" spc="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146138" y="1765880"/>
            <a:ext cx="1305560" cy="1792605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122555" marR="158115" algn="ctr">
              <a:lnSpc>
                <a:spcPct val="100699"/>
              </a:lnSpc>
              <a:spcBef>
                <a:spcPts val="85"/>
              </a:spcBef>
            </a:pPr>
            <a:r>
              <a:rPr lang="en-US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“local  </a:t>
            </a:r>
            <a:r>
              <a:rPr lang="en-US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gradients”</a:t>
            </a:r>
            <a:endParaRPr lang="en-US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ts val="3020"/>
              </a:lnSpc>
              <a:spcBef>
                <a:spcPts val="890"/>
              </a:spcBef>
            </a:pPr>
            <a:r>
              <a:rPr sz="2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[D</a:t>
            </a:r>
            <a:r>
              <a:rPr sz="2550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x </a:t>
            </a:r>
            <a:r>
              <a:rPr sz="2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x</a:t>
            </a:r>
            <a:r>
              <a:rPr sz="2600" spc="-30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</a:t>
            </a:r>
            <a:r>
              <a:rPr sz="2550" spc="7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z</a:t>
            </a: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600" dirty="0">
              <a:latin typeface="Garamond" panose="02020404030301010803" pitchFamily="18" charset="0"/>
              <a:cs typeface="Arial"/>
            </a:endParaRPr>
          </a:p>
          <a:p>
            <a:pPr marR="48895" algn="ctr">
              <a:lnSpc>
                <a:spcPts val="5660"/>
              </a:lnSpc>
            </a:pPr>
            <a:r>
              <a:rPr sz="4800" dirty="0">
                <a:latin typeface="Garamond" panose="02020404030301010803" pitchFamily="18" charset="0"/>
                <a:cs typeface="Arial"/>
              </a:rPr>
              <a:t>f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327924" y="4007853"/>
            <a:ext cx="941069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38100" marR="5080" indent="-26034">
              <a:lnSpc>
                <a:spcPct val="100699"/>
              </a:lnSpc>
              <a:spcBef>
                <a:spcPts val="85"/>
              </a:spcBef>
            </a:pPr>
            <a:r>
              <a:rPr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Jacobian  matrices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201111" y="4317261"/>
            <a:ext cx="2780030" cy="916940"/>
          </a:xfrm>
          <a:prstGeom prst="rect">
            <a:avLst/>
          </a:prstGeom>
        </p:spPr>
        <p:txBody>
          <a:bodyPr vert="horz" wrap="square" lIns="0" tIns="27940" rIns="0" bIns="0" rtlCol="0">
            <a:spAutoFit/>
          </a:bodyPr>
          <a:lstStyle/>
          <a:p>
            <a:pPr marL="12700" marR="5080" indent="521970">
              <a:lnSpc>
                <a:spcPct val="106400"/>
              </a:lnSpc>
              <a:spcBef>
                <a:spcPts val="220"/>
              </a:spcBef>
            </a:pPr>
            <a:r>
              <a:rPr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“Upstream </a:t>
            </a: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gradient”  </a:t>
            </a: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 each element of </a:t>
            </a:r>
            <a:r>
              <a:rPr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z,</a:t>
            </a:r>
            <a:r>
              <a:rPr spc="-8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how  </a:t>
            </a:r>
            <a:r>
              <a:rPr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much </a:t>
            </a: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does it influence</a:t>
            </a:r>
            <a:r>
              <a:rPr spc="-6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L?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909124" y="4641886"/>
            <a:ext cx="4248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</a:t>
            </a:r>
            <a:r>
              <a:rPr sz="2550" spc="7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y</a:t>
            </a:r>
            <a:endParaRPr sz="2550" baseline="-31045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609450" y="2403373"/>
            <a:ext cx="424815" cy="421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spcBef>
                <a:spcPts val="100"/>
              </a:spcBef>
            </a:pPr>
            <a:r>
              <a:rPr sz="2600" spc="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D</a:t>
            </a:r>
            <a:r>
              <a:rPr sz="2550" spc="7" baseline="-3104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x</a:t>
            </a:r>
            <a:endParaRPr sz="2550" baseline="-31045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529861" y="3225097"/>
            <a:ext cx="1200150" cy="503664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255270" marR="5080" indent="-243204">
              <a:lnSpc>
                <a:spcPct val="101600"/>
              </a:lnSpc>
              <a:spcBef>
                <a:spcPts val="70"/>
              </a:spcBef>
            </a:pPr>
            <a:r>
              <a:rPr sz="16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Matrix-vector  multiply</a:t>
            </a:r>
            <a:endParaRPr sz="16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99000" y="981007"/>
            <a:ext cx="30346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spc="-5" dirty="0">
                <a:latin typeface="Garamond" panose="02020404030301010803" pitchFamily="18" charset="0"/>
                <a:cs typeface="Arial"/>
              </a:rPr>
              <a:t>Backprop with</a:t>
            </a:r>
            <a:r>
              <a:rPr sz="2400" spc="-85" dirty="0">
                <a:latin typeface="Garamond" panose="02020404030301010803" pitchFamily="18" charset="0"/>
                <a:cs typeface="Arial"/>
              </a:rPr>
              <a:t> </a:t>
            </a:r>
            <a:r>
              <a:rPr sz="2400" spc="-25" dirty="0">
                <a:latin typeface="Garamond" panose="02020404030301010803" pitchFamily="18" charset="0"/>
                <a:cs typeface="Arial"/>
              </a:rPr>
              <a:t>Vectors</a:t>
            </a:r>
            <a:endParaRPr sz="24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47" name="object 47"/>
          <p:cNvGrpSpPr/>
          <p:nvPr/>
        </p:nvGrpSpPr>
        <p:grpSpPr>
          <a:xfrm>
            <a:off x="1100993" y="2186848"/>
            <a:ext cx="1931035" cy="1157605"/>
            <a:chOff x="1100992" y="1329597"/>
            <a:chExt cx="1931035" cy="1157605"/>
          </a:xfrm>
        </p:grpSpPr>
        <p:sp>
          <p:nvSpPr>
            <p:cNvPr id="48" name="object 48"/>
            <p:cNvSpPr/>
            <p:nvPr/>
          </p:nvSpPr>
          <p:spPr>
            <a:xfrm>
              <a:off x="1233542" y="1396584"/>
              <a:ext cx="1798370" cy="1090222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1110517" y="1339122"/>
              <a:ext cx="808355" cy="845819"/>
            </a:xfrm>
            <a:custGeom>
              <a:avLst/>
              <a:gdLst/>
              <a:ahLst/>
              <a:cxnLst/>
              <a:rect l="l" t="t" r="r" b="b"/>
              <a:pathLst>
                <a:path w="808355" h="845819">
                  <a:moveTo>
                    <a:pt x="181499" y="0"/>
                  </a:moveTo>
                  <a:lnTo>
                    <a:pt x="808198" y="167999"/>
                  </a:lnTo>
                  <a:lnTo>
                    <a:pt x="626698" y="845398"/>
                  </a:lnTo>
                  <a:lnTo>
                    <a:pt x="0" y="677398"/>
                  </a:lnTo>
                  <a:lnTo>
                    <a:pt x="181499" y="0"/>
                  </a:lnTo>
                  <a:close/>
                </a:path>
              </a:pathLst>
            </a:custGeom>
            <a:ln w="19049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1" name="object 51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39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DE69093-8236-4B93-9328-94BA395BC492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2718" y="2042972"/>
            <a:ext cx="2040889" cy="971420"/>
          </a:xfrm>
          <a:prstGeom prst="rect">
            <a:avLst/>
          </a:prstGeom>
          <a:solidFill>
            <a:srgbClr val="F2F2F2"/>
          </a:solidFill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6205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Garamond" panose="02020404030301010803" pitchFamily="18" charset="0"/>
                <a:cs typeface="Arial"/>
              </a:rPr>
              <a:t>f(x) </a:t>
            </a:r>
            <a:r>
              <a:rPr sz="2200" dirty="0">
                <a:latin typeface="Garamond" panose="02020404030301010803" pitchFamily="18" charset="0"/>
                <a:cs typeface="Arial"/>
              </a:rPr>
              <a:t>=</a:t>
            </a:r>
            <a:r>
              <a:rPr sz="22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200" dirty="0">
                <a:latin typeface="Garamond" panose="02020404030301010803" pitchFamily="18" charset="0"/>
                <a:cs typeface="Arial"/>
              </a:rPr>
              <a:t>max(0,x)</a:t>
            </a:r>
          </a:p>
          <a:p>
            <a:pPr marL="150495">
              <a:lnSpc>
                <a:spcPts val="2630"/>
              </a:lnSpc>
            </a:pPr>
            <a:r>
              <a:rPr sz="2200" i="1" dirty="0">
                <a:latin typeface="Garamond" panose="02020404030301010803" pitchFamily="18" charset="0"/>
                <a:cs typeface="Arial"/>
              </a:rPr>
              <a:t>(elementwise)</a:t>
            </a:r>
            <a:endParaRPr sz="22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1044" y="2145193"/>
            <a:ext cx="666750" cy="41275"/>
            <a:chOff x="2821044" y="1287942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821044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821044" y="2427477"/>
            <a:ext cx="666750" cy="41275"/>
            <a:chOff x="2821044" y="1570226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821044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21044" y="2751494"/>
            <a:ext cx="666750" cy="41275"/>
            <a:chOff x="2821044" y="1894243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821044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21044" y="3064918"/>
            <a:ext cx="666750" cy="41275"/>
            <a:chOff x="2821044" y="2207667"/>
            <a:chExt cx="666750" cy="41275"/>
          </a:xfrm>
        </p:grpSpPr>
        <p:sp>
          <p:nvSpPr>
            <p:cNvPr id="16" name="object 16"/>
            <p:cNvSpPr/>
            <p:nvPr/>
          </p:nvSpPr>
          <p:spPr>
            <a:xfrm>
              <a:off x="2821044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0886" y="1638038"/>
            <a:ext cx="1238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input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x: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8508" y="1942837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519430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-2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7013" y="1638038"/>
            <a:ext cx="139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output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y: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99310" y="1942837"/>
            <a:ext cx="589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5716638" y="2145193"/>
            <a:ext cx="666750" cy="41275"/>
            <a:chOff x="5716638" y="1287942"/>
            <a:chExt cx="666750" cy="41275"/>
          </a:xfrm>
        </p:grpSpPr>
        <p:sp>
          <p:nvSpPr>
            <p:cNvPr id="25" name="object 25"/>
            <p:cNvSpPr/>
            <p:nvPr/>
          </p:nvSpPr>
          <p:spPr>
            <a:xfrm>
              <a:off x="5716638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6" name="object 26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7" name="object 27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28" name="object 28"/>
          <p:cNvGrpSpPr/>
          <p:nvPr/>
        </p:nvGrpSpPr>
        <p:grpSpPr>
          <a:xfrm>
            <a:off x="5716638" y="2427477"/>
            <a:ext cx="666750" cy="41275"/>
            <a:chOff x="5716638" y="1570226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716638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716638" y="2751494"/>
            <a:ext cx="666750" cy="41275"/>
            <a:chOff x="5716638" y="1894243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716638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6638" y="3064918"/>
            <a:ext cx="666750" cy="41275"/>
            <a:chOff x="5716638" y="2207667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716638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40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43" name="Title 42">
            <a:extLst>
              <a:ext uri="{FF2B5EF4-FFF2-40B4-BE49-F238E27FC236}">
                <a16:creationId xmlns:a16="http://schemas.microsoft.com/office/drawing/2014/main" id="{B2212B50-F2AF-4434-9AE1-85F2159364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Backprop </a:t>
            </a:r>
            <a:r>
              <a:rPr lang="en-US" spc="-5" dirty="0"/>
              <a:t>with</a:t>
            </a:r>
            <a:r>
              <a:rPr lang="en-US" spc="-65" dirty="0"/>
              <a:t> </a:t>
            </a:r>
            <a:r>
              <a:rPr lang="en-US" spc="-30" dirty="0"/>
              <a:t>Vectors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D3DED4E6-877C-4357-BE38-4D0C105CD303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2718" y="2042972"/>
            <a:ext cx="2040889" cy="971420"/>
          </a:xfrm>
          <a:prstGeom prst="rect">
            <a:avLst/>
          </a:prstGeom>
          <a:solidFill>
            <a:srgbClr val="F2F2F2"/>
          </a:solidFill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6205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Garamond" panose="02020404030301010803" pitchFamily="18" charset="0"/>
                <a:cs typeface="Arial"/>
              </a:rPr>
              <a:t>f(x) </a:t>
            </a:r>
            <a:r>
              <a:rPr sz="2200" dirty="0">
                <a:latin typeface="Garamond" panose="02020404030301010803" pitchFamily="18" charset="0"/>
                <a:cs typeface="Arial"/>
              </a:rPr>
              <a:t>=</a:t>
            </a:r>
            <a:r>
              <a:rPr sz="22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200" dirty="0">
                <a:latin typeface="Garamond" panose="02020404030301010803" pitchFamily="18" charset="0"/>
                <a:cs typeface="Arial"/>
              </a:rPr>
              <a:t>max(0,x)</a:t>
            </a:r>
          </a:p>
          <a:p>
            <a:pPr marL="150495">
              <a:lnSpc>
                <a:spcPts val="2630"/>
              </a:lnSpc>
            </a:pPr>
            <a:r>
              <a:rPr sz="2200" i="1" dirty="0">
                <a:latin typeface="Garamond" panose="02020404030301010803" pitchFamily="18" charset="0"/>
                <a:cs typeface="Arial"/>
              </a:rPr>
              <a:t>(elementwise)</a:t>
            </a:r>
            <a:endParaRPr sz="22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1044" y="2145193"/>
            <a:ext cx="666750" cy="41275"/>
            <a:chOff x="2821044" y="1287942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821044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821044" y="2427477"/>
            <a:ext cx="666750" cy="41275"/>
            <a:chOff x="2821044" y="1570226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821044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21044" y="2751494"/>
            <a:ext cx="666750" cy="41275"/>
            <a:chOff x="2821044" y="1894243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821044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21044" y="3064918"/>
            <a:ext cx="666750" cy="41275"/>
            <a:chOff x="2821044" y="2207667"/>
            <a:chExt cx="666750" cy="41275"/>
          </a:xfrm>
        </p:grpSpPr>
        <p:sp>
          <p:nvSpPr>
            <p:cNvPr id="16" name="object 16"/>
            <p:cNvSpPr/>
            <p:nvPr/>
          </p:nvSpPr>
          <p:spPr>
            <a:xfrm>
              <a:off x="2821044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0886" y="1638038"/>
            <a:ext cx="1238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input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x: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8508" y="1942837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519430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-2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7013" y="1638038"/>
            <a:ext cx="139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output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y: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99310" y="1942837"/>
            <a:ext cx="589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graphicFrame>
        <p:nvGraphicFramePr>
          <p:cNvPr id="24" name="object 24"/>
          <p:cNvGraphicFramePr>
            <a:graphicFrameLocks noGrp="1"/>
          </p:cNvGraphicFramePr>
          <p:nvPr/>
        </p:nvGraphicFramePr>
        <p:xfrm>
          <a:off x="6473249" y="3785023"/>
          <a:ext cx="640715" cy="119816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8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48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4282">
                <a:tc>
                  <a:txBody>
                    <a:bodyPr/>
                    <a:lstStyle/>
                    <a:p>
                      <a:pPr marL="38735">
                        <a:lnSpc>
                          <a:spcPts val="2210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[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210"/>
                        </a:lnSpc>
                        <a:tabLst>
                          <a:tab pos="316230" algn="l"/>
                        </a:tabLst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4	]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[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295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-1</a:t>
                      </a:r>
                      <a:r>
                        <a:rPr sz="2000" spc="-75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 </a:t>
                      </a: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]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799">
                <a:tc>
                  <a:txBody>
                    <a:bodyPr/>
                    <a:lstStyle/>
                    <a:p>
                      <a:pPr marL="38735">
                        <a:lnSpc>
                          <a:spcPts val="2295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[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295"/>
                        </a:lnSpc>
                        <a:tabLst>
                          <a:tab pos="316230" algn="l"/>
                        </a:tabLst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5	]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4282">
                <a:tc>
                  <a:txBody>
                    <a:bodyPr/>
                    <a:lstStyle/>
                    <a:p>
                      <a:pPr marL="38735">
                        <a:lnSpc>
                          <a:spcPts val="2215"/>
                        </a:lnSpc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[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ts val="2215"/>
                        </a:lnSpc>
                        <a:tabLst>
                          <a:tab pos="316230" algn="l"/>
                        </a:tabLst>
                      </a:pPr>
                      <a:r>
                        <a:rPr sz="2000" dirty="0">
                          <a:solidFill>
                            <a:srgbClr val="FF0000"/>
                          </a:solidFill>
                          <a:latin typeface="Garamond" panose="02020404030301010803" pitchFamily="18" charset="0"/>
                          <a:cs typeface="Arial"/>
                        </a:rPr>
                        <a:t>9	]</a:t>
                      </a:r>
                      <a:endParaRPr sz="2000" dirty="0">
                        <a:latin typeface="Garamond" panose="02020404030301010803" pitchFamily="18" charset="0"/>
                        <a:cs typeface="Arial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object 25"/>
          <p:cNvSpPr txBox="1"/>
          <p:nvPr/>
        </p:nvSpPr>
        <p:spPr>
          <a:xfrm>
            <a:off x="6238150" y="3443463"/>
            <a:ext cx="2823210" cy="1186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10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dL/dy: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>
              <a:spcBef>
                <a:spcPts val="35"/>
              </a:spcBef>
            </a:pPr>
            <a:endParaRPr sz="2050" dirty="0">
              <a:latin typeface="Garamond" panose="02020404030301010803" pitchFamily="18" charset="0"/>
              <a:cs typeface="Arial"/>
            </a:endParaRPr>
          </a:p>
          <a:p>
            <a:pPr marL="1901825" marR="5080" indent="-82550">
              <a:lnSpc>
                <a:spcPct val="100699"/>
              </a:lnSpc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716638" y="2145193"/>
            <a:ext cx="666750" cy="41275"/>
            <a:chOff x="5716638" y="1287942"/>
            <a:chExt cx="666750" cy="41275"/>
          </a:xfrm>
        </p:grpSpPr>
        <p:sp>
          <p:nvSpPr>
            <p:cNvPr id="27" name="object 27"/>
            <p:cNvSpPr/>
            <p:nvPr/>
          </p:nvSpPr>
          <p:spPr>
            <a:xfrm>
              <a:off x="5716638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8" name="object 28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9" name="object 29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0" name="object 30"/>
          <p:cNvGrpSpPr/>
          <p:nvPr/>
        </p:nvGrpSpPr>
        <p:grpSpPr>
          <a:xfrm>
            <a:off x="5716638" y="2427477"/>
            <a:ext cx="666750" cy="41275"/>
            <a:chOff x="5716638" y="1570226"/>
            <a:chExt cx="666750" cy="41275"/>
          </a:xfrm>
        </p:grpSpPr>
        <p:sp>
          <p:nvSpPr>
            <p:cNvPr id="31" name="object 31"/>
            <p:cNvSpPr/>
            <p:nvPr/>
          </p:nvSpPr>
          <p:spPr>
            <a:xfrm>
              <a:off x="5716638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2" name="object 32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3" name="object 33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4" name="object 34"/>
          <p:cNvGrpSpPr/>
          <p:nvPr/>
        </p:nvGrpSpPr>
        <p:grpSpPr>
          <a:xfrm>
            <a:off x="5716638" y="2751494"/>
            <a:ext cx="666750" cy="41275"/>
            <a:chOff x="5716638" y="1894243"/>
            <a:chExt cx="666750" cy="41275"/>
          </a:xfrm>
        </p:grpSpPr>
        <p:sp>
          <p:nvSpPr>
            <p:cNvPr id="35" name="object 35"/>
            <p:cNvSpPr/>
            <p:nvPr/>
          </p:nvSpPr>
          <p:spPr>
            <a:xfrm>
              <a:off x="5716638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6" name="object 36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7" name="object 37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5716638" y="3064918"/>
            <a:ext cx="666750" cy="41275"/>
            <a:chOff x="5716638" y="2207667"/>
            <a:chExt cx="666750" cy="41275"/>
          </a:xfrm>
        </p:grpSpPr>
        <p:sp>
          <p:nvSpPr>
            <p:cNvPr id="39" name="object 39"/>
            <p:cNvSpPr/>
            <p:nvPr/>
          </p:nvSpPr>
          <p:spPr>
            <a:xfrm>
              <a:off x="5716638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0" name="object 40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1" name="object 41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2" name="object 42"/>
          <p:cNvGrpSpPr/>
          <p:nvPr/>
        </p:nvGrpSpPr>
        <p:grpSpPr>
          <a:xfrm>
            <a:off x="7173597" y="3897782"/>
            <a:ext cx="666750" cy="41275"/>
            <a:chOff x="7173597" y="3040531"/>
            <a:chExt cx="666750" cy="41275"/>
          </a:xfrm>
        </p:grpSpPr>
        <p:sp>
          <p:nvSpPr>
            <p:cNvPr id="43" name="object 43"/>
            <p:cNvSpPr/>
            <p:nvPr/>
          </p:nvSpPr>
          <p:spPr>
            <a:xfrm>
              <a:off x="7221585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4" name="object 44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5" name="object 45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6" name="object 46"/>
          <p:cNvGrpSpPr/>
          <p:nvPr/>
        </p:nvGrpSpPr>
        <p:grpSpPr>
          <a:xfrm>
            <a:off x="7173597" y="4180081"/>
            <a:ext cx="666750" cy="41275"/>
            <a:chOff x="7173597" y="3322830"/>
            <a:chExt cx="666750" cy="41275"/>
          </a:xfrm>
        </p:grpSpPr>
        <p:sp>
          <p:nvSpPr>
            <p:cNvPr id="47" name="object 47"/>
            <p:cNvSpPr/>
            <p:nvPr/>
          </p:nvSpPr>
          <p:spPr>
            <a:xfrm>
              <a:off x="7221585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8" name="object 48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9" name="object 49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0" name="object 50"/>
          <p:cNvGrpSpPr/>
          <p:nvPr/>
        </p:nvGrpSpPr>
        <p:grpSpPr>
          <a:xfrm>
            <a:off x="7173597" y="4504081"/>
            <a:ext cx="666750" cy="41275"/>
            <a:chOff x="7173597" y="3646830"/>
            <a:chExt cx="666750" cy="41275"/>
          </a:xfrm>
        </p:grpSpPr>
        <p:sp>
          <p:nvSpPr>
            <p:cNvPr id="51" name="object 51"/>
            <p:cNvSpPr/>
            <p:nvPr/>
          </p:nvSpPr>
          <p:spPr>
            <a:xfrm>
              <a:off x="7221585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2" name="object 52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3" name="object 53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4" name="object 54"/>
          <p:cNvGrpSpPr/>
          <p:nvPr/>
        </p:nvGrpSpPr>
        <p:grpSpPr>
          <a:xfrm>
            <a:off x="7173597" y="4817505"/>
            <a:ext cx="666750" cy="41275"/>
            <a:chOff x="7173597" y="3960254"/>
            <a:chExt cx="666750" cy="41275"/>
          </a:xfrm>
        </p:grpSpPr>
        <p:sp>
          <p:nvSpPr>
            <p:cNvPr id="55" name="object 55"/>
            <p:cNvSpPr/>
            <p:nvPr/>
          </p:nvSpPr>
          <p:spPr>
            <a:xfrm>
              <a:off x="7221585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6" name="object 56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7" name="object 57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41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60" name="object 60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61" name="Title 60">
            <a:extLst>
              <a:ext uri="{FF2B5EF4-FFF2-40B4-BE49-F238E27FC236}">
                <a16:creationId xmlns:a16="http://schemas.microsoft.com/office/drawing/2014/main" id="{10B6587B-2643-43DC-A901-7414CC897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Backprop </a:t>
            </a:r>
            <a:r>
              <a:rPr lang="en-US" spc="-5" dirty="0"/>
              <a:t>with</a:t>
            </a:r>
            <a:r>
              <a:rPr lang="en-US" spc="-65" dirty="0"/>
              <a:t> </a:t>
            </a:r>
            <a:r>
              <a:rPr lang="en-US" spc="-30" dirty="0"/>
              <a:t>Vectors</a:t>
            </a:r>
            <a:endParaRPr lang="en-US" dirty="0"/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38915EC-BDBE-493A-BA36-49F3044188B8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2718" y="2042972"/>
            <a:ext cx="2040889" cy="971420"/>
          </a:xfrm>
          <a:prstGeom prst="rect">
            <a:avLst/>
          </a:prstGeom>
          <a:solidFill>
            <a:srgbClr val="F2F2F2"/>
          </a:solidFill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6205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Garamond" panose="02020404030301010803" pitchFamily="18" charset="0"/>
                <a:cs typeface="Arial"/>
              </a:rPr>
              <a:t>f(x) </a:t>
            </a:r>
            <a:r>
              <a:rPr sz="2200" dirty="0">
                <a:latin typeface="Garamond" panose="02020404030301010803" pitchFamily="18" charset="0"/>
                <a:cs typeface="Arial"/>
              </a:rPr>
              <a:t>=</a:t>
            </a:r>
            <a:r>
              <a:rPr sz="22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200" dirty="0">
                <a:latin typeface="Garamond" panose="02020404030301010803" pitchFamily="18" charset="0"/>
                <a:cs typeface="Arial"/>
              </a:rPr>
              <a:t>max(0,x)</a:t>
            </a:r>
          </a:p>
          <a:p>
            <a:pPr marL="150495">
              <a:lnSpc>
                <a:spcPts val="2630"/>
              </a:lnSpc>
            </a:pPr>
            <a:r>
              <a:rPr sz="2200" i="1" dirty="0">
                <a:latin typeface="Garamond" panose="02020404030301010803" pitchFamily="18" charset="0"/>
                <a:cs typeface="Arial"/>
              </a:rPr>
              <a:t>(elementwise)</a:t>
            </a:r>
            <a:endParaRPr sz="22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1044" y="2145193"/>
            <a:ext cx="666750" cy="41275"/>
            <a:chOff x="2821044" y="1287942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821044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821044" y="2427477"/>
            <a:ext cx="666750" cy="41275"/>
            <a:chOff x="2821044" y="1570226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821044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21044" y="2751494"/>
            <a:ext cx="666750" cy="41275"/>
            <a:chOff x="2821044" y="1894243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821044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21044" y="3064918"/>
            <a:ext cx="666750" cy="41275"/>
            <a:chOff x="2821044" y="2207667"/>
            <a:chExt cx="666750" cy="41275"/>
          </a:xfrm>
        </p:grpSpPr>
        <p:sp>
          <p:nvSpPr>
            <p:cNvPr id="16" name="object 16"/>
            <p:cNvSpPr/>
            <p:nvPr/>
          </p:nvSpPr>
          <p:spPr>
            <a:xfrm>
              <a:off x="2821044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0886" y="1638038"/>
            <a:ext cx="1238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input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x: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8508" y="1942837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519430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-2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7013" y="1638038"/>
            <a:ext cx="139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output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y: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99310" y="1942837"/>
            <a:ext cx="589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8151" y="3443462"/>
            <a:ext cx="1111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85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dL/dy: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2299" y="3748262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4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5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9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5841" y="3443462"/>
            <a:ext cx="171958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2000" dirty="0">
                <a:latin typeface="Garamond" panose="02020404030301010803" pitchFamily="18" charset="0"/>
                <a:cs typeface="Arial"/>
              </a:rPr>
              <a:t>Jacobian</a:t>
            </a:r>
            <a:r>
              <a:rPr sz="2000" spc="-100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dy/dx  </a:t>
            </a:r>
            <a:r>
              <a:rPr sz="2000" dirty="0">
                <a:latin typeface="Garamond" panose="02020404030301010803" pitchFamily="18" charset="0"/>
                <a:cs typeface="Arial"/>
              </a:rPr>
              <a:t>[ 1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0 0 0</a:t>
            </a:r>
            <a:r>
              <a:rPr sz="2000" spc="-55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</a:p>
          <a:p>
            <a:pPr marL="12700"/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</a:t>
            </a:r>
            <a:r>
              <a:rPr sz="2000" spc="-12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</a:p>
          <a:p>
            <a:pPr marL="12700"/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</a:t>
            </a:r>
            <a:r>
              <a:rPr sz="2000" dirty="0">
                <a:latin typeface="Garamond" panose="02020404030301010803" pitchFamily="18" charset="0"/>
                <a:cs typeface="Arial"/>
              </a:rPr>
              <a:t>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</a:t>
            </a:r>
            <a:r>
              <a:rPr sz="2000" spc="-12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</a:p>
          <a:p>
            <a:pPr marL="12700"/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0 0 0 </a:t>
            </a:r>
            <a:r>
              <a:rPr sz="2000" dirty="0">
                <a:latin typeface="Garamond" panose="02020404030301010803" pitchFamily="18" charset="0"/>
                <a:cs typeface="Arial"/>
              </a:rPr>
              <a:t>0</a:t>
            </a:r>
            <a:r>
              <a:rPr sz="2000" spc="-12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045151" y="4054020"/>
            <a:ext cx="101600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4615" marR="5080" indent="-8255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6638" y="2145193"/>
            <a:ext cx="666750" cy="41275"/>
            <a:chOff x="5716638" y="1287942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716638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716638" y="2427477"/>
            <a:ext cx="666750" cy="41275"/>
            <a:chOff x="5716638" y="1570226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716638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6638" y="2751494"/>
            <a:ext cx="666750" cy="41275"/>
            <a:chOff x="5716638" y="1894243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716638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716638" y="3064918"/>
            <a:ext cx="666750" cy="41275"/>
            <a:chOff x="5716638" y="2207667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716638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173597" y="3897782"/>
            <a:ext cx="666750" cy="41275"/>
            <a:chOff x="7173597" y="304053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7221585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173597" y="4180081"/>
            <a:ext cx="666750" cy="41275"/>
            <a:chOff x="7173597" y="3322830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7221585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173597" y="4504081"/>
            <a:ext cx="666750" cy="41275"/>
            <a:chOff x="7173597" y="3646830"/>
            <a:chExt cx="666750" cy="41275"/>
          </a:xfrm>
        </p:grpSpPr>
        <p:sp>
          <p:nvSpPr>
            <p:cNvPr id="53" name="object 53"/>
            <p:cNvSpPr/>
            <p:nvPr/>
          </p:nvSpPr>
          <p:spPr>
            <a:xfrm>
              <a:off x="7221585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7173597" y="4817505"/>
            <a:ext cx="666750" cy="41275"/>
            <a:chOff x="7173597" y="3960254"/>
            <a:chExt cx="666750" cy="41275"/>
          </a:xfrm>
        </p:grpSpPr>
        <p:sp>
          <p:nvSpPr>
            <p:cNvPr id="57" name="object 57"/>
            <p:cNvSpPr/>
            <p:nvPr/>
          </p:nvSpPr>
          <p:spPr>
            <a:xfrm>
              <a:off x="7221585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5725800" y="3897782"/>
            <a:ext cx="666750" cy="41275"/>
            <a:chOff x="5725800" y="3040531"/>
            <a:chExt cx="666750" cy="41275"/>
          </a:xfrm>
        </p:grpSpPr>
        <p:sp>
          <p:nvSpPr>
            <p:cNvPr id="61" name="object 61"/>
            <p:cNvSpPr/>
            <p:nvPr/>
          </p:nvSpPr>
          <p:spPr>
            <a:xfrm>
              <a:off x="5773788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725800" y="4180081"/>
            <a:ext cx="666750" cy="41275"/>
            <a:chOff x="5725800" y="3322830"/>
            <a:chExt cx="666750" cy="41275"/>
          </a:xfrm>
        </p:grpSpPr>
        <p:sp>
          <p:nvSpPr>
            <p:cNvPr id="65" name="object 65"/>
            <p:cNvSpPr/>
            <p:nvPr/>
          </p:nvSpPr>
          <p:spPr>
            <a:xfrm>
              <a:off x="5773788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725800" y="4504081"/>
            <a:ext cx="666750" cy="41275"/>
            <a:chOff x="5725800" y="3646830"/>
            <a:chExt cx="666750" cy="41275"/>
          </a:xfrm>
        </p:grpSpPr>
        <p:sp>
          <p:nvSpPr>
            <p:cNvPr id="69" name="object 69"/>
            <p:cNvSpPr/>
            <p:nvPr/>
          </p:nvSpPr>
          <p:spPr>
            <a:xfrm>
              <a:off x="5773788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5725800" y="4817505"/>
            <a:ext cx="666750" cy="41275"/>
            <a:chOff x="5725800" y="3960254"/>
            <a:chExt cx="666750" cy="41275"/>
          </a:xfrm>
        </p:grpSpPr>
        <p:sp>
          <p:nvSpPr>
            <p:cNvPr id="73" name="object 73"/>
            <p:cNvSpPr/>
            <p:nvPr/>
          </p:nvSpPr>
          <p:spPr>
            <a:xfrm>
              <a:off x="5773788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42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9" name="Title 78">
            <a:extLst>
              <a:ext uri="{FF2B5EF4-FFF2-40B4-BE49-F238E27FC236}">
                <a16:creationId xmlns:a16="http://schemas.microsoft.com/office/drawing/2014/main" id="{093E1C77-D322-4E60-9982-BAAFB8C77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Backprop </a:t>
            </a:r>
            <a:r>
              <a:rPr lang="en-US" spc="-5" dirty="0"/>
              <a:t>with</a:t>
            </a:r>
            <a:r>
              <a:rPr lang="en-US" spc="-65" dirty="0"/>
              <a:t> </a:t>
            </a:r>
            <a:r>
              <a:rPr lang="en-US" spc="-30" dirty="0"/>
              <a:t>Vectors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623CD70-0DE0-4676-BF72-F6C2A0860DDD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2718" y="2042972"/>
            <a:ext cx="2040889" cy="971420"/>
          </a:xfrm>
          <a:prstGeom prst="rect">
            <a:avLst/>
          </a:prstGeom>
          <a:solidFill>
            <a:srgbClr val="F2F2F2"/>
          </a:solidFill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6205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Garamond" panose="02020404030301010803" pitchFamily="18" charset="0"/>
                <a:cs typeface="Arial"/>
              </a:rPr>
              <a:t>f(x) </a:t>
            </a:r>
            <a:r>
              <a:rPr sz="2200" dirty="0">
                <a:latin typeface="Garamond" panose="02020404030301010803" pitchFamily="18" charset="0"/>
                <a:cs typeface="Arial"/>
              </a:rPr>
              <a:t>=</a:t>
            </a:r>
            <a:r>
              <a:rPr sz="22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200" dirty="0">
                <a:latin typeface="Garamond" panose="02020404030301010803" pitchFamily="18" charset="0"/>
                <a:cs typeface="Arial"/>
              </a:rPr>
              <a:t>max(0,x)</a:t>
            </a:r>
          </a:p>
          <a:p>
            <a:pPr marL="150495">
              <a:lnSpc>
                <a:spcPts val="2630"/>
              </a:lnSpc>
            </a:pPr>
            <a:r>
              <a:rPr sz="2200" i="1" dirty="0">
                <a:latin typeface="Garamond" panose="02020404030301010803" pitchFamily="18" charset="0"/>
                <a:cs typeface="Arial"/>
              </a:rPr>
              <a:t>(elementwise)</a:t>
            </a:r>
            <a:endParaRPr sz="22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1044" y="2145193"/>
            <a:ext cx="666750" cy="41275"/>
            <a:chOff x="2821044" y="1287942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821044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821044" y="2427477"/>
            <a:ext cx="666750" cy="41275"/>
            <a:chOff x="2821044" y="1570226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821044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21044" y="2751494"/>
            <a:ext cx="666750" cy="41275"/>
            <a:chOff x="2821044" y="1894243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821044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21044" y="3064918"/>
            <a:ext cx="666750" cy="41275"/>
            <a:chOff x="2821044" y="2207667"/>
            <a:chExt cx="666750" cy="41275"/>
          </a:xfrm>
        </p:grpSpPr>
        <p:sp>
          <p:nvSpPr>
            <p:cNvPr id="16" name="object 16"/>
            <p:cNvSpPr/>
            <p:nvPr/>
          </p:nvSpPr>
          <p:spPr>
            <a:xfrm>
              <a:off x="2821044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0886" y="1638038"/>
            <a:ext cx="1238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input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x: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8508" y="1942837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519430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-2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7013" y="1638038"/>
            <a:ext cx="139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output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y: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99310" y="1942837"/>
            <a:ext cx="589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8151" y="3443462"/>
            <a:ext cx="1111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85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dL/dy: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2299" y="3748262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4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5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9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5841" y="3443462"/>
            <a:ext cx="166116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">
              <a:spcBef>
                <a:spcPts val="100"/>
              </a:spcBef>
              <a:tabLst>
                <a:tab pos="1563370" algn="l"/>
              </a:tabLst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[dy/dx] [dL/dy] 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</a:t>
            </a:r>
            <a:r>
              <a:rPr sz="2000" spc="-5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</a:t>
            </a:r>
            <a:r>
              <a:rPr sz="2000" spc="-5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4	]</a:t>
            </a:r>
          </a:p>
          <a:p>
            <a:pPr marL="12700"/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</a:t>
            </a:r>
            <a:r>
              <a:rPr sz="2000" dirty="0">
                <a:latin typeface="Garamond" panose="02020404030301010803" pitchFamily="18" charset="0"/>
                <a:cs typeface="Arial"/>
              </a:rPr>
              <a:t>] [ -1</a:t>
            </a:r>
            <a:r>
              <a:rPr sz="2000" spc="-13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</a:p>
          <a:p>
            <a:pPr marL="12700">
              <a:tabLst>
                <a:tab pos="1563370" algn="l"/>
              </a:tabLst>
            </a:pPr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</a:t>
            </a:r>
            <a:r>
              <a:rPr sz="2000" dirty="0">
                <a:latin typeface="Garamond" panose="02020404030301010803" pitchFamily="18" charset="0"/>
                <a:cs typeface="Arial"/>
              </a:rPr>
              <a:t>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  <a:r>
              <a:rPr sz="20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5	]</a:t>
            </a:r>
          </a:p>
          <a:p>
            <a:pPr marL="12700">
              <a:tabLst>
                <a:tab pos="1562735" algn="l"/>
              </a:tabLst>
            </a:pPr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0 0 0 </a:t>
            </a:r>
            <a:r>
              <a:rPr sz="2000" dirty="0">
                <a:latin typeface="Garamond" panose="02020404030301010803" pitchFamily="18" charset="0"/>
                <a:cs typeface="Arial"/>
              </a:rPr>
              <a:t>0 ]</a:t>
            </a:r>
            <a:r>
              <a:rPr sz="20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9	]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045151" y="4054020"/>
            <a:ext cx="101600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4615" marR="5080" indent="-8255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6638" y="2145193"/>
            <a:ext cx="666750" cy="41275"/>
            <a:chOff x="5716638" y="1287942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716638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716638" y="2427477"/>
            <a:ext cx="666750" cy="41275"/>
            <a:chOff x="5716638" y="1570226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716638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6638" y="2751494"/>
            <a:ext cx="666750" cy="41275"/>
            <a:chOff x="5716638" y="1894243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716638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716638" y="3064918"/>
            <a:ext cx="666750" cy="41275"/>
            <a:chOff x="5716638" y="2207667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716638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173597" y="3897782"/>
            <a:ext cx="666750" cy="41275"/>
            <a:chOff x="7173597" y="304053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7221585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173597" y="4180081"/>
            <a:ext cx="666750" cy="41275"/>
            <a:chOff x="7173597" y="3322830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7221585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173597" y="4504081"/>
            <a:ext cx="666750" cy="41275"/>
            <a:chOff x="7173597" y="3646830"/>
            <a:chExt cx="666750" cy="41275"/>
          </a:xfrm>
        </p:grpSpPr>
        <p:sp>
          <p:nvSpPr>
            <p:cNvPr id="53" name="object 53"/>
            <p:cNvSpPr/>
            <p:nvPr/>
          </p:nvSpPr>
          <p:spPr>
            <a:xfrm>
              <a:off x="7221585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7173597" y="4817505"/>
            <a:ext cx="666750" cy="41275"/>
            <a:chOff x="7173597" y="3960254"/>
            <a:chExt cx="666750" cy="41275"/>
          </a:xfrm>
        </p:grpSpPr>
        <p:sp>
          <p:nvSpPr>
            <p:cNvPr id="57" name="object 57"/>
            <p:cNvSpPr/>
            <p:nvPr/>
          </p:nvSpPr>
          <p:spPr>
            <a:xfrm>
              <a:off x="7221585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5725800" y="3897782"/>
            <a:ext cx="666750" cy="41275"/>
            <a:chOff x="5725800" y="3040531"/>
            <a:chExt cx="666750" cy="41275"/>
          </a:xfrm>
        </p:grpSpPr>
        <p:sp>
          <p:nvSpPr>
            <p:cNvPr id="61" name="object 61"/>
            <p:cNvSpPr/>
            <p:nvPr/>
          </p:nvSpPr>
          <p:spPr>
            <a:xfrm>
              <a:off x="5773788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725800" y="4180081"/>
            <a:ext cx="666750" cy="41275"/>
            <a:chOff x="5725800" y="3322830"/>
            <a:chExt cx="666750" cy="41275"/>
          </a:xfrm>
        </p:grpSpPr>
        <p:sp>
          <p:nvSpPr>
            <p:cNvPr id="65" name="object 65"/>
            <p:cNvSpPr/>
            <p:nvPr/>
          </p:nvSpPr>
          <p:spPr>
            <a:xfrm>
              <a:off x="5773788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725800" y="4504081"/>
            <a:ext cx="666750" cy="41275"/>
            <a:chOff x="5725800" y="3646830"/>
            <a:chExt cx="666750" cy="41275"/>
          </a:xfrm>
        </p:grpSpPr>
        <p:sp>
          <p:nvSpPr>
            <p:cNvPr id="69" name="object 69"/>
            <p:cNvSpPr/>
            <p:nvPr/>
          </p:nvSpPr>
          <p:spPr>
            <a:xfrm>
              <a:off x="5773788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5725800" y="4817505"/>
            <a:ext cx="666750" cy="41275"/>
            <a:chOff x="5725800" y="3960254"/>
            <a:chExt cx="666750" cy="41275"/>
          </a:xfrm>
        </p:grpSpPr>
        <p:sp>
          <p:nvSpPr>
            <p:cNvPr id="73" name="object 73"/>
            <p:cNvSpPr/>
            <p:nvPr/>
          </p:nvSpPr>
          <p:spPr>
            <a:xfrm>
              <a:off x="5773788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77" name="object 77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43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78" name="object 78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79" name="Title 78">
            <a:extLst>
              <a:ext uri="{FF2B5EF4-FFF2-40B4-BE49-F238E27FC236}">
                <a16:creationId xmlns:a16="http://schemas.microsoft.com/office/drawing/2014/main" id="{B9C2760C-BDD3-482D-8C66-74A7F520E2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Backprop </a:t>
            </a:r>
            <a:r>
              <a:rPr lang="en-US" spc="-5" dirty="0"/>
              <a:t>with</a:t>
            </a:r>
            <a:r>
              <a:rPr lang="en-US" spc="-65" dirty="0"/>
              <a:t> </a:t>
            </a:r>
            <a:r>
              <a:rPr lang="en-US" spc="-30" dirty="0"/>
              <a:t>Vectors</a:t>
            </a:r>
            <a:endParaRPr 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453ED3F3-34B5-4605-8815-119EBAB24C36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2718" y="2042972"/>
            <a:ext cx="2040889" cy="971420"/>
          </a:xfrm>
          <a:prstGeom prst="rect">
            <a:avLst/>
          </a:prstGeom>
          <a:solidFill>
            <a:srgbClr val="F2F2F2"/>
          </a:solidFill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6205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Garamond" panose="02020404030301010803" pitchFamily="18" charset="0"/>
                <a:cs typeface="Arial"/>
              </a:rPr>
              <a:t>f(x) </a:t>
            </a:r>
            <a:r>
              <a:rPr sz="2200" dirty="0">
                <a:latin typeface="Garamond" panose="02020404030301010803" pitchFamily="18" charset="0"/>
                <a:cs typeface="Arial"/>
              </a:rPr>
              <a:t>=</a:t>
            </a:r>
            <a:r>
              <a:rPr sz="22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200" dirty="0">
                <a:latin typeface="Garamond" panose="02020404030301010803" pitchFamily="18" charset="0"/>
                <a:cs typeface="Arial"/>
              </a:rPr>
              <a:t>max(0,x)</a:t>
            </a:r>
          </a:p>
          <a:p>
            <a:pPr marL="150495">
              <a:lnSpc>
                <a:spcPts val="2630"/>
              </a:lnSpc>
            </a:pPr>
            <a:r>
              <a:rPr sz="2200" i="1" dirty="0">
                <a:latin typeface="Garamond" panose="02020404030301010803" pitchFamily="18" charset="0"/>
                <a:cs typeface="Arial"/>
              </a:rPr>
              <a:t>(elementwise)</a:t>
            </a:r>
            <a:endParaRPr sz="22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1044" y="2145193"/>
            <a:ext cx="666750" cy="41275"/>
            <a:chOff x="2821044" y="1287942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821044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821044" y="2427477"/>
            <a:ext cx="666750" cy="41275"/>
            <a:chOff x="2821044" y="1570226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821044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21044" y="2751494"/>
            <a:ext cx="666750" cy="41275"/>
            <a:chOff x="2821044" y="1894243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821044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21044" y="3064918"/>
            <a:ext cx="666750" cy="41275"/>
            <a:chOff x="2821044" y="2207667"/>
            <a:chExt cx="666750" cy="41275"/>
          </a:xfrm>
        </p:grpSpPr>
        <p:sp>
          <p:nvSpPr>
            <p:cNvPr id="16" name="object 16"/>
            <p:cNvSpPr/>
            <p:nvPr/>
          </p:nvSpPr>
          <p:spPr>
            <a:xfrm>
              <a:off x="2821044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0886" y="1638038"/>
            <a:ext cx="1238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input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x: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8508" y="1942837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519430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-2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7013" y="1638038"/>
            <a:ext cx="139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output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y: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99310" y="1942837"/>
            <a:ext cx="589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8151" y="3443462"/>
            <a:ext cx="1111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85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dL/dy: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2299" y="3748262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4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5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9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5841" y="3443462"/>
            <a:ext cx="166116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">
              <a:spcBef>
                <a:spcPts val="100"/>
              </a:spcBef>
              <a:tabLst>
                <a:tab pos="1563370" algn="l"/>
              </a:tabLst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[dy/dx] [dL/dy] 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</a:t>
            </a:r>
            <a:r>
              <a:rPr sz="2000" spc="-5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</a:t>
            </a:r>
            <a:r>
              <a:rPr sz="2000" spc="-5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4	]</a:t>
            </a:r>
          </a:p>
          <a:p>
            <a:pPr marL="12700"/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</a:t>
            </a:r>
            <a:r>
              <a:rPr sz="2000" dirty="0">
                <a:latin typeface="Garamond" panose="02020404030301010803" pitchFamily="18" charset="0"/>
                <a:cs typeface="Arial"/>
              </a:rPr>
              <a:t>] [ -1</a:t>
            </a:r>
            <a:r>
              <a:rPr sz="2000" spc="-13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</a:p>
          <a:p>
            <a:pPr marL="12700">
              <a:tabLst>
                <a:tab pos="1563370" algn="l"/>
              </a:tabLst>
            </a:pPr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</a:t>
            </a:r>
            <a:r>
              <a:rPr sz="2000" dirty="0">
                <a:latin typeface="Garamond" panose="02020404030301010803" pitchFamily="18" charset="0"/>
                <a:cs typeface="Arial"/>
              </a:rPr>
              <a:t>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  <a:r>
              <a:rPr sz="20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5	]</a:t>
            </a:r>
          </a:p>
          <a:p>
            <a:pPr marL="12700">
              <a:tabLst>
                <a:tab pos="1562735" algn="l"/>
              </a:tabLst>
            </a:pPr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0 0 0 </a:t>
            </a:r>
            <a:r>
              <a:rPr sz="2000" dirty="0">
                <a:latin typeface="Garamond" panose="02020404030301010803" pitchFamily="18" charset="0"/>
                <a:cs typeface="Arial"/>
              </a:rPr>
              <a:t>0 ]</a:t>
            </a:r>
            <a:r>
              <a:rPr sz="20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9	]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045151" y="4054020"/>
            <a:ext cx="101600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4615" marR="5080" indent="-8255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6638" y="2145193"/>
            <a:ext cx="666750" cy="41275"/>
            <a:chOff x="5716638" y="1287942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716638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716638" y="2427477"/>
            <a:ext cx="666750" cy="41275"/>
            <a:chOff x="5716638" y="1570226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716638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6638" y="2751494"/>
            <a:ext cx="666750" cy="41275"/>
            <a:chOff x="5716638" y="1894243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716638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716638" y="3064918"/>
            <a:ext cx="666750" cy="41275"/>
            <a:chOff x="5716638" y="2207667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716638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173597" y="3897782"/>
            <a:ext cx="666750" cy="41275"/>
            <a:chOff x="7173597" y="304053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7221585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173597" y="4180081"/>
            <a:ext cx="666750" cy="41275"/>
            <a:chOff x="7173597" y="3322830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7221585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173597" y="4504081"/>
            <a:ext cx="666750" cy="41275"/>
            <a:chOff x="7173597" y="3646830"/>
            <a:chExt cx="666750" cy="41275"/>
          </a:xfrm>
        </p:grpSpPr>
        <p:sp>
          <p:nvSpPr>
            <p:cNvPr id="53" name="object 53"/>
            <p:cNvSpPr/>
            <p:nvPr/>
          </p:nvSpPr>
          <p:spPr>
            <a:xfrm>
              <a:off x="7221585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7173597" y="4817505"/>
            <a:ext cx="666750" cy="41275"/>
            <a:chOff x="7173597" y="3960254"/>
            <a:chExt cx="666750" cy="41275"/>
          </a:xfrm>
        </p:grpSpPr>
        <p:sp>
          <p:nvSpPr>
            <p:cNvPr id="57" name="object 57"/>
            <p:cNvSpPr/>
            <p:nvPr/>
          </p:nvSpPr>
          <p:spPr>
            <a:xfrm>
              <a:off x="7221585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5725800" y="3897782"/>
            <a:ext cx="666750" cy="41275"/>
            <a:chOff x="5725800" y="3040531"/>
            <a:chExt cx="666750" cy="41275"/>
          </a:xfrm>
        </p:grpSpPr>
        <p:sp>
          <p:nvSpPr>
            <p:cNvPr id="61" name="object 61"/>
            <p:cNvSpPr/>
            <p:nvPr/>
          </p:nvSpPr>
          <p:spPr>
            <a:xfrm>
              <a:off x="5773788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725800" y="4180081"/>
            <a:ext cx="666750" cy="41275"/>
            <a:chOff x="5725800" y="3322830"/>
            <a:chExt cx="666750" cy="41275"/>
          </a:xfrm>
        </p:grpSpPr>
        <p:sp>
          <p:nvSpPr>
            <p:cNvPr id="65" name="object 65"/>
            <p:cNvSpPr/>
            <p:nvPr/>
          </p:nvSpPr>
          <p:spPr>
            <a:xfrm>
              <a:off x="5773788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725800" y="4504081"/>
            <a:ext cx="666750" cy="41275"/>
            <a:chOff x="5725800" y="3646830"/>
            <a:chExt cx="666750" cy="41275"/>
          </a:xfrm>
        </p:grpSpPr>
        <p:sp>
          <p:nvSpPr>
            <p:cNvPr id="69" name="object 69"/>
            <p:cNvSpPr/>
            <p:nvPr/>
          </p:nvSpPr>
          <p:spPr>
            <a:xfrm>
              <a:off x="5773788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5725800" y="4817505"/>
            <a:ext cx="666750" cy="41275"/>
            <a:chOff x="5725800" y="3960254"/>
            <a:chExt cx="666750" cy="41275"/>
          </a:xfrm>
        </p:grpSpPr>
        <p:sp>
          <p:nvSpPr>
            <p:cNvPr id="73" name="object 73"/>
            <p:cNvSpPr/>
            <p:nvPr/>
          </p:nvSpPr>
          <p:spPr>
            <a:xfrm>
              <a:off x="5773788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2906406" y="3897782"/>
            <a:ext cx="666750" cy="41275"/>
            <a:chOff x="2906406" y="3040531"/>
            <a:chExt cx="666750" cy="41275"/>
          </a:xfrm>
        </p:grpSpPr>
        <p:sp>
          <p:nvSpPr>
            <p:cNvPr id="77" name="object 77"/>
            <p:cNvSpPr/>
            <p:nvPr/>
          </p:nvSpPr>
          <p:spPr>
            <a:xfrm>
              <a:off x="2954394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2911169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2911169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2906406" y="4180081"/>
            <a:ext cx="666750" cy="41275"/>
            <a:chOff x="2906406" y="3322830"/>
            <a:chExt cx="666750" cy="41275"/>
          </a:xfrm>
        </p:grpSpPr>
        <p:sp>
          <p:nvSpPr>
            <p:cNvPr id="81" name="object 81"/>
            <p:cNvSpPr/>
            <p:nvPr/>
          </p:nvSpPr>
          <p:spPr>
            <a:xfrm>
              <a:off x="2954394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2911169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2911169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2906406" y="4504081"/>
            <a:ext cx="666750" cy="41275"/>
            <a:chOff x="2906406" y="3646830"/>
            <a:chExt cx="666750" cy="41275"/>
          </a:xfrm>
        </p:grpSpPr>
        <p:sp>
          <p:nvSpPr>
            <p:cNvPr id="85" name="object 85"/>
            <p:cNvSpPr/>
            <p:nvPr/>
          </p:nvSpPr>
          <p:spPr>
            <a:xfrm>
              <a:off x="2954394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2911169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2911169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2906406" y="4817505"/>
            <a:ext cx="666750" cy="41275"/>
            <a:chOff x="2906406" y="3960254"/>
            <a:chExt cx="666750" cy="41275"/>
          </a:xfrm>
        </p:grpSpPr>
        <p:sp>
          <p:nvSpPr>
            <p:cNvPr id="89" name="object 89"/>
            <p:cNvSpPr/>
            <p:nvPr/>
          </p:nvSpPr>
          <p:spPr>
            <a:xfrm>
              <a:off x="2954394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911169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911169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844365" y="3443462"/>
            <a:ext cx="111188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100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dL/dx: 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[ 4</a:t>
            </a:r>
            <a:r>
              <a:rPr sz="2000" spc="-4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[ 0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[ 5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[ 0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44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5" name="object 95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96" name="Title 95">
            <a:extLst>
              <a:ext uri="{FF2B5EF4-FFF2-40B4-BE49-F238E27FC236}">
                <a16:creationId xmlns:a16="http://schemas.microsoft.com/office/drawing/2014/main" id="{B02B7A10-F2B9-463C-B3E5-E260E2ECB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Backprop </a:t>
            </a:r>
            <a:r>
              <a:rPr lang="en-US" spc="-5" dirty="0"/>
              <a:t>with</a:t>
            </a:r>
            <a:r>
              <a:rPr lang="en-US" spc="-65" dirty="0"/>
              <a:t> </a:t>
            </a:r>
            <a:r>
              <a:rPr lang="en-US" spc="-30" dirty="0"/>
              <a:t>Vectors</a:t>
            </a:r>
            <a:endParaRPr lang="en-US" dirty="0"/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7012A0F2-15C6-4D61-BDE2-E21902F53554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2718" y="2042972"/>
            <a:ext cx="2040889" cy="971420"/>
          </a:xfrm>
          <a:prstGeom prst="rect">
            <a:avLst/>
          </a:prstGeom>
          <a:solidFill>
            <a:srgbClr val="F2F2F2"/>
          </a:solidFill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6205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Garamond" panose="02020404030301010803" pitchFamily="18" charset="0"/>
                <a:cs typeface="Arial"/>
              </a:rPr>
              <a:t>f(x) </a:t>
            </a:r>
            <a:r>
              <a:rPr sz="2200" dirty="0">
                <a:latin typeface="Garamond" panose="02020404030301010803" pitchFamily="18" charset="0"/>
                <a:cs typeface="Arial"/>
              </a:rPr>
              <a:t>=</a:t>
            </a:r>
            <a:r>
              <a:rPr sz="22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200" dirty="0">
                <a:latin typeface="Garamond" panose="02020404030301010803" pitchFamily="18" charset="0"/>
                <a:cs typeface="Arial"/>
              </a:rPr>
              <a:t>max(0,x)</a:t>
            </a:r>
          </a:p>
          <a:p>
            <a:pPr marL="150495">
              <a:lnSpc>
                <a:spcPts val="2630"/>
              </a:lnSpc>
            </a:pPr>
            <a:r>
              <a:rPr sz="2200" i="1" dirty="0">
                <a:latin typeface="Garamond" panose="02020404030301010803" pitchFamily="18" charset="0"/>
                <a:cs typeface="Arial"/>
              </a:rPr>
              <a:t>(elementwise)</a:t>
            </a:r>
            <a:endParaRPr sz="22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1044" y="2145193"/>
            <a:ext cx="666750" cy="41275"/>
            <a:chOff x="2821044" y="1287942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821044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821044" y="2427477"/>
            <a:ext cx="666750" cy="41275"/>
            <a:chOff x="2821044" y="1570226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821044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21044" y="2751494"/>
            <a:ext cx="666750" cy="41275"/>
            <a:chOff x="2821044" y="1894243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821044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21044" y="3064918"/>
            <a:ext cx="666750" cy="41275"/>
            <a:chOff x="2821044" y="2207667"/>
            <a:chExt cx="666750" cy="41275"/>
          </a:xfrm>
        </p:grpSpPr>
        <p:sp>
          <p:nvSpPr>
            <p:cNvPr id="16" name="object 16"/>
            <p:cNvSpPr/>
            <p:nvPr/>
          </p:nvSpPr>
          <p:spPr>
            <a:xfrm>
              <a:off x="2821044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0886" y="1638038"/>
            <a:ext cx="1238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input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x: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8508" y="1942837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519430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-2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7013" y="1638038"/>
            <a:ext cx="139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output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y: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99310" y="1942837"/>
            <a:ext cx="589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8151" y="3443462"/>
            <a:ext cx="1111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85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dL/dy: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2299" y="3748262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4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5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9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5841" y="3443462"/>
            <a:ext cx="166116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">
              <a:spcBef>
                <a:spcPts val="100"/>
              </a:spcBef>
              <a:tabLst>
                <a:tab pos="1563370" algn="l"/>
              </a:tabLst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[dy/dx] [dL/dy] 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</a:t>
            </a:r>
            <a:r>
              <a:rPr sz="2000" spc="-5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</a:t>
            </a:r>
            <a:r>
              <a:rPr sz="2000" spc="-5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4	]</a:t>
            </a:r>
          </a:p>
          <a:p>
            <a:pPr marL="12700"/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</a:t>
            </a:r>
            <a:r>
              <a:rPr sz="2000" dirty="0">
                <a:latin typeface="Garamond" panose="02020404030301010803" pitchFamily="18" charset="0"/>
                <a:cs typeface="Arial"/>
              </a:rPr>
              <a:t>] [ -1</a:t>
            </a:r>
            <a:r>
              <a:rPr sz="2000" spc="-13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</a:p>
          <a:p>
            <a:pPr marL="12700">
              <a:tabLst>
                <a:tab pos="1563370" algn="l"/>
              </a:tabLst>
            </a:pPr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</a:t>
            </a:r>
            <a:r>
              <a:rPr sz="2000" dirty="0">
                <a:latin typeface="Garamond" panose="02020404030301010803" pitchFamily="18" charset="0"/>
                <a:cs typeface="Arial"/>
              </a:rPr>
              <a:t>1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</a:t>
            </a:r>
            <a:r>
              <a:rPr sz="2000" dirty="0">
                <a:latin typeface="Garamond" panose="02020404030301010803" pitchFamily="18" charset="0"/>
                <a:cs typeface="Arial"/>
              </a:rPr>
              <a:t>]</a:t>
            </a:r>
            <a:r>
              <a:rPr sz="20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5	]</a:t>
            </a:r>
          </a:p>
          <a:p>
            <a:pPr marL="12700">
              <a:tabLst>
                <a:tab pos="1562735" algn="l"/>
              </a:tabLst>
            </a:pPr>
            <a:r>
              <a:rPr sz="2000" dirty="0">
                <a:latin typeface="Garamond" panose="02020404030301010803" pitchFamily="18" charset="0"/>
                <a:cs typeface="Arial"/>
              </a:rPr>
              <a:t>[ </a:t>
            </a:r>
            <a:r>
              <a:rPr sz="2000" dirty="0">
                <a:solidFill>
                  <a:srgbClr val="999999"/>
                </a:solidFill>
                <a:latin typeface="Garamond" panose="02020404030301010803" pitchFamily="18" charset="0"/>
                <a:cs typeface="Arial"/>
              </a:rPr>
              <a:t>0 0 0 </a:t>
            </a:r>
            <a:r>
              <a:rPr sz="2000" dirty="0">
                <a:latin typeface="Garamond" panose="02020404030301010803" pitchFamily="18" charset="0"/>
                <a:cs typeface="Arial"/>
              </a:rPr>
              <a:t>0 ]</a:t>
            </a:r>
            <a:r>
              <a:rPr sz="2000" spc="-2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9	]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8045151" y="4054020"/>
            <a:ext cx="101600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4615" marR="5080" indent="-8255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6638" y="2145193"/>
            <a:ext cx="666750" cy="41275"/>
            <a:chOff x="5716638" y="1287942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716638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716638" y="2427477"/>
            <a:ext cx="666750" cy="41275"/>
            <a:chOff x="5716638" y="1570226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716638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6638" y="2751494"/>
            <a:ext cx="666750" cy="41275"/>
            <a:chOff x="5716638" y="1894243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716638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716638" y="3064918"/>
            <a:ext cx="666750" cy="41275"/>
            <a:chOff x="5716638" y="2207667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716638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173597" y="3897782"/>
            <a:ext cx="666750" cy="41275"/>
            <a:chOff x="7173597" y="304053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7221585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173597" y="4180081"/>
            <a:ext cx="666750" cy="41275"/>
            <a:chOff x="7173597" y="3322830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7221585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173597" y="4504081"/>
            <a:ext cx="666750" cy="41275"/>
            <a:chOff x="7173597" y="3646830"/>
            <a:chExt cx="666750" cy="41275"/>
          </a:xfrm>
        </p:grpSpPr>
        <p:sp>
          <p:nvSpPr>
            <p:cNvPr id="53" name="object 53"/>
            <p:cNvSpPr/>
            <p:nvPr/>
          </p:nvSpPr>
          <p:spPr>
            <a:xfrm>
              <a:off x="7221585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7173597" y="4817505"/>
            <a:ext cx="666750" cy="41275"/>
            <a:chOff x="7173597" y="3960254"/>
            <a:chExt cx="666750" cy="41275"/>
          </a:xfrm>
        </p:grpSpPr>
        <p:sp>
          <p:nvSpPr>
            <p:cNvPr id="57" name="object 57"/>
            <p:cNvSpPr/>
            <p:nvPr/>
          </p:nvSpPr>
          <p:spPr>
            <a:xfrm>
              <a:off x="7221585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5725800" y="3897782"/>
            <a:ext cx="666750" cy="41275"/>
            <a:chOff x="5725800" y="3040531"/>
            <a:chExt cx="666750" cy="41275"/>
          </a:xfrm>
        </p:grpSpPr>
        <p:sp>
          <p:nvSpPr>
            <p:cNvPr id="61" name="object 61"/>
            <p:cNvSpPr/>
            <p:nvPr/>
          </p:nvSpPr>
          <p:spPr>
            <a:xfrm>
              <a:off x="5773788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5725800" y="4180081"/>
            <a:ext cx="666750" cy="41275"/>
            <a:chOff x="5725800" y="3322830"/>
            <a:chExt cx="666750" cy="41275"/>
          </a:xfrm>
        </p:grpSpPr>
        <p:sp>
          <p:nvSpPr>
            <p:cNvPr id="65" name="object 65"/>
            <p:cNvSpPr/>
            <p:nvPr/>
          </p:nvSpPr>
          <p:spPr>
            <a:xfrm>
              <a:off x="5773788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5725800" y="4504081"/>
            <a:ext cx="666750" cy="41275"/>
            <a:chOff x="5725800" y="3646830"/>
            <a:chExt cx="666750" cy="41275"/>
          </a:xfrm>
        </p:grpSpPr>
        <p:sp>
          <p:nvSpPr>
            <p:cNvPr id="69" name="object 69"/>
            <p:cNvSpPr/>
            <p:nvPr/>
          </p:nvSpPr>
          <p:spPr>
            <a:xfrm>
              <a:off x="5773788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5725800" y="4817505"/>
            <a:ext cx="666750" cy="41275"/>
            <a:chOff x="5725800" y="3960254"/>
            <a:chExt cx="666750" cy="41275"/>
          </a:xfrm>
        </p:grpSpPr>
        <p:sp>
          <p:nvSpPr>
            <p:cNvPr id="73" name="object 73"/>
            <p:cNvSpPr/>
            <p:nvPr/>
          </p:nvSpPr>
          <p:spPr>
            <a:xfrm>
              <a:off x="5773788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2906406" y="3897782"/>
            <a:ext cx="666750" cy="41275"/>
            <a:chOff x="2906406" y="3040531"/>
            <a:chExt cx="666750" cy="41275"/>
          </a:xfrm>
        </p:grpSpPr>
        <p:sp>
          <p:nvSpPr>
            <p:cNvPr id="77" name="object 77"/>
            <p:cNvSpPr/>
            <p:nvPr/>
          </p:nvSpPr>
          <p:spPr>
            <a:xfrm>
              <a:off x="2954394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2911169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2911169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2906406" y="4180081"/>
            <a:ext cx="666750" cy="41275"/>
            <a:chOff x="2906406" y="3322830"/>
            <a:chExt cx="666750" cy="41275"/>
          </a:xfrm>
        </p:grpSpPr>
        <p:sp>
          <p:nvSpPr>
            <p:cNvPr id="81" name="object 81"/>
            <p:cNvSpPr/>
            <p:nvPr/>
          </p:nvSpPr>
          <p:spPr>
            <a:xfrm>
              <a:off x="2954394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2911169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2911169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2906406" y="4504081"/>
            <a:ext cx="666750" cy="41275"/>
            <a:chOff x="2906406" y="3646830"/>
            <a:chExt cx="666750" cy="41275"/>
          </a:xfrm>
        </p:grpSpPr>
        <p:sp>
          <p:nvSpPr>
            <p:cNvPr id="85" name="object 85"/>
            <p:cNvSpPr/>
            <p:nvPr/>
          </p:nvSpPr>
          <p:spPr>
            <a:xfrm>
              <a:off x="2954394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2911169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2911169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2906406" y="4817505"/>
            <a:ext cx="666750" cy="41275"/>
            <a:chOff x="2906406" y="3960254"/>
            <a:chExt cx="666750" cy="41275"/>
          </a:xfrm>
        </p:grpSpPr>
        <p:sp>
          <p:nvSpPr>
            <p:cNvPr id="89" name="object 89"/>
            <p:cNvSpPr/>
            <p:nvPr/>
          </p:nvSpPr>
          <p:spPr>
            <a:xfrm>
              <a:off x="2954394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911169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911169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39749" y="2513882"/>
            <a:ext cx="1586230" cy="15354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Jacobian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is</a:t>
            </a:r>
            <a:r>
              <a:rPr sz="14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400" b="1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sparse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:  </a:t>
            </a:r>
            <a:r>
              <a:rPr sz="1400" spc="-1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off-diagonal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entries  always </a:t>
            </a: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zero!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Never  </a:t>
            </a:r>
            <a:r>
              <a:rPr sz="1400" b="1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explicitly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form  </a:t>
            </a: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Jacobian --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instead  use </a:t>
            </a:r>
            <a:r>
              <a:rPr sz="1400" b="1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implicit  </a:t>
            </a: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multiplication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45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844365" y="3443462"/>
            <a:ext cx="111188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100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dL/dx: 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[ 4</a:t>
            </a:r>
            <a:r>
              <a:rPr sz="2000" spc="-4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[ 0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[ 5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[ 0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7" name="Title 96">
            <a:extLst>
              <a:ext uri="{FF2B5EF4-FFF2-40B4-BE49-F238E27FC236}">
                <a16:creationId xmlns:a16="http://schemas.microsoft.com/office/drawing/2014/main" id="{E7B3DED5-95E1-49F5-812E-FA659A41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Backprop </a:t>
            </a:r>
            <a:r>
              <a:rPr lang="en-US" spc="-5" dirty="0"/>
              <a:t>with</a:t>
            </a:r>
            <a:r>
              <a:rPr lang="en-US" spc="-65" dirty="0"/>
              <a:t> </a:t>
            </a:r>
            <a:r>
              <a:rPr lang="en-US" spc="-30" dirty="0"/>
              <a:t>Vectors</a:t>
            </a:r>
            <a:endParaRPr 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3AA6A6-1C3E-4555-8331-6D69773E3EDF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572718" y="2042972"/>
            <a:ext cx="2040889" cy="971420"/>
          </a:xfrm>
          <a:prstGeom prst="rect">
            <a:avLst/>
          </a:prstGeom>
          <a:solidFill>
            <a:srgbClr val="F2F2F2"/>
          </a:solidFill>
          <a:ln w="9524">
            <a:solidFill>
              <a:srgbClr val="595959"/>
            </a:solidFill>
          </a:ln>
        </p:spPr>
        <p:txBody>
          <a:bodyPr vert="horz" wrap="square" lIns="0" tIns="4445" rIns="0" bIns="0" rtlCol="0">
            <a:spAutoFit/>
          </a:bodyPr>
          <a:lstStyle/>
          <a:p>
            <a:pPr>
              <a:spcBef>
                <a:spcPts val="35"/>
              </a:spcBef>
            </a:pPr>
            <a:endParaRPr sz="1950" dirty="0">
              <a:latin typeface="Times New Roman"/>
              <a:cs typeface="Times New Roman"/>
            </a:endParaRPr>
          </a:p>
          <a:p>
            <a:pPr marL="116205">
              <a:lnSpc>
                <a:spcPts val="2630"/>
              </a:lnSpc>
              <a:spcBef>
                <a:spcPts val="5"/>
              </a:spcBef>
            </a:pPr>
            <a:r>
              <a:rPr sz="2200" spc="-5" dirty="0">
                <a:latin typeface="Garamond" panose="02020404030301010803" pitchFamily="18" charset="0"/>
                <a:cs typeface="Arial"/>
              </a:rPr>
              <a:t>f(x) </a:t>
            </a:r>
            <a:r>
              <a:rPr sz="2200" dirty="0">
                <a:latin typeface="Garamond" panose="02020404030301010803" pitchFamily="18" charset="0"/>
                <a:cs typeface="Arial"/>
              </a:rPr>
              <a:t>=</a:t>
            </a:r>
            <a:r>
              <a:rPr sz="2200" spc="-70" dirty="0">
                <a:latin typeface="Garamond" panose="02020404030301010803" pitchFamily="18" charset="0"/>
                <a:cs typeface="Arial"/>
              </a:rPr>
              <a:t> </a:t>
            </a:r>
            <a:r>
              <a:rPr sz="2200" dirty="0">
                <a:latin typeface="Garamond" panose="02020404030301010803" pitchFamily="18" charset="0"/>
                <a:cs typeface="Arial"/>
              </a:rPr>
              <a:t>max(0,x)</a:t>
            </a:r>
          </a:p>
          <a:p>
            <a:pPr marL="150495">
              <a:lnSpc>
                <a:spcPts val="2630"/>
              </a:lnSpc>
            </a:pPr>
            <a:r>
              <a:rPr sz="2200" i="1" dirty="0">
                <a:latin typeface="Garamond" panose="02020404030301010803" pitchFamily="18" charset="0"/>
                <a:cs typeface="Arial"/>
              </a:rPr>
              <a:t>(elementwise)</a:t>
            </a:r>
            <a:endParaRPr sz="2200"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2821044" y="2145193"/>
            <a:ext cx="666750" cy="41275"/>
            <a:chOff x="2821044" y="1287942"/>
            <a:chExt cx="666750" cy="41275"/>
          </a:xfrm>
        </p:grpSpPr>
        <p:sp>
          <p:nvSpPr>
            <p:cNvPr id="4" name="object 4"/>
            <p:cNvSpPr/>
            <p:nvPr/>
          </p:nvSpPr>
          <p:spPr>
            <a:xfrm>
              <a:off x="2821044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439493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" name="object 7"/>
          <p:cNvGrpSpPr/>
          <p:nvPr/>
        </p:nvGrpSpPr>
        <p:grpSpPr>
          <a:xfrm>
            <a:off x="2821044" y="2427477"/>
            <a:ext cx="666750" cy="41275"/>
            <a:chOff x="2821044" y="1570226"/>
            <a:chExt cx="666750" cy="41275"/>
          </a:xfrm>
        </p:grpSpPr>
        <p:sp>
          <p:nvSpPr>
            <p:cNvPr id="8" name="object 8"/>
            <p:cNvSpPr/>
            <p:nvPr/>
          </p:nvSpPr>
          <p:spPr>
            <a:xfrm>
              <a:off x="2821044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3439493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2821044" y="2751494"/>
            <a:ext cx="666750" cy="41275"/>
            <a:chOff x="2821044" y="1894243"/>
            <a:chExt cx="666750" cy="41275"/>
          </a:xfrm>
        </p:grpSpPr>
        <p:sp>
          <p:nvSpPr>
            <p:cNvPr id="12" name="object 12"/>
            <p:cNvSpPr/>
            <p:nvPr/>
          </p:nvSpPr>
          <p:spPr>
            <a:xfrm>
              <a:off x="2821044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3439493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15" name="object 15"/>
          <p:cNvGrpSpPr/>
          <p:nvPr/>
        </p:nvGrpSpPr>
        <p:grpSpPr>
          <a:xfrm>
            <a:off x="2821044" y="3064918"/>
            <a:ext cx="666750" cy="41275"/>
            <a:chOff x="2821044" y="2207667"/>
            <a:chExt cx="666750" cy="41275"/>
          </a:xfrm>
        </p:grpSpPr>
        <p:sp>
          <p:nvSpPr>
            <p:cNvPr id="16" name="object 16"/>
            <p:cNvSpPr/>
            <p:nvPr/>
          </p:nvSpPr>
          <p:spPr>
            <a:xfrm>
              <a:off x="2821044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3439493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1780886" y="1638038"/>
            <a:ext cx="1238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input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x:</a:t>
            </a:r>
          </a:p>
        </p:txBody>
      </p:sp>
      <p:sp>
        <p:nvSpPr>
          <p:cNvPr id="20" name="object 20"/>
          <p:cNvSpPr txBox="1"/>
          <p:nvPr/>
        </p:nvSpPr>
        <p:spPr>
          <a:xfrm>
            <a:off x="2098508" y="1942837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519430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</a:t>
            </a:r>
            <a:r>
              <a:rPr sz="2000" spc="-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-2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097013" y="1638038"/>
            <a:ext cx="139446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 output</a:t>
            </a:r>
            <a:r>
              <a:rPr sz="2000" spc="-90" dirty="0"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latin typeface="Garamond" panose="02020404030301010803" pitchFamily="18" charset="0"/>
                <a:cs typeface="Arial"/>
              </a:rPr>
              <a:t>y: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6499310" y="1942837"/>
            <a:ext cx="58928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1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3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  <a:tab pos="504825" algn="l"/>
              </a:tabLst>
            </a:pPr>
            <a:r>
              <a:rPr sz="2000" dirty="0">
                <a:solidFill>
                  <a:srgbClr val="69A84F"/>
                </a:solidFill>
                <a:latin typeface="Garamond" panose="02020404030301010803" pitchFamily="18" charset="0"/>
                <a:cs typeface="Arial"/>
              </a:rPr>
              <a:t>[	0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6238151" y="3443462"/>
            <a:ext cx="111188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85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dL/dy: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492299" y="3748262"/>
            <a:ext cx="60325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685">
              <a:spcBef>
                <a:spcPts val="100"/>
              </a:spcBef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4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2700">
              <a:tabLst>
                <a:tab pos="222885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-1</a:t>
            </a:r>
            <a:r>
              <a:rPr sz="2000" spc="-10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5	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marL="19685">
              <a:tabLst>
                <a:tab pos="230504" algn="l"/>
                <a:tab pos="511809" algn="l"/>
              </a:tabLst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	9	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3695841" y="3443462"/>
            <a:ext cx="1661160" cy="32060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9050">
              <a:spcBef>
                <a:spcPts val="100"/>
              </a:spcBef>
              <a:tabLst>
                <a:tab pos="1563370" algn="l"/>
              </a:tabLst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[dy/dx] [dL/</a:t>
            </a:r>
            <a:r>
              <a:rPr sz="2000" spc="-5" dirty="0" err="1">
                <a:latin typeface="Garamond" panose="02020404030301010803" pitchFamily="18" charset="0"/>
                <a:cs typeface="Arial"/>
              </a:rPr>
              <a:t>dy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8045151" y="4054020"/>
            <a:ext cx="1016000" cy="562526"/>
          </a:xfrm>
          <a:prstGeom prst="rect">
            <a:avLst/>
          </a:prstGeom>
        </p:spPr>
        <p:txBody>
          <a:bodyPr vert="horz" wrap="square" lIns="0" tIns="10795" rIns="0" bIns="0" rtlCol="0">
            <a:spAutoFit/>
          </a:bodyPr>
          <a:lstStyle/>
          <a:p>
            <a:pPr marL="94615" marR="5080" indent="-82550">
              <a:lnSpc>
                <a:spcPct val="100699"/>
              </a:lnSpc>
              <a:spcBef>
                <a:spcPts val="85"/>
              </a:spcBef>
            </a:pPr>
            <a:r>
              <a:rPr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Upstream  gradient</a:t>
            </a:r>
            <a:endParaRPr dirty="0">
              <a:latin typeface="Garamond" panose="02020404030301010803" pitchFamily="18" charset="0"/>
              <a:cs typeface="Arial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5716638" y="2145193"/>
            <a:ext cx="666750" cy="41275"/>
            <a:chOff x="5716638" y="1287942"/>
            <a:chExt cx="666750" cy="41275"/>
          </a:xfrm>
        </p:grpSpPr>
        <p:sp>
          <p:nvSpPr>
            <p:cNvPr id="29" name="object 29"/>
            <p:cNvSpPr/>
            <p:nvPr/>
          </p:nvSpPr>
          <p:spPr>
            <a:xfrm>
              <a:off x="5716638" y="1308437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0" name="object 30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1" name="object 31"/>
            <p:cNvSpPr/>
            <p:nvPr/>
          </p:nvSpPr>
          <p:spPr>
            <a:xfrm>
              <a:off x="6335087" y="1292704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2" name="object 32"/>
          <p:cNvGrpSpPr/>
          <p:nvPr/>
        </p:nvGrpSpPr>
        <p:grpSpPr>
          <a:xfrm>
            <a:off x="5716638" y="2427477"/>
            <a:ext cx="666750" cy="41275"/>
            <a:chOff x="5716638" y="1570226"/>
            <a:chExt cx="666750" cy="41275"/>
          </a:xfrm>
        </p:grpSpPr>
        <p:sp>
          <p:nvSpPr>
            <p:cNvPr id="33" name="object 33"/>
            <p:cNvSpPr/>
            <p:nvPr/>
          </p:nvSpPr>
          <p:spPr>
            <a:xfrm>
              <a:off x="5716638" y="1590721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4" name="object 34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5" name="object 35"/>
            <p:cNvSpPr/>
            <p:nvPr/>
          </p:nvSpPr>
          <p:spPr>
            <a:xfrm>
              <a:off x="6335087" y="1574989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36" name="object 36"/>
          <p:cNvGrpSpPr/>
          <p:nvPr/>
        </p:nvGrpSpPr>
        <p:grpSpPr>
          <a:xfrm>
            <a:off x="5716638" y="2751494"/>
            <a:ext cx="666750" cy="41275"/>
            <a:chOff x="5716638" y="1894243"/>
            <a:chExt cx="666750" cy="41275"/>
          </a:xfrm>
        </p:grpSpPr>
        <p:sp>
          <p:nvSpPr>
            <p:cNvPr id="37" name="object 37"/>
            <p:cNvSpPr/>
            <p:nvPr/>
          </p:nvSpPr>
          <p:spPr>
            <a:xfrm>
              <a:off x="5716638" y="191473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8" name="object 38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39" name="object 39"/>
            <p:cNvSpPr/>
            <p:nvPr/>
          </p:nvSpPr>
          <p:spPr>
            <a:xfrm>
              <a:off x="6335087" y="189900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0" name="object 40"/>
          <p:cNvGrpSpPr/>
          <p:nvPr/>
        </p:nvGrpSpPr>
        <p:grpSpPr>
          <a:xfrm>
            <a:off x="5716638" y="3064918"/>
            <a:ext cx="666750" cy="41275"/>
            <a:chOff x="5716638" y="2207667"/>
            <a:chExt cx="666750" cy="41275"/>
          </a:xfrm>
        </p:grpSpPr>
        <p:sp>
          <p:nvSpPr>
            <p:cNvPr id="41" name="object 41"/>
            <p:cNvSpPr/>
            <p:nvPr/>
          </p:nvSpPr>
          <p:spPr>
            <a:xfrm>
              <a:off x="5716638" y="222816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2" name="object 42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0" y="0"/>
                  </a:lnTo>
                  <a:lnTo>
                    <a:pt x="43224" y="15732"/>
                  </a:lnTo>
                  <a:lnTo>
                    <a:pt x="0" y="31464"/>
                  </a:lnTo>
                  <a:close/>
                </a:path>
              </a:pathLst>
            </a:custGeom>
            <a:solidFill>
              <a:srgbClr val="595959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3" name="object 43"/>
            <p:cNvSpPr/>
            <p:nvPr/>
          </p:nvSpPr>
          <p:spPr>
            <a:xfrm>
              <a:off x="6335087" y="2212430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0" y="31464"/>
                  </a:moveTo>
                  <a:lnTo>
                    <a:pt x="43224" y="15732"/>
                  </a:lnTo>
                  <a:lnTo>
                    <a:pt x="0" y="0"/>
                  </a:lnTo>
                  <a:lnTo>
                    <a:pt x="0" y="31464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4" name="object 44"/>
          <p:cNvGrpSpPr/>
          <p:nvPr/>
        </p:nvGrpSpPr>
        <p:grpSpPr>
          <a:xfrm>
            <a:off x="7173597" y="3897782"/>
            <a:ext cx="666750" cy="41275"/>
            <a:chOff x="7173597" y="3040531"/>
            <a:chExt cx="666750" cy="41275"/>
          </a:xfrm>
        </p:grpSpPr>
        <p:sp>
          <p:nvSpPr>
            <p:cNvPr id="45" name="object 45"/>
            <p:cNvSpPr/>
            <p:nvPr/>
          </p:nvSpPr>
          <p:spPr>
            <a:xfrm>
              <a:off x="7221585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6" name="object 46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7" name="object 47"/>
            <p:cNvSpPr/>
            <p:nvPr/>
          </p:nvSpPr>
          <p:spPr>
            <a:xfrm>
              <a:off x="7178360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7173597" y="4180081"/>
            <a:ext cx="666750" cy="41275"/>
            <a:chOff x="7173597" y="3322830"/>
            <a:chExt cx="666750" cy="41275"/>
          </a:xfrm>
        </p:grpSpPr>
        <p:sp>
          <p:nvSpPr>
            <p:cNvPr id="49" name="object 49"/>
            <p:cNvSpPr/>
            <p:nvPr/>
          </p:nvSpPr>
          <p:spPr>
            <a:xfrm>
              <a:off x="7221585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0" name="object 50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1" name="object 51"/>
            <p:cNvSpPr/>
            <p:nvPr/>
          </p:nvSpPr>
          <p:spPr>
            <a:xfrm>
              <a:off x="7178360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2" name="object 52"/>
          <p:cNvGrpSpPr/>
          <p:nvPr/>
        </p:nvGrpSpPr>
        <p:grpSpPr>
          <a:xfrm>
            <a:off x="7173597" y="4504081"/>
            <a:ext cx="666750" cy="41275"/>
            <a:chOff x="7173597" y="3646830"/>
            <a:chExt cx="666750" cy="41275"/>
          </a:xfrm>
        </p:grpSpPr>
        <p:sp>
          <p:nvSpPr>
            <p:cNvPr id="53" name="object 53"/>
            <p:cNvSpPr/>
            <p:nvPr/>
          </p:nvSpPr>
          <p:spPr>
            <a:xfrm>
              <a:off x="7221585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4" name="object 54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5" name="object 55"/>
            <p:cNvSpPr/>
            <p:nvPr/>
          </p:nvSpPr>
          <p:spPr>
            <a:xfrm>
              <a:off x="7178360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56" name="object 56"/>
          <p:cNvGrpSpPr/>
          <p:nvPr/>
        </p:nvGrpSpPr>
        <p:grpSpPr>
          <a:xfrm>
            <a:off x="7173597" y="4817505"/>
            <a:ext cx="666750" cy="41275"/>
            <a:chOff x="7173597" y="3960254"/>
            <a:chExt cx="666750" cy="41275"/>
          </a:xfrm>
        </p:grpSpPr>
        <p:sp>
          <p:nvSpPr>
            <p:cNvPr id="57" name="object 57"/>
            <p:cNvSpPr/>
            <p:nvPr/>
          </p:nvSpPr>
          <p:spPr>
            <a:xfrm>
              <a:off x="7221585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90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8" name="object 58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9" name="object 59"/>
            <p:cNvSpPr/>
            <p:nvPr/>
          </p:nvSpPr>
          <p:spPr>
            <a:xfrm>
              <a:off x="7178360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5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0" name="object 60"/>
          <p:cNvGrpSpPr/>
          <p:nvPr/>
        </p:nvGrpSpPr>
        <p:grpSpPr>
          <a:xfrm>
            <a:off x="6149671" y="3897782"/>
            <a:ext cx="274320" cy="41275"/>
            <a:chOff x="5725800" y="3040531"/>
            <a:chExt cx="666750" cy="41275"/>
          </a:xfrm>
        </p:grpSpPr>
        <p:sp>
          <p:nvSpPr>
            <p:cNvPr id="61" name="object 61"/>
            <p:cNvSpPr/>
            <p:nvPr/>
          </p:nvSpPr>
          <p:spPr>
            <a:xfrm>
              <a:off x="5773788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2" name="object 62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3" name="object 63"/>
            <p:cNvSpPr/>
            <p:nvPr/>
          </p:nvSpPr>
          <p:spPr>
            <a:xfrm>
              <a:off x="5730563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4" name="object 64"/>
          <p:cNvGrpSpPr/>
          <p:nvPr/>
        </p:nvGrpSpPr>
        <p:grpSpPr>
          <a:xfrm>
            <a:off x="6149671" y="4180081"/>
            <a:ext cx="274320" cy="41275"/>
            <a:chOff x="5725800" y="3322830"/>
            <a:chExt cx="666750" cy="41275"/>
          </a:xfrm>
        </p:grpSpPr>
        <p:sp>
          <p:nvSpPr>
            <p:cNvPr id="65" name="object 65"/>
            <p:cNvSpPr/>
            <p:nvPr/>
          </p:nvSpPr>
          <p:spPr>
            <a:xfrm>
              <a:off x="5773788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6" name="object 66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7" name="object 67"/>
            <p:cNvSpPr/>
            <p:nvPr/>
          </p:nvSpPr>
          <p:spPr>
            <a:xfrm>
              <a:off x="5730563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68" name="object 68"/>
          <p:cNvGrpSpPr/>
          <p:nvPr/>
        </p:nvGrpSpPr>
        <p:grpSpPr>
          <a:xfrm>
            <a:off x="6149671" y="4504081"/>
            <a:ext cx="274320" cy="41275"/>
            <a:chOff x="5725800" y="3646830"/>
            <a:chExt cx="666750" cy="41275"/>
          </a:xfrm>
        </p:grpSpPr>
        <p:sp>
          <p:nvSpPr>
            <p:cNvPr id="69" name="object 69"/>
            <p:cNvSpPr/>
            <p:nvPr/>
          </p:nvSpPr>
          <p:spPr>
            <a:xfrm>
              <a:off x="5773788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0" name="object 70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1" name="object 71"/>
            <p:cNvSpPr/>
            <p:nvPr/>
          </p:nvSpPr>
          <p:spPr>
            <a:xfrm>
              <a:off x="5730563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2" name="object 72"/>
          <p:cNvGrpSpPr/>
          <p:nvPr/>
        </p:nvGrpSpPr>
        <p:grpSpPr>
          <a:xfrm>
            <a:off x="6149671" y="4817505"/>
            <a:ext cx="274320" cy="41275"/>
            <a:chOff x="5725800" y="3960254"/>
            <a:chExt cx="666750" cy="41275"/>
          </a:xfrm>
        </p:grpSpPr>
        <p:sp>
          <p:nvSpPr>
            <p:cNvPr id="73" name="object 73"/>
            <p:cNvSpPr/>
            <p:nvPr/>
          </p:nvSpPr>
          <p:spPr>
            <a:xfrm>
              <a:off x="5773788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4" name="object 74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5" name="object 75"/>
            <p:cNvSpPr/>
            <p:nvPr/>
          </p:nvSpPr>
          <p:spPr>
            <a:xfrm>
              <a:off x="5730563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76" name="object 76"/>
          <p:cNvGrpSpPr/>
          <p:nvPr/>
        </p:nvGrpSpPr>
        <p:grpSpPr>
          <a:xfrm>
            <a:off x="2906406" y="3897782"/>
            <a:ext cx="666750" cy="41275"/>
            <a:chOff x="2906406" y="3040531"/>
            <a:chExt cx="666750" cy="41275"/>
          </a:xfrm>
        </p:grpSpPr>
        <p:sp>
          <p:nvSpPr>
            <p:cNvPr id="77" name="object 77"/>
            <p:cNvSpPr/>
            <p:nvPr/>
          </p:nvSpPr>
          <p:spPr>
            <a:xfrm>
              <a:off x="2954394" y="3061043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8" name="object 78"/>
            <p:cNvSpPr/>
            <p:nvPr/>
          </p:nvSpPr>
          <p:spPr>
            <a:xfrm>
              <a:off x="2911169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9" name="object 79"/>
            <p:cNvSpPr/>
            <p:nvPr/>
          </p:nvSpPr>
          <p:spPr>
            <a:xfrm>
              <a:off x="2911169" y="30452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0" name="object 80"/>
          <p:cNvGrpSpPr/>
          <p:nvPr/>
        </p:nvGrpSpPr>
        <p:grpSpPr>
          <a:xfrm>
            <a:off x="2906406" y="4180081"/>
            <a:ext cx="666750" cy="41275"/>
            <a:chOff x="2906406" y="3322830"/>
            <a:chExt cx="666750" cy="41275"/>
          </a:xfrm>
        </p:grpSpPr>
        <p:sp>
          <p:nvSpPr>
            <p:cNvPr id="81" name="object 81"/>
            <p:cNvSpPr/>
            <p:nvPr/>
          </p:nvSpPr>
          <p:spPr>
            <a:xfrm>
              <a:off x="2954394" y="3343318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2" name="object 82"/>
            <p:cNvSpPr/>
            <p:nvPr/>
          </p:nvSpPr>
          <p:spPr>
            <a:xfrm>
              <a:off x="2911169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49"/>
                  </a:moveTo>
                  <a:lnTo>
                    <a:pt x="0" y="15724"/>
                  </a:lnTo>
                  <a:lnTo>
                    <a:pt x="43224" y="0"/>
                  </a:lnTo>
                  <a:lnTo>
                    <a:pt x="43224" y="31449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3" name="object 83"/>
            <p:cNvSpPr/>
            <p:nvPr/>
          </p:nvSpPr>
          <p:spPr>
            <a:xfrm>
              <a:off x="2911169" y="3327593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24"/>
                  </a:lnTo>
                  <a:lnTo>
                    <a:pt x="43224" y="31449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4" name="object 84"/>
          <p:cNvGrpSpPr/>
          <p:nvPr/>
        </p:nvGrpSpPr>
        <p:grpSpPr>
          <a:xfrm>
            <a:off x="2906406" y="4504081"/>
            <a:ext cx="666750" cy="41275"/>
            <a:chOff x="2906406" y="3646830"/>
            <a:chExt cx="666750" cy="41275"/>
          </a:xfrm>
        </p:grpSpPr>
        <p:sp>
          <p:nvSpPr>
            <p:cNvPr id="85" name="object 85"/>
            <p:cNvSpPr/>
            <p:nvPr/>
          </p:nvSpPr>
          <p:spPr>
            <a:xfrm>
              <a:off x="2954394" y="3667342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6" name="object 86"/>
            <p:cNvSpPr/>
            <p:nvPr/>
          </p:nvSpPr>
          <p:spPr>
            <a:xfrm>
              <a:off x="2911169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7" name="object 87"/>
            <p:cNvSpPr/>
            <p:nvPr/>
          </p:nvSpPr>
          <p:spPr>
            <a:xfrm>
              <a:off x="2911169" y="3651592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grpSp>
        <p:nvGrpSpPr>
          <p:cNvPr id="88" name="object 88"/>
          <p:cNvGrpSpPr/>
          <p:nvPr/>
        </p:nvGrpSpPr>
        <p:grpSpPr>
          <a:xfrm>
            <a:off x="2906406" y="4817505"/>
            <a:ext cx="666750" cy="41275"/>
            <a:chOff x="2906406" y="3960254"/>
            <a:chExt cx="666750" cy="41275"/>
          </a:xfrm>
        </p:grpSpPr>
        <p:sp>
          <p:nvSpPr>
            <p:cNvPr id="89" name="object 89"/>
            <p:cNvSpPr/>
            <p:nvPr/>
          </p:nvSpPr>
          <p:spPr>
            <a:xfrm>
              <a:off x="2954394" y="3980766"/>
              <a:ext cx="618490" cy="0"/>
            </a:xfrm>
            <a:custGeom>
              <a:avLst/>
              <a:gdLst/>
              <a:ahLst/>
              <a:cxnLst/>
              <a:rect l="l" t="t" r="r" b="b"/>
              <a:pathLst>
                <a:path w="618489">
                  <a:moveTo>
                    <a:pt x="0" y="0"/>
                  </a:moveTo>
                  <a:lnTo>
                    <a:pt x="618448" y="0"/>
                  </a:lnTo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0" name="object 90"/>
            <p:cNvSpPr/>
            <p:nvPr/>
          </p:nvSpPr>
          <p:spPr>
            <a:xfrm>
              <a:off x="2911169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31474"/>
                  </a:moveTo>
                  <a:lnTo>
                    <a:pt x="0" y="15749"/>
                  </a:lnTo>
                  <a:lnTo>
                    <a:pt x="43224" y="0"/>
                  </a:lnTo>
                  <a:lnTo>
                    <a:pt x="43224" y="31474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1" name="object 91"/>
            <p:cNvSpPr/>
            <p:nvPr/>
          </p:nvSpPr>
          <p:spPr>
            <a:xfrm>
              <a:off x="2911169" y="3965016"/>
              <a:ext cx="43815" cy="31750"/>
            </a:xfrm>
            <a:custGeom>
              <a:avLst/>
              <a:gdLst/>
              <a:ahLst/>
              <a:cxnLst/>
              <a:rect l="l" t="t" r="r" b="b"/>
              <a:pathLst>
                <a:path w="43814" h="31750">
                  <a:moveTo>
                    <a:pt x="43224" y="0"/>
                  </a:moveTo>
                  <a:lnTo>
                    <a:pt x="0" y="15749"/>
                  </a:lnTo>
                  <a:lnTo>
                    <a:pt x="43224" y="31474"/>
                  </a:lnTo>
                  <a:lnTo>
                    <a:pt x="43224" y="0"/>
                  </a:lnTo>
                  <a:close/>
                </a:path>
              </a:pathLst>
            </a:custGeom>
            <a:ln w="9524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92" name="object 92"/>
          <p:cNvSpPr txBox="1"/>
          <p:nvPr/>
        </p:nvSpPr>
        <p:spPr>
          <a:xfrm>
            <a:off x="139749" y="2513882"/>
            <a:ext cx="1586230" cy="1535485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Jacobian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is</a:t>
            </a:r>
            <a:r>
              <a:rPr sz="1400" spc="-9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400" b="1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sparse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:  </a:t>
            </a:r>
            <a:r>
              <a:rPr sz="1400" spc="-1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off-diagonal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entries  always </a:t>
            </a: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zero!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Never  </a:t>
            </a:r>
            <a:r>
              <a:rPr sz="1400" b="1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explicitly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form  </a:t>
            </a: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Jacobian -- </a:t>
            </a:r>
            <a:r>
              <a:rPr sz="1400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instead  use </a:t>
            </a:r>
            <a:r>
              <a:rPr sz="1400" b="1" spc="-5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implicit  </a:t>
            </a:r>
            <a:r>
              <a:rPr sz="1400" dirty="0">
                <a:solidFill>
                  <a:srgbClr val="0000FF"/>
                </a:solidFill>
                <a:latin typeface="Garamond" panose="02020404030301010803" pitchFamily="18" charset="0"/>
                <a:cs typeface="Arial"/>
              </a:rPr>
              <a:t>multiplication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46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6" name="object 96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844365" y="3443462"/>
            <a:ext cx="1111885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spcBef>
                <a:spcPts val="100"/>
              </a:spcBef>
            </a:pPr>
            <a:r>
              <a:rPr sz="2000" spc="-5" dirty="0">
                <a:latin typeface="Garamond" panose="02020404030301010803" pitchFamily="18" charset="0"/>
                <a:cs typeface="Arial"/>
              </a:rPr>
              <a:t>4D</a:t>
            </a:r>
            <a:r>
              <a:rPr sz="2000" spc="-100" dirty="0">
                <a:latin typeface="Garamond" panose="02020404030301010803" pitchFamily="18" charset="0"/>
                <a:cs typeface="Arial"/>
              </a:rPr>
              <a:t> </a:t>
            </a:r>
            <a:r>
              <a:rPr sz="2000" spc="-5" dirty="0">
                <a:latin typeface="Garamond" panose="02020404030301010803" pitchFamily="18" charset="0"/>
                <a:cs typeface="Arial"/>
              </a:rPr>
              <a:t>dL/dx: 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[ 4</a:t>
            </a:r>
            <a:r>
              <a:rPr sz="2000" spc="-4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[ 0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[ 5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  <a:p>
            <a:pPr algn="ctr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[ 0</a:t>
            </a:r>
            <a:r>
              <a:rPr sz="2000" spc="-11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]</a:t>
            </a:r>
            <a:endParaRPr sz="20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97" name="Title 96">
            <a:extLst>
              <a:ext uri="{FF2B5EF4-FFF2-40B4-BE49-F238E27FC236}">
                <a16:creationId xmlns:a16="http://schemas.microsoft.com/office/drawing/2014/main" id="{E7B3DED5-95E1-49F5-812E-FA659A41A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pc="-10" dirty="0"/>
              <a:t>Backprop </a:t>
            </a:r>
            <a:r>
              <a:rPr lang="en-US" spc="-5" dirty="0"/>
              <a:t>with</a:t>
            </a:r>
            <a:r>
              <a:rPr lang="en-US" spc="-65" dirty="0"/>
              <a:t> </a:t>
            </a:r>
            <a:r>
              <a:rPr lang="en-US" spc="-30" dirty="0"/>
              <a:t>Vectors</a:t>
            </a:r>
            <a:endParaRPr lang="en-US" dirty="0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9A3AA6A6-1C3E-4555-8331-6D69773E3EDF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  <p:pic>
        <p:nvPicPr>
          <p:cNvPr id="102" name="Picture 101">
            <a:extLst>
              <a:ext uri="{FF2B5EF4-FFF2-40B4-BE49-F238E27FC236}">
                <a16:creationId xmlns:a16="http://schemas.microsoft.com/office/drawing/2014/main" id="{A69FABD4-E874-4FD8-9C4D-73A5D5E188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5052" y="3830281"/>
            <a:ext cx="2988156" cy="108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945138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grpSp>
        <p:nvGrpSpPr>
          <p:cNvPr id="3" name="object 3"/>
          <p:cNvGrpSpPr/>
          <p:nvPr/>
        </p:nvGrpSpPr>
        <p:grpSpPr>
          <a:xfrm>
            <a:off x="3291669" y="1073875"/>
            <a:ext cx="5457825" cy="890905"/>
            <a:chOff x="3291668" y="216624"/>
            <a:chExt cx="5457825" cy="890905"/>
          </a:xfrm>
        </p:grpSpPr>
        <p:sp>
          <p:nvSpPr>
            <p:cNvPr id="4" name="object 4"/>
            <p:cNvSpPr/>
            <p:nvPr/>
          </p:nvSpPr>
          <p:spPr>
            <a:xfrm>
              <a:off x="3291668" y="216624"/>
              <a:ext cx="5457813" cy="400049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5" name="object 5"/>
            <p:cNvSpPr/>
            <p:nvPr/>
          </p:nvSpPr>
          <p:spPr>
            <a:xfrm>
              <a:off x="3575142" y="616673"/>
              <a:ext cx="243204" cy="486409"/>
            </a:xfrm>
            <a:custGeom>
              <a:avLst/>
              <a:gdLst/>
              <a:ahLst/>
              <a:cxnLst/>
              <a:rect l="l" t="t" r="r" b="b"/>
              <a:pathLst>
                <a:path w="243204" h="486409">
                  <a:moveTo>
                    <a:pt x="121499" y="485999"/>
                  </a:moveTo>
                  <a:lnTo>
                    <a:pt x="0" y="364499"/>
                  </a:lnTo>
                  <a:lnTo>
                    <a:pt x="60749" y="364499"/>
                  </a:lnTo>
                  <a:lnTo>
                    <a:pt x="60749" y="0"/>
                  </a:lnTo>
                  <a:lnTo>
                    <a:pt x="182249" y="0"/>
                  </a:lnTo>
                  <a:lnTo>
                    <a:pt x="182249" y="364499"/>
                  </a:lnTo>
                  <a:lnTo>
                    <a:pt x="242999" y="364499"/>
                  </a:lnTo>
                  <a:lnTo>
                    <a:pt x="121499" y="4859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3575142" y="616673"/>
              <a:ext cx="243204" cy="486409"/>
            </a:xfrm>
            <a:custGeom>
              <a:avLst/>
              <a:gdLst/>
              <a:ahLst/>
              <a:cxnLst/>
              <a:rect l="l" t="t" r="r" b="b"/>
              <a:pathLst>
                <a:path w="243204" h="486409">
                  <a:moveTo>
                    <a:pt x="0" y="364499"/>
                  </a:moveTo>
                  <a:lnTo>
                    <a:pt x="60749" y="364499"/>
                  </a:lnTo>
                  <a:lnTo>
                    <a:pt x="60749" y="0"/>
                  </a:lnTo>
                  <a:lnTo>
                    <a:pt x="182249" y="0"/>
                  </a:lnTo>
                  <a:lnTo>
                    <a:pt x="182249" y="364499"/>
                  </a:lnTo>
                  <a:lnTo>
                    <a:pt x="242999" y="364499"/>
                  </a:lnTo>
                  <a:lnTo>
                    <a:pt x="121499" y="485999"/>
                  </a:lnTo>
                  <a:lnTo>
                    <a:pt x="0" y="364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3959367" y="616673"/>
              <a:ext cx="243204" cy="486409"/>
            </a:xfrm>
            <a:custGeom>
              <a:avLst/>
              <a:gdLst/>
              <a:ahLst/>
              <a:cxnLst/>
              <a:rect l="l" t="t" r="r" b="b"/>
              <a:pathLst>
                <a:path w="243204" h="486409">
                  <a:moveTo>
                    <a:pt x="121499" y="485999"/>
                  </a:moveTo>
                  <a:lnTo>
                    <a:pt x="0" y="364499"/>
                  </a:lnTo>
                  <a:lnTo>
                    <a:pt x="60749" y="364499"/>
                  </a:lnTo>
                  <a:lnTo>
                    <a:pt x="60749" y="0"/>
                  </a:lnTo>
                  <a:lnTo>
                    <a:pt x="182249" y="0"/>
                  </a:lnTo>
                  <a:lnTo>
                    <a:pt x="182249" y="364499"/>
                  </a:lnTo>
                  <a:lnTo>
                    <a:pt x="242999" y="364499"/>
                  </a:lnTo>
                  <a:lnTo>
                    <a:pt x="121499" y="485999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3959367" y="616673"/>
              <a:ext cx="243204" cy="486409"/>
            </a:xfrm>
            <a:custGeom>
              <a:avLst/>
              <a:gdLst/>
              <a:ahLst/>
              <a:cxnLst/>
              <a:rect l="l" t="t" r="r" b="b"/>
              <a:pathLst>
                <a:path w="243204" h="486409">
                  <a:moveTo>
                    <a:pt x="0" y="364499"/>
                  </a:moveTo>
                  <a:lnTo>
                    <a:pt x="60749" y="364499"/>
                  </a:lnTo>
                  <a:lnTo>
                    <a:pt x="60749" y="0"/>
                  </a:lnTo>
                  <a:lnTo>
                    <a:pt x="182249" y="0"/>
                  </a:lnTo>
                  <a:lnTo>
                    <a:pt x="182249" y="364499"/>
                  </a:lnTo>
                  <a:lnTo>
                    <a:pt x="242999" y="364499"/>
                  </a:lnTo>
                  <a:lnTo>
                    <a:pt x="121499" y="485999"/>
                  </a:lnTo>
                  <a:lnTo>
                    <a:pt x="0" y="364499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9" name="object 9"/>
          <p:cNvSpPr/>
          <p:nvPr/>
        </p:nvSpPr>
        <p:spPr>
          <a:xfrm>
            <a:off x="3103769" y="2034731"/>
            <a:ext cx="714373" cy="2666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959367" y="2029967"/>
            <a:ext cx="1095372" cy="2762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xfrm>
            <a:off x="72824" y="4693239"/>
            <a:ext cx="449072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Fei-Fei Li </a:t>
            </a:r>
            <a:r>
              <a:rPr lang="en-US" dirty="0">
                <a:latin typeface="Garamond" panose="02020404030301010803" pitchFamily="18" charset="0"/>
              </a:rPr>
              <a:t>&amp; Justin Johnson &amp; </a:t>
            </a:r>
            <a:r>
              <a:rPr lang="en-US" spc="-5" dirty="0">
                <a:latin typeface="Garamond" panose="02020404030301010803" pitchFamily="18" charset="0"/>
              </a:rPr>
              <a:t>Serena</a:t>
            </a:r>
            <a:r>
              <a:rPr lang="en-US" spc="-145" dirty="0">
                <a:latin typeface="Garamond" panose="02020404030301010803" pitchFamily="18" charset="0"/>
              </a:rPr>
              <a:t> </a:t>
            </a:r>
            <a:r>
              <a:rPr lang="en-US" spc="-40" dirty="0">
                <a:latin typeface="Garamond" panose="02020404030301010803" pitchFamily="18" charset="0"/>
              </a:rPr>
              <a:t>Yeung</a:t>
            </a:r>
            <a:endParaRPr spc="-40"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47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B8C7440-7A4E-42F1-AF25-1C3D4E9874D0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573" y="1418037"/>
            <a:ext cx="6718934" cy="2038985"/>
            <a:chOff x="544573" y="560786"/>
            <a:chExt cx="6718934" cy="2038985"/>
          </a:xfrm>
        </p:grpSpPr>
        <p:sp>
          <p:nvSpPr>
            <p:cNvPr id="5" name="object 5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8" name="object 8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48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2CEFB0E-A2FC-4291-92BB-D0F44B5B2C87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573" y="1418037"/>
            <a:ext cx="6718934" cy="2038985"/>
            <a:chOff x="544573" y="560786"/>
            <a:chExt cx="6718934" cy="2038985"/>
          </a:xfrm>
        </p:grpSpPr>
        <p:sp>
          <p:nvSpPr>
            <p:cNvPr id="5" name="object 5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0" name="object 10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49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6CACD3C-2C41-4686-BD2C-521890CD5F0C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573" y="1418037"/>
            <a:ext cx="6718934" cy="2038985"/>
            <a:chOff x="544573" y="560786"/>
            <a:chExt cx="6718934" cy="2038985"/>
          </a:xfrm>
        </p:grpSpPr>
        <p:sp>
          <p:nvSpPr>
            <p:cNvPr id="5" name="object 5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387862" y="2056630"/>
              <a:ext cx="428594" cy="185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object 11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50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8286CE-4790-4BDD-881D-3721DB9A884D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573" y="1418037"/>
            <a:ext cx="6718934" cy="2038985"/>
            <a:chOff x="544573" y="560786"/>
            <a:chExt cx="6718934" cy="2038985"/>
          </a:xfrm>
        </p:grpSpPr>
        <p:sp>
          <p:nvSpPr>
            <p:cNvPr id="5" name="object 5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387862" y="2056630"/>
              <a:ext cx="428594" cy="185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1" name="object 11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6319812" y="3735994"/>
            <a:ext cx="1256322" cy="4859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6169524" y="4327606"/>
            <a:ext cx="1557020" cy="614045"/>
            <a:chOff x="6169524" y="3470355"/>
            <a:chExt cx="1557020" cy="614045"/>
          </a:xfrm>
        </p:grpSpPr>
        <p:sp>
          <p:nvSpPr>
            <p:cNvPr id="15" name="object 15"/>
            <p:cNvSpPr/>
            <p:nvPr/>
          </p:nvSpPr>
          <p:spPr>
            <a:xfrm>
              <a:off x="6174287" y="3475118"/>
              <a:ext cx="1547495" cy="604520"/>
            </a:xfrm>
            <a:custGeom>
              <a:avLst/>
              <a:gdLst/>
              <a:ahLst/>
              <a:cxnLst/>
              <a:rect l="l" t="t" r="r" b="b"/>
              <a:pathLst>
                <a:path w="1547495" h="604520">
                  <a:moveTo>
                    <a:pt x="1547421" y="604373"/>
                  </a:moveTo>
                  <a:lnTo>
                    <a:pt x="0" y="604373"/>
                  </a:lnTo>
                  <a:lnTo>
                    <a:pt x="0" y="0"/>
                  </a:lnTo>
                  <a:lnTo>
                    <a:pt x="1547421" y="0"/>
                  </a:lnTo>
                  <a:lnTo>
                    <a:pt x="1547421" y="604373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6174287" y="3475118"/>
              <a:ext cx="1547495" cy="604520"/>
            </a:xfrm>
            <a:custGeom>
              <a:avLst/>
              <a:gdLst/>
              <a:ahLst/>
              <a:cxnLst/>
              <a:rect l="l" t="t" r="r" b="b"/>
              <a:pathLst>
                <a:path w="1547495" h="604520">
                  <a:moveTo>
                    <a:pt x="0" y="0"/>
                  </a:moveTo>
                  <a:lnTo>
                    <a:pt x="1547421" y="0"/>
                  </a:lnTo>
                  <a:lnTo>
                    <a:pt x="1547421" y="604373"/>
                  </a:lnTo>
                  <a:lnTo>
                    <a:pt x="0" y="60437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238387" y="3632392"/>
              <a:ext cx="1419222" cy="34287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51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A29E2DF-3E7E-4FFB-BF85-623E4F2AB57B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573" y="1418037"/>
            <a:ext cx="6718934" cy="2038985"/>
            <a:chOff x="544573" y="560786"/>
            <a:chExt cx="6718934" cy="2038985"/>
          </a:xfrm>
        </p:grpSpPr>
        <p:sp>
          <p:nvSpPr>
            <p:cNvPr id="5" name="object 5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387862" y="2056630"/>
              <a:ext cx="428594" cy="185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102266" y="2036198"/>
              <a:ext cx="761998" cy="55244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2" name="object 12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6319812" y="3735994"/>
            <a:ext cx="1256322" cy="4859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6169524" y="4327606"/>
            <a:ext cx="1557020" cy="614045"/>
            <a:chOff x="6169524" y="3470355"/>
            <a:chExt cx="1557020" cy="614045"/>
          </a:xfrm>
        </p:grpSpPr>
        <p:sp>
          <p:nvSpPr>
            <p:cNvPr id="16" name="object 16"/>
            <p:cNvSpPr/>
            <p:nvPr/>
          </p:nvSpPr>
          <p:spPr>
            <a:xfrm>
              <a:off x="6174287" y="3475118"/>
              <a:ext cx="1547495" cy="604520"/>
            </a:xfrm>
            <a:custGeom>
              <a:avLst/>
              <a:gdLst/>
              <a:ahLst/>
              <a:cxnLst/>
              <a:rect l="l" t="t" r="r" b="b"/>
              <a:pathLst>
                <a:path w="1547495" h="604520">
                  <a:moveTo>
                    <a:pt x="1547421" y="604373"/>
                  </a:moveTo>
                  <a:lnTo>
                    <a:pt x="0" y="604373"/>
                  </a:lnTo>
                  <a:lnTo>
                    <a:pt x="0" y="0"/>
                  </a:lnTo>
                  <a:lnTo>
                    <a:pt x="1547421" y="0"/>
                  </a:lnTo>
                  <a:lnTo>
                    <a:pt x="1547421" y="604373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174287" y="3475118"/>
              <a:ext cx="1547495" cy="604520"/>
            </a:xfrm>
            <a:custGeom>
              <a:avLst/>
              <a:gdLst/>
              <a:ahLst/>
              <a:cxnLst/>
              <a:rect l="l" t="t" r="r" b="b"/>
              <a:pathLst>
                <a:path w="1547495" h="604520">
                  <a:moveTo>
                    <a:pt x="0" y="0"/>
                  </a:moveTo>
                  <a:lnTo>
                    <a:pt x="1547421" y="0"/>
                  </a:lnTo>
                  <a:lnTo>
                    <a:pt x="1547421" y="604373"/>
                  </a:lnTo>
                  <a:lnTo>
                    <a:pt x="0" y="604373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238387" y="3632392"/>
              <a:ext cx="1419222" cy="342874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52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B829ED-9A52-481E-9790-1A9ECD66413D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3" name="object 3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544573" y="1418036"/>
            <a:ext cx="6718934" cy="2411730"/>
            <a:chOff x="544573" y="560786"/>
            <a:chExt cx="6718934" cy="2411730"/>
          </a:xfrm>
        </p:grpSpPr>
        <p:sp>
          <p:nvSpPr>
            <p:cNvPr id="5" name="object 5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6" name="object 6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7" name="object 7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0" name="object 10"/>
            <p:cNvSpPr/>
            <p:nvPr/>
          </p:nvSpPr>
          <p:spPr>
            <a:xfrm>
              <a:off x="6387862" y="2056630"/>
              <a:ext cx="428594" cy="185724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4102266" y="2036198"/>
              <a:ext cx="761998" cy="552446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186464" y="2341632"/>
              <a:ext cx="1789696" cy="630761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13" name="object 13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53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C5590FD-AB03-4126-95EB-E82F97C7831E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249" y="4395268"/>
            <a:ext cx="9182100" cy="1624965"/>
            <a:chOff x="-19249" y="3538017"/>
            <a:chExt cx="9182100" cy="1624965"/>
          </a:xfrm>
        </p:grpSpPr>
        <p:sp>
          <p:nvSpPr>
            <p:cNvPr id="3" name="object 3"/>
            <p:cNvSpPr/>
            <p:nvPr/>
          </p:nvSpPr>
          <p:spPr>
            <a:xfrm>
              <a:off x="5926638" y="3538017"/>
              <a:ext cx="2417965" cy="6307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926638" y="4168796"/>
              <a:ext cx="965222" cy="3133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44573" y="1418037"/>
            <a:ext cx="7353300" cy="2912745"/>
            <a:chOff x="544573" y="560786"/>
            <a:chExt cx="7353300" cy="2912745"/>
          </a:xfrm>
        </p:grpSpPr>
        <p:sp>
          <p:nvSpPr>
            <p:cNvPr id="10" name="object 10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387862" y="2056630"/>
              <a:ext cx="428594" cy="1857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102266" y="2036198"/>
              <a:ext cx="761998" cy="55244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186464" y="2994843"/>
              <a:ext cx="2711069" cy="4786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186464" y="2341632"/>
              <a:ext cx="1789696" cy="63076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0" name="object 20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54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9A618C-2E4B-4CF6-8D91-C6777529678F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249" y="4395268"/>
            <a:ext cx="9182100" cy="1624965"/>
            <a:chOff x="-19249" y="3538017"/>
            <a:chExt cx="9182100" cy="1624965"/>
          </a:xfrm>
        </p:grpSpPr>
        <p:sp>
          <p:nvSpPr>
            <p:cNvPr id="3" name="object 3"/>
            <p:cNvSpPr/>
            <p:nvPr/>
          </p:nvSpPr>
          <p:spPr>
            <a:xfrm>
              <a:off x="5926638" y="3538017"/>
              <a:ext cx="2417965" cy="6307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926638" y="4168796"/>
              <a:ext cx="965222" cy="3133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7638" y="1418037"/>
            <a:ext cx="7670165" cy="2912745"/>
            <a:chOff x="227637" y="560786"/>
            <a:chExt cx="7670165" cy="2912745"/>
          </a:xfrm>
        </p:grpSpPr>
        <p:sp>
          <p:nvSpPr>
            <p:cNvPr id="10" name="object 10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387862" y="2056630"/>
              <a:ext cx="428594" cy="1857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102266" y="2036198"/>
              <a:ext cx="761998" cy="55244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5186464" y="2994843"/>
              <a:ext cx="2711069" cy="4786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5186464" y="2341632"/>
              <a:ext cx="1789696" cy="63076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227637" y="1147545"/>
              <a:ext cx="1669486" cy="567348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55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E24C949-FC0D-4A2B-8596-DC030FEE702E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9249" y="4395268"/>
            <a:ext cx="9182100" cy="1624965"/>
            <a:chOff x="-19249" y="3538017"/>
            <a:chExt cx="9182100" cy="1624965"/>
          </a:xfrm>
        </p:grpSpPr>
        <p:sp>
          <p:nvSpPr>
            <p:cNvPr id="3" name="object 3"/>
            <p:cNvSpPr/>
            <p:nvPr/>
          </p:nvSpPr>
          <p:spPr>
            <a:xfrm>
              <a:off x="5926638" y="3538017"/>
              <a:ext cx="2417965" cy="63077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4" name="object 4"/>
            <p:cNvSpPr/>
            <p:nvPr/>
          </p:nvSpPr>
          <p:spPr>
            <a:xfrm>
              <a:off x="5926638" y="4168796"/>
              <a:ext cx="965222" cy="313319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199824" y="1036057"/>
            <a:ext cx="3006090" cy="391160"/>
          </a:xfrm>
          <a:prstGeom prst="rect">
            <a:avLst/>
          </a:prstGeom>
        </p:spPr>
        <p:txBody>
          <a:bodyPr vert="horz" wrap="square" lIns="0" tIns="12700" rIns="0" bIns="0" numCol="1" rtlCol="0" anchor="ctr" anchorCtr="0" compatLnSpc="1">
            <a:prstTxWarp prst="textNoShape">
              <a:avLst/>
            </a:prstTxWarp>
            <a:spAutoFit/>
          </a:bodyPr>
          <a:lstStyle/>
          <a:p>
            <a:pPr marL="12700">
              <a:spcBef>
                <a:spcPts val="100"/>
              </a:spcBef>
            </a:pPr>
            <a:r>
              <a:rPr sz="2400" dirty="0"/>
              <a:t>A vectorized</a:t>
            </a:r>
            <a:r>
              <a:rPr sz="2400" spc="-235" dirty="0"/>
              <a:t> </a:t>
            </a:r>
            <a:r>
              <a:rPr sz="2400" spc="-5" dirty="0"/>
              <a:t>example:</a:t>
            </a:r>
            <a:endParaRPr sz="2400"/>
          </a:p>
        </p:txBody>
      </p:sp>
      <p:sp>
        <p:nvSpPr>
          <p:cNvPr id="6" name="object 6"/>
          <p:cNvSpPr/>
          <p:nvPr/>
        </p:nvSpPr>
        <p:spPr>
          <a:xfrm>
            <a:off x="3291669" y="1073875"/>
            <a:ext cx="5457813" cy="40004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55725" y="3850845"/>
            <a:ext cx="4352141" cy="102759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155725" y="4938166"/>
            <a:ext cx="3265193" cy="31132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latin typeface="Garamond" panose="02020404030301010803" pitchFamily="18" charset="0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227637" y="1418037"/>
            <a:ext cx="8526780" cy="2912745"/>
            <a:chOff x="227637" y="560786"/>
            <a:chExt cx="8526780" cy="2912745"/>
          </a:xfrm>
        </p:grpSpPr>
        <p:sp>
          <p:nvSpPr>
            <p:cNvPr id="10" name="object 10"/>
            <p:cNvSpPr/>
            <p:nvPr/>
          </p:nvSpPr>
          <p:spPr>
            <a:xfrm>
              <a:off x="1937441" y="1030659"/>
              <a:ext cx="5325677" cy="1568910"/>
            </a:xfrm>
            <a:prstGeom prst="rect">
              <a:avLst/>
            </a:prstGeom>
            <a:blipFill>
              <a:blip r:embed="rId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1" name="object 11"/>
            <p:cNvSpPr/>
            <p:nvPr/>
          </p:nvSpPr>
          <p:spPr>
            <a:xfrm>
              <a:off x="1243072" y="1802221"/>
              <a:ext cx="654046" cy="552448"/>
            </a:xfrm>
            <a:prstGeom prst="rect">
              <a:avLst/>
            </a:prstGeom>
            <a:blipFill>
              <a:blip r:embed="rId8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4102266" y="1261319"/>
              <a:ext cx="761998" cy="552448"/>
            </a:xfrm>
            <a:prstGeom prst="rect">
              <a:avLst/>
            </a:prstGeom>
            <a:blipFill>
              <a:blip r:embed="rId9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3" name="object 13"/>
            <p:cNvSpPr/>
            <p:nvPr/>
          </p:nvSpPr>
          <p:spPr>
            <a:xfrm>
              <a:off x="6387862" y="1654844"/>
              <a:ext cx="571498" cy="185737"/>
            </a:xfrm>
            <a:prstGeom prst="rect">
              <a:avLst/>
            </a:prstGeom>
            <a:blipFill>
              <a:blip r:embed="rId10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4" name="object 14"/>
            <p:cNvSpPr/>
            <p:nvPr/>
          </p:nvSpPr>
          <p:spPr>
            <a:xfrm>
              <a:off x="544573" y="560786"/>
              <a:ext cx="1352539" cy="552448"/>
            </a:xfrm>
            <a:prstGeom prst="rect">
              <a:avLst/>
            </a:prstGeom>
            <a:blipFill>
              <a:blip r:embed="rId11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5" name="object 15"/>
            <p:cNvSpPr/>
            <p:nvPr/>
          </p:nvSpPr>
          <p:spPr>
            <a:xfrm>
              <a:off x="6387862" y="2056630"/>
              <a:ext cx="428594" cy="185724"/>
            </a:xfrm>
            <a:prstGeom prst="rect">
              <a:avLst/>
            </a:prstGeom>
            <a:blipFill>
              <a:blip r:embed="rId1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6" name="object 16"/>
            <p:cNvSpPr/>
            <p:nvPr/>
          </p:nvSpPr>
          <p:spPr>
            <a:xfrm>
              <a:off x="4102266" y="2036198"/>
              <a:ext cx="761998" cy="552446"/>
            </a:xfrm>
            <a:prstGeom prst="rect">
              <a:avLst/>
            </a:prstGeom>
            <a:blipFill>
              <a:blip r:embed="rId1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7" name="object 17"/>
            <p:cNvSpPr/>
            <p:nvPr/>
          </p:nvSpPr>
          <p:spPr>
            <a:xfrm>
              <a:off x="6096737" y="781385"/>
              <a:ext cx="2653030" cy="709295"/>
            </a:xfrm>
            <a:custGeom>
              <a:avLst/>
              <a:gdLst/>
              <a:ahLst/>
              <a:cxnLst/>
              <a:rect l="l" t="t" r="r" b="b"/>
              <a:pathLst>
                <a:path w="2653029" h="709294">
                  <a:moveTo>
                    <a:pt x="2652744" y="708748"/>
                  </a:moveTo>
                  <a:lnTo>
                    <a:pt x="0" y="708748"/>
                  </a:lnTo>
                  <a:lnTo>
                    <a:pt x="0" y="0"/>
                  </a:lnTo>
                  <a:lnTo>
                    <a:pt x="2652744" y="0"/>
                  </a:lnTo>
                  <a:lnTo>
                    <a:pt x="2652744" y="708748"/>
                  </a:lnTo>
                  <a:close/>
                </a:path>
              </a:pathLst>
            </a:custGeom>
            <a:solidFill>
              <a:srgbClr val="EDEDED"/>
            </a:solid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8" name="object 18"/>
            <p:cNvSpPr/>
            <p:nvPr/>
          </p:nvSpPr>
          <p:spPr>
            <a:xfrm>
              <a:off x="6096737" y="781385"/>
              <a:ext cx="2653030" cy="709295"/>
            </a:xfrm>
            <a:custGeom>
              <a:avLst/>
              <a:gdLst/>
              <a:ahLst/>
              <a:cxnLst/>
              <a:rect l="l" t="t" r="r" b="b"/>
              <a:pathLst>
                <a:path w="2653029" h="709294">
                  <a:moveTo>
                    <a:pt x="0" y="0"/>
                  </a:moveTo>
                  <a:lnTo>
                    <a:pt x="2652744" y="0"/>
                  </a:lnTo>
                  <a:lnTo>
                    <a:pt x="2652744" y="708748"/>
                  </a:lnTo>
                  <a:lnTo>
                    <a:pt x="0" y="708748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595959"/>
              </a:solidFill>
            </a:ln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19" name="object 19"/>
            <p:cNvSpPr/>
            <p:nvPr/>
          </p:nvSpPr>
          <p:spPr>
            <a:xfrm>
              <a:off x="5186464" y="2994843"/>
              <a:ext cx="2711069" cy="478674"/>
            </a:xfrm>
            <a:prstGeom prst="rect">
              <a:avLst/>
            </a:prstGeom>
            <a:blipFill>
              <a:blip r:embed="rId14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0" name="object 20"/>
            <p:cNvSpPr/>
            <p:nvPr/>
          </p:nvSpPr>
          <p:spPr>
            <a:xfrm>
              <a:off x="5186464" y="2341632"/>
              <a:ext cx="1789696" cy="630761"/>
            </a:xfrm>
            <a:prstGeom prst="rect">
              <a:avLst/>
            </a:prstGeom>
            <a:blipFill>
              <a:blip r:embed="rId15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1" name="object 21"/>
            <p:cNvSpPr/>
            <p:nvPr/>
          </p:nvSpPr>
          <p:spPr>
            <a:xfrm>
              <a:off x="6318212" y="945260"/>
              <a:ext cx="2209795" cy="380999"/>
            </a:xfrm>
            <a:prstGeom prst="rect">
              <a:avLst/>
            </a:prstGeom>
            <a:blipFill>
              <a:blip r:embed="rId16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  <p:sp>
          <p:nvSpPr>
            <p:cNvPr id="22" name="object 22"/>
            <p:cNvSpPr/>
            <p:nvPr/>
          </p:nvSpPr>
          <p:spPr>
            <a:xfrm>
              <a:off x="227637" y="1147545"/>
              <a:ext cx="1669486" cy="567348"/>
            </a:xfrm>
            <a:prstGeom prst="rect">
              <a:avLst/>
            </a:prstGeom>
            <a:blipFill>
              <a:blip r:embed="rId17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dirty="0">
                <a:latin typeface="Garamond" panose="02020404030301010803" pitchFamily="18" charset="0"/>
              </a:endParaRPr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7371388" y="2420433"/>
            <a:ext cx="1625600" cy="1099468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 marR="5080">
              <a:lnSpc>
                <a:spcPts val="1650"/>
              </a:lnSpc>
              <a:spcBef>
                <a:spcPts val="180"/>
              </a:spcBef>
            </a:pP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Always </a:t>
            </a:r>
            <a:r>
              <a:rPr sz="14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check: </a:t>
            </a: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The  gradient with  </a:t>
            </a:r>
            <a:r>
              <a:rPr sz="14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respect </a:t>
            </a: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to </a:t>
            </a:r>
            <a:r>
              <a:rPr sz="14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a</a:t>
            </a:r>
            <a:r>
              <a:rPr sz="1400" spc="-10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 </a:t>
            </a:r>
            <a:r>
              <a:rPr sz="14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variable  should </a:t>
            </a: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have the  </a:t>
            </a:r>
            <a:r>
              <a:rPr sz="14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same shape </a:t>
            </a:r>
            <a:r>
              <a:rPr sz="1400" spc="-5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as the  </a:t>
            </a:r>
            <a:r>
              <a:rPr sz="1400" dirty="0">
                <a:solidFill>
                  <a:srgbClr val="FF0000"/>
                </a:solidFill>
                <a:latin typeface="Garamond" panose="02020404030301010803" pitchFamily="18" charset="0"/>
                <a:cs typeface="Arial"/>
              </a:rPr>
              <a:t>variable</a:t>
            </a:r>
            <a:endParaRPr sz="1400"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5105644" y="5550489"/>
            <a:ext cx="157226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5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Lecture </a:t>
            </a:r>
            <a:r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4 -</a:t>
            </a:r>
            <a:r>
              <a:rPr spc="-210"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t> </a:t>
            </a:r>
            <a:fld id="{81D60167-4931-47E6-BA6A-407CBD079E47}" type="slidenum">
              <a:rPr dirty="0">
                <a:solidFill>
                  <a:srgbClr val="FFFFFF"/>
                </a:solidFill>
                <a:latin typeface="Garamond" panose="02020404030301010803" pitchFamily="18" charset="0"/>
                <a:cs typeface="Arial"/>
              </a:rPr>
              <a:pPr marL="12700">
                <a:lnSpc>
                  <a:spcPts val="2090"/>
                </a:lnSpc>
              </a:pPr>
              <a:t>56</a:t>
            </a:fld>
            <a:endParaRPr dirty="0">
              <a:latin typeface="Garamond" panose="02020404030301010803" pitchFamily="18" charset="0"/>
              <a:cs typeface="Arial"/>
            </a:endParaRPr>
          </a:p>
        </p:txBody>
      </p:sp>
      <p:sp>
        <p:nvSpPr>
          <p:cNvPr id="26" name="object 26"/>
          <p:cNvSpPr txBox="1">
            <a:spLocks noGrp="1"/>
          </p:cNvSpPr>
          <p:nvPr>
            <p:ph type="dt" sz="half" idx="6"/>
          </p:nvPr>
        </p:nvSpPr>
        <p:spPr>
          <a:xfrm>
            <a:off x="7651682" y="4693239"/>
            <a:ext cx="1416684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bg1"/>
                </a:solidFill>
                <a:latin typeface="Arial"/>
                <a:ea typeface="+mn-ea"/>
                <a:cs typeface="Arial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700">
              <a:lnSpc>
                <a:spcPts val="2090"/>
              </a:lnSpc>
            </a:pPr>
            <a:r>
              <a:rPr lang="en-US" spc="-5" dirty="0">
                <a:latin typeface="Garamond" panose="02020404030301010803" pitchFamily="18" charset="0"/>
              </a:rPr>
              <a:t>April </a:t>
            </a:r>
            <a:r>
              <a:rPr lang="en-US" spc="-50" dirty="0">
                <a:latin typeface="Garamond" panose="02020404030301010803" pitchFamily="18" charset="0"/>
              </a:rPr>
              <a:t>11,</a:t>
            </a:r>
            <a:r>
              <a:rPr lang="en-US" spc="-85" dirty="0">
                <a:latin typeface="Garamond" panose="02020404030301010803" pitchFamily="18" charset="0"/>
              </a:rPr>
              <a:t> </a:t>
            </a:r>
            <a:r>
              <a:rPr lang="en-US" spc="-5" dirty="0">
                <a:latin typeface="Garamond" panose="02020404030301010803" pitchFamily="18" charset="0"/>
              </a:rPr>
              <a:t>2019</a:t>
            </a:r>
            <a:endParaRPr spc="-5" dirty="0">
              <a:latin typeface="Garamond" panose="02020404030301010803" pitchFamily="18" charset="0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7E925AC-8760-4686-9735-A8FC239AE9F9}"/>
              </a:ext>
            </a:extLst>
          </p:cNvPr>
          <p:cNvSpPr txBox="1"/>
          <p:nvPr/>
        </p:nvSpPr>
        <p:spPr>
          <a:xfrm>
            <a:off x="0" y="6604084"/>
            <a:ext cx="2331087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 pitchFamily="18" charset="0"/>
                <a:ea typeface="+mn-ea"/>
                <a:cs typeface="+mn-cs"/>
              </a:rPr>
              <a:t>Fei-Fei Li, Justin Johnson, Serena Yeung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83BBF-D211-4D3A-8EAF-22904973A4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F414FB-2498-4291-8FAC-1CC986809F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600200"/>
            <a:ext cx="8332839" cy="4525963"/>
          </a:xfrm>
        </p:spPr>
        <p:txBody>
          <a:bodyPr>
            <a:normAutofit fontScale="92500" lnSpcReduction="20000"/>
          </a:bodyPr>
          <a:lstStyle/>
          <a:p>
            <a:r>
              <a:rPr lang="en-US" sz="2400" dirty="0"/>
              <a:t>Tricks of the trade</a:t>
            </a:r>
          </a:p>
          <a:p>
            <a:pPr lvl="1"/>
            <a:r>
              <a:rPr lang="en-US" sz="2400" dirty="0"/>
              <a:t>Preprocessing, initialization, normalization</a:t>
            </a:r>
          </a:p>
          <a:p>
            <a:pPr lvl="1"/>
            <a:r>
              <a:rPr lang="en-US" sz="2400" dirty="0"/>
              <a:t>Dealing with limited data</a:t>
            </a:r>
          </a:p>
          <a:p>
            <a:r>
              <a:rPr lang="en-US" sz="2400" dirty="0"/>
              <a:t>Convergence of gradient descent</a:t>
            </a:r>
          </a:p>
          <a:p>
            <a:pPr lvl="1"/>
            <a:r>
              <a:rPr lang="en-US" sz="2400" dirty="0"/>
              <a:t>How long will it take?</a:t>
            </a:r>
          </a:p>
          <a:p>
            <a:pPr lvl="1"/>
            <a:r>
              <a:rPr lang="en-US" sz="2400" dirty="0"/>
              <a:t>Will it work at all?</a:t>
            </a:r>
          </a:p>
          <a:p>
            <a:r>
              <a:rPr lang="en-US" sz="2400" dirty="0"/>
              <a:t>Different optimization strategies</a:t>
            </a:r>
          </a:p>
          <a:p>
            <a:pPr lvl="1"/>
            <a:r>
              <a:rPr lang="en-US" sz="2400" dirty="0"/>
              <a:t>Alternatives to SGD</a:t>
            </a:r>
          </a:p>
          <a:p>
            <a:pPr lvl="1"/>
            <a:r>
              <a:rPr lang="en-US" sz="2400" dirty="0"/>
              <a:t>Learning rates</a:t>
            </a:r>
          </a:p>
          <a:p>
            <a:pPr lvl="1"/>
            <a:r>
              <a:rPr lang="en-US" sz="2400" dirty="0"/>
              <a:t>Choosing hyperparameters</a:t>
            </a:r>
          </a:p>
          <a:p>
            <a:r>
              <a:rPr lang="en-US" sz="2400" dirty="0"/>
              <a:t>How to do the computation</a:t>
            </a:r>
          </a:p>
          <a:p>
            <a:pPr lvl="1"/>
            <a:r>
              <a:rPr lang="en-US" sz="2400" dirty="0"/>
              <a:t>Computation graphs</a:t>
            </a:r>
          </a:p>
          <a:p>
            <a:pPr lvl="1"/>
            <a:r>
              <a:rPr lang="en-US" sz="2400" dirty="0"/>
              <a:t>Vector notation (Jacobians)</a:t>
            </a: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63532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Default Design 1">
    <a:dk1>
      <a:srgbClr val="000000"/>
    </a:dk1>
    <a:lt1>
      <a:srgbClr val="FFFFFF"/>
    </a:lt1>
    <a:dk2>
      <a:srgbClr val="000000"/>
    </a:dk2>
    <a:lt2>
      <a:srgbClr val="808080"/>
    </a:lt2>
    <a:accent1>
      <a:srgbClr val="BBE0E3"/>
    </a:accent1>
    <a:accent2>
      <a:srgbClr val="333399"/>
    </a:accent2>
    <a:accent3>
      <a:srgbClr val="FFFFFF"/>
    </a:accent3>
    <a:accent4>
      <a:srgbClr val="000000"/>
    </a:accent4>
    <a:accent5>
      <a:srgbClr val="DAEDEF"/>
    </a:accent5>
    <a:accent6>
      <a:srgbClr val="2D2D8A"/>
    </a:accent6>
    <a:hlink>
      <a:srgbClr val="009999"/>
    </a:hlink>
    <a:folHlink>
      <a:srgbClr val="99CC00"/>
    </a:folHlink>
  </a:clrScheme>
</a:themeOverride>
</file>

<file path=docMetadata/LabelInfo.xml><?xml version="1.0" encoding="utf-8"?>
<clbl:labelList xmlns:clbl="http://schemas.microsoft.com/office/2020/mipLabelMetadata">
  <clbl:label id="{37f4b8a2-ad4f-41b5-9a91-284d2cc38f56}" enabled="1" method="Standard" siteId="{70de1992-07c6-480f-a318-a1afcba0398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5407</TotalTime>
  <Words>2582</Words>
  <Application>Microsoft Macintosh PowerPoint</Application>
  <PresentationFormat>On-screen Show (4:3)</PresentationFormat>
  <Paragraphs>506</Paragraphs>
  <Slides>57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57</vt:i4>
      </vt:variant>
    </vt:vector>
  </HeadingPairs>
  <TitlesOfParts>
    <vt:vector size="64" baseType="lpstr">
      <vt:lpstr>Arial</vt:lpstr>
      <vt:lpstr>Garamond</vt:lpstr>
      <vt:lpstr>Times New Roman</vt:lpstr>
      <vt:lpstr>Trebuchet MS</vt:lpstr>
      <vt:lpstr>1_Office Theme</vt:lpstr>
      <vt:lpstr>1_Default Design</vt:lpstr>
      <vt:lpstr>2_Office Theme</vt:lpstr>
      <vt:lpstr>PowerPoint Presentation</vt:lpstr>
      <vt:lpstr>Computation graphs</vt:lpstr>
      <vt:lpstr>How do we compute the gradient?</vt:lpstr>
      <vt:lpstr>Computational graphs</vt:lpstr>
      <vt:lpstr>Backpropagation: a simple example</vt:lpstr>
      <vt:lpstr>f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Another example:</vt:lpstr>
      <vt:lpstr>Patterns in gradient flow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Backprop Implementation:  “Flat” code</vt:lpstr>
      <vt:lpstr>Backprop Implementation:  “Flat” code</vt:lpstr>
      <vt:lpstr>PowerPoint Presentation</vt:lpstr>
      <vt:lpstr>Recap: Vector derivatives</vt:lpstr>
      <vt:lpstr>Recap: Vector derivatives</vt:lpstr>
      <vt:lpstr>Recap: Vector derivatives</vt:lpstr>
      <vt:lpstr>Gradients</vt:lpstr>
      <vt:lpstr>Jacobian Matrix: Generalization of Gradient</vt:lpstr>
      <vt:lpstr>Chain Rule</vt:lpstr>
      <vt:lpstr>Example Jacobian: Elementwise activation Function</vt:lpstr>
      <vt:lpstr>PowerPoint Presentation</vt:lpstr>
      <vt:lpstr>Example Jacobian: Elementwise activation Function</vt:lpstr>
      <vt:lpstr>Example Jacobian: Elementwise activation Function</vt:lpstr>
      <vt:lpstr>Example Jacobian: Elementwise activation Function</vt:lpstr>
      <vt:lpstr>PowerPoint Presentation</vt:lpstr>
      <vt:lpstr>Backprop with Vectors</vt:lpstr>
      <vt:lpstr>Backprop with Vectors</vt:lpstr>
      <vt:lpstr>Backprop with Vectors</vt:lpstr>
      <vt:lpstr>Backprop with Vectors</vt:lpstr>
      <vt:lpstr>Backprop with Vectors</vt:lpstr>
      <vt:lpstr>Backprop with Vectors</vt:lpstr>
      <vt:lpstr>Backprop with Vectors</vt:lpstr>
      <vt:lpstr>A vectorized example:</vt:lpstr>
      <vt:lpstr>A vectorized example:</vt:lpstr>
      <vt:lpstr>A vectorized example:</vt:lpstr>
      <vt:lpstr>A vectorized example:</vt:lpstr>
      <vt:lpstr>A vectorized example:</vt:lpstr>
      <vt:lpstr>A vectorized example:</vt:lpstr>
      <vt:lpstr>A vectorized example:</vt:lpstr>
      <vt:lpstr>A vectorized example:</vt:lpstr>
      <vt:lpstr>A vectorized example:</vt:lpstr>
      <vt:lpstr>A vectorized example:</vt:lpstr>
      <vt:lpstr>Recap</vt:lpstr>
    </vt:vector>
  </TitlesOfParts>
  <Company>University of Pittsburgh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 1678: Intro to Deep Learning</dc:title>
  <dc:creator>Adriana I. Kovashka</dc:creator>
  <cp:lastModifiedBy>Fan, Heng</cp:lastModifiedBy>
  <cp:revision>370</cp:revision>
  <dcterms:created xsi:type="dcterms:W3CDTF">2015-04-17T19:15:42Z</dcterms:created>
  <dcterms:modified xsi:type="dcterms:W3CDTF">2026-02-12T13:40:58Z</dcterms:modified>
</cp:coreProperties>
</file>