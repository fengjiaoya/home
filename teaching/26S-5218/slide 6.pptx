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  <p:sldMasterId id="2147483751" r:id="rId3"/>
  </p:sldMasterIdLst>
  <p:notesMasterIdLst>
    <p:notesMasterId r:id="rId51"/>
  </p:notesMasterIdLst>
  <p:sldIdLst>
    <p:sldId id="894" r:id="rId4"/>
    <p:sldId id="1195" r:id="rId5"/>
    <p:sldId id="871" r:id="rId6"/>
    <p:sldId id="873" r:id="rId7"/>
    <p:sldId id="1211" r:id="rId8"/>
    <p:sldId id="1207" r:id="rId9"/>
    <p:sldId id="1208" r:id="rId10"/>
    <p:sldId id="1210" r:id="rId11"/>
    <p:sldId id="1212" r:id="rId12"/>
    <p:sldId id="1213" r:id="rId13"/>
    <p:sldId id="1214" r:id="rId14"/>
    <p:sldId id="1202" r:id="rId15"/>
    <p:sldId id="1159" r:id="rId16"/>
    <p:sldId id="275" r:id="rId17"/>
    <p:sldId id="276" r:id="rId18"/>
    <p:sldId id="277" r:id="rId19"/>
    <p:sldId id="279" r:id="rId20"/>
    <p:sldId id="281" r:id="rId21"/>
    <p:sldId id="282" r:id="rId22"/>
    <p:sldId id="1077" r:id="rId23"/>
    <p:sldId id="1078" r:id="rId24"/>
    <p:sldId id="1221" r:id="rId25"/>
    <p:sldId id="881" r:id="rId26"/>
    <p:sldId id="886" r:id="rId27"/>
    <p:sldId id="1201" r:id="rId28"/>
    <p:sldId id="1220" r:id="rId29"/>
    <p:sldId id="889" r:id="rId30"/>
    <p:sldId id="1222" r:id="rId31"/>
    <p:sldId id="1085" r:id="rId32"/>
    <p:sldId id="890" r:id="rId33"/>
    <p:sldId id="1108" r:id="rId34"/>
    <p:sldId id="1109" r:id="rId35"/>
    <p:sldId id="1110" r:id="rId36"/>
    <p:sldId id="1101" r:id="rId37"/>
    <p:sldId id="1102" r:id="rId38"/>
    <p:sldId id="1103" r:id="rId39"/>
    <p:sldId id="1104" r:id="rId40"/>
    <p:sldId id="1105" r:id="rId41"/>
    <p:sldId id="1106" r:id="rId42"/>
    <p:sldId id="1107" r:id="rId43"/>
    <p:sldId id="1111" r:id="rId44"/>
    <p:sldId id="1112" r:id="rId45"/>
    <p:sldId id="1113" r:id="rId46"/>
    <p:sldId id="1198" r:id="rId47"/>
    <p:sldId id="1199" r:id="rId48"/>
    <p:sldId id="1200" r:id="rId49"/>
    <p:sldId id="1119" r:id="rId5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44" autoAdjust="0"/>
    <p:restoredTop sz="79396" autoAdjust="0"/>
  </p:normalViewPr>
  <p:slideViewPr>
    <p:cSldViewPr snapToGrid="0">
      <p:cViewPr>
        <p:scale>
          <a:sx n="129" d="100"/>
          <a:sy n="129" d="100"/>
        </p:scale>
        <p:origin x="640" y="-4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7695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94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8" Type="http://schemas.openxmlformats.org/officeDocument/2006/relationships/slide" Target="slides/slide5.xml"/><Relationship Id="rId51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Garamond" panose="02020404030301010803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BBD37736-4DC9-4C05-99A7-856CCC231FA5}" type="datetimeFigureOut">
              <a:rPr lang="en-US" smtClean="0"/>
              <a:pPr/>
              <a:t>2/10/26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Garamond" panose="02020404030301010803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75BAD559-58E6-437A-A7FE-2E6C4DB0F6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695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009DEB-A5ED-49DA-809F-4D64373B3F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70298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AD559-58E6-437A-A7FE-2E6C4DB0F6C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9235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AD559-58E6-437A-A7FE-2E6C4DB0F6C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956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AD559-58E6-437A-A7FE-2E6C4DB0F6C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358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b="1"/>
              <a:t>问题在哪里？</a:t>
            </a:r>
            <a:endParaRPr lang="en-US" altLang="ja-JP" b="1" dirty="0"/>
          </a:p>
          <a:p>
            <a:r>
              <a:rPr lang="ja-JP" altLang="en-US" b="1"/>
              <a:t>震荡严重</a:t>
            </a:r>
            <a:r>
              <a:rPr lang="en-US" altLang="ja-JP" b="1" dirty="0"/>
              <a:t>. </a:t>
            </a:r>
            <a:r>
              <a:rPr lang="ja-JP" altLang="en-US"/>
              <a:t>在“狭长峡谷”型 </a:t>
            </a:r>
            <a:r>
              <a:rPr lang="en-US" dirty="0"/>
              <a:t>loss landscape </a:t>
            </a:r>
            <a:r>
              <a:rPr lang="ja-JP" altLang="en-US"/>
              <a:t>里，会左右来回抖</a:t>
            </a:r>
          </a:p>
          <a:p>
            <a:r>
              <a:rPr lang="ja-JP" altLang="en-US" b="1"/>
              <a:t>对噪声敏感</a:t>
            </a:r>
            <a:r>
              <a:rPr lang="en-US" altLang="ja-JP" b="1" dirty="0"/>
              <a:t>. </a:t>
            </a:r>
            <a:r>
              <a:rPr lang="en-US" dirty="0"/>
              <a:t>mini-batch </a:t>
            </a:r>
            <a:r>
              <a:rPr lang="ja-JP" altLang="en-US"/>
              <a:t>的梯度噪声会直接影响更新方向</a:t>
            </a:r>
          </a:p>
          <a:p>
            <a:r>
              <a:rPr lang="ja-JP" altLang="en-US" b="1"/>
              <a:t>收敛慢</a:t>
            </a:r>
            <a:r>
              <a:rPr lang="en-US" altLang="ja-JP" b="1" dirty="0"/>
              <a:t>.  </a:t>
            </a:r>
            <a:r>
              <a:rPr lang="ja-JP" altLang="en-US"/>
              <a:t>每一步都像“重新开始思考”，没有记忆</a:t>
            </a:r>
            <a:endParaRPr lang="en-US" altLang="ja-JP" dirty="0"/>
          </a:p>
          <a:p>
            <a:r>
              <a:rPr lang="en-US" dirty="0"/>
              <a:t>SGD </a:t>
            </a:r>
            <a:r>
              <a:rPr lang="ja-JP" altLang="en-US"/>
              <a:t>是</a:t>
            </a:r>
            <a:r>
              <a:rPr lang="ja-JP" altLang="en-US" b="1"/>
              <a:t>健忘的</a:t>
            </a:r>
            <a:r>
              <a:rPr lang="ja-JP" altLang="en-US"/>
              <a:t>。</a:t>
            </a:r>
            <a:endParaRPr lang="en-US" altLang="ja-JP" dirty="0"/>
          </a:p>
          <a:p>
            <a:endParaRPr lang="en-US" altLang="ja-JP" dirty="0"/>
          </a:p>
          <a:p>
            <a:r>
              <a:rPr lang="en-US" dirty="0"/>
              <a:t>Momentum：</a:t>
            </a:r>
            <a:r>
              <a:rPr lang="ja-JP" altLang="en-US"/>
              <a:t>核心思想一句话</a:t>
            </a:r>
            <a:r>
              <a:rPr lang="en-US" altLang="ja-JP" dirty="0"/>
              <a:t>: </a:t>
            </a:r>
            <a:r>
              <a:rPr lang="ja-JP" altLang="en-US"/>
              <a:t>不要只看这一刻的梯度，要“记住过去的方向”</a:t>
            </a:r>
            <a:r>
              <a:rPr lang="en-US" altLang="ja-JP" dirty="0"/>
              <a:t> (</a:t>
            </a:r>
            <a:r>
              <a:rPr lang="ja-JP" altLang="en-US"/>
              <a:t>不是每一步都完全听当前坡度的</a:t>
            </a:r>
            <a:r>
              <a:rPr lang="en-US" altLang="ja-JP" dirty="0"/>
              <a:t>)</a:t>
            </a:r>
          </a:p>
          <a:p>
            <a:r>
              <a:rPr lang="ja-JP" altLang="en-US" b="1"/>
              <a:t>加速收敛</a:t>
            </a:r>
          </a:p>
          <a:p>
            <a:r>
              <a:rPr lang="ja-JP" altLang="en-US"/>
              <a:t>连续同方向的梯度 → 越走越快</a:t>
            </a:r>
          </a:p>
          <a:p>
            <a:r>
              <a:rPr lang="ja-JP" altLang="en-US"/>
              <a:t>像滚雪球一样</a:t>
            </a:r>
            <a:endParaRPr lang="en-US" altLang="ja-JP" dirty="0"/>
          </a:p>
          <a:p>
            <a:endParaRPr lang="ja-JP" altLang="en-US"/>
          </a:p>
          <a:p>
            <a:r>
              <a:rPr lang="ja-JP" altLang="en-US" b="1"/>
              <a:t>抗噪声</a:t>
            </a:r>
          </a:p>
          <a:p>
            <a:r>
              <a:rPr lang="ja-JP" altLang="en-US"/>
              <a:t>单个 </a:t>
            </a:r>
            <a:r>
              <a:rPr lang="en-US" dirty="0"/>
              <a:t>batch </a:t>
            </a:r>
            <a:r>
              <a:rPr lang="ja-JP" altLang="en-US"/>
              <a:t>的异常梯度影响被“平均掉”</a:t>
            </a:r>
          </a:p>
          <a:p>
            <a:endParaRPr lang="ja-JP" altLang="en-US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AD559-58E6-437A-A7FE-2E6C4DB0F6C1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474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如果某个参数：</a:t>
            </a:r>
          </a:p>
          <a:p>
            <a:r>
              <a:rPr lang="ja-JP" altLang="en-US"/>
              <a:t>历史上梯度平方和很大</a:t>
            </a:r>
            <a:br>
              <a:rPr lang="ja-JP" altLang="en-US"/>
            </a:br>
            <a:r>
              <a:rPr lang="ja-JP" altLang="en-US"/>
              <a:t>→ 说明它已经被反复优化</a:t>
            </a:r>
            <a:br>
              <a:rPr lang="ja-JP" altLang="en-US"/>
            </a:br>
            <a:r>
              <a:rPr lang="ja-JP" altLang="en-US"/>
              <a:t>→ </a:t>
            </a:r>
            <a:r>
              <a:rPr lang="ja-JP" altLang="en-US" b="1"/>
              <a:t>降低它的学习率</a:t>
            </a:r>
            <a:endParaRPr lang="ja-JP" altLang="en-US"/>
          </a:p>
          <a:p>
            <a:r>
              <a:rPr lang="ja-JP" altLang="en-US"/>
              <a:t>如果某个参数：</a:t>
            </a:r>
          </a:p>
          <a:p>
            <a:r>
              <a:rPr lang="ja-JP" altLang="en-US"/>
              <a:t>历史梯度平方和很小</a:t>
            </a:r>
            <a:br>
              <a:rPr lang="ja-JP" altLang="en-US"/>
            </a:br>
            <a:r>
              <a:rPr lang="ja-JP" altLang="en-US"/>
              <a:t>→ 说明它很少被碰</a:t>
            </a:r>
            <a:br>
              <a:rPr lang="ja-JP" altLang="en-US"/>
            </a:br>
            <a:r>
              <a:rPr lang="ja-JP" altLang="en-US"/>
              <a:t>→ </a:t>
            </a:r>
            <a:r>
              <a:rPr lang="ja-JP" altLang="en-US" b="1"/>
              <a:t>保持大学习率</a:t>
            </a:r>
            <a:endParaRPr lang="en-US" altLang="ja-JP" b="1" dirty="0"/>
          </a:p>
          <a:p>
            <a:endParaRPr lang="en-US" altLang="ja-JP" b="1" dirty="0"/>
          </a:p>
          <a:p>
            <a:r>
              <a:rPr lang="ja-JP" altLang="en-US"/>
              <a:t>梯度一直很大 → </a:t>
            </a:r>
            <a:r>
              <a:rPr lang="en-US" sz="1200" kern="1200" dirty="0" err="1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rPr>
              <a:t>grad_squared</a:t>
            </a:r>
            <a:r>
              <a:rPr lang="en-US" dirty="0"/>
              <a:t> </a:t>
            </a:r>
            <a:r>
              <a:rPr lang="ja-JP" altLang="en-US"/>
              <a:t>很大 → 更新被压小</a:t>
            </a:r>
          </a:p>
          <a:p>
            <a:r>
              <a:rPr lang="ja-JP" altLang="en-US"/>
              <a:t>梯度很少出现 → </a:t>
            </a:r>
            <a:r>
              <a:rPr lang="en-US" sz="1200" kern="1200" dirty="0" err="1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rPr>
              <a:t>grad_squared</a:t>
            </a:r>
            <a:r>
              <a:rPr lang="en-US" dirty="0"/>
              <a:t> </a:t>
            </a:r>
            <a:r>
              <a:rPr lang="ja-JP" altLang="en-US"/>
              <a:t>小 → 更新仍然大</a:t>
            </a:r>
          </a:p>
          <a:p>
            <a:endParaRPr lang="ja-JP" altLang="en-US"/>
          </a:p>
          <a:p>
            <a:endParaRPr lang="en-US" dirty="0"/>
          </a:p>
          <a:p>
            <a:r>
              <a:rPr lang="ja-JP" altLang="en-US"/>
              <a:t>不是巧合，是必然：</a:t>
            </a:r>
          </a:p>
          <a:p>
            <a:r>
              <a:rPr lang="ja-JP" altLang="en-US"/>
              <a:t>梯度有正有负，不能直接累加</a:t>
            </a:r>
          </a:p>
          <a:p>
            <a:r>
              <a:rPr lang="ja-JP" altLang="en-US"/>
              <a:t>平方：</a:t>
            </a:r>
          </a:p>
          <a:p>
            <a:pPr lvl="1"/>
            <a:r>
              <a:rPr lang="ja-JP" altLang="en-US"/>
              <a:t>衡量的是 </a:t>
            </a:r>
            <a:r>
              <a:rPr lang="ja-JP" altLang="en-US" b="1"/>
              <a:t>“更新强度”</a:t>
            </a:r>
            <a:endParaRPr lang="ja-JP" altLang="en-US"/>
          </a:p>
          <a:p>
            <a:pPr lvl="1"/>
            <a:r>
              <a:rPr lang="ja-JP" altLang="en-US"/>
              <a:t>和方向无关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AD559-58E6-437A-A7FE-2E6C4DB0F6C1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9541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RMSProp</a:t>
            </a:r>
            <a:r>
              <a:rPr lang="en-US" dirty="0"/>
              <a:t> </a:t>
            </a:r>
            <a:r>
              <a:rPr lang="ja-JP" altLang="en-US"/>
              <a:t>的动机是：</a:t>
            </a:r>
            <a:br>
              <a:rPr lang="ja-JP" altLang="en-US"/>
            </a:br>
            <a:r>
              <a:rPr lang="en-US" dirty="0" err="1"/>
              <a:t>AdaGrad</a:t>
            </a:r>
            <a:r>
              <a:rPr lang="en-US" dirty="0"/>
              <a:t> </a:t>
            </a:r>
            <a:r>
              <a:rPr lang="ja-JP" altLang="en-US"/>
              <a:t>的“历史记忆太长了”，</a:t>
            </a:r>
            <a:br>
              <a:rPr lang="ja-JP" altLang="en-US"/>
            </a:br>
            <a:r>
              <a:rPr lang="ja-JP" altLang="en-US"/>
              <a:t>我们只想记住“最近一段时间”的梯度强度。</a:t>
            </a:r>
            <a:endParaRPr lang="en-US" altLang="ja-JP" dirty="0"/>
          </a:p>
          <a:p>
            <a:endParaRPr lang="en-US" dirty="0"/>
          </a:p>
          <a:p>
            <a:r>
              <a:rPr lang="ja-JP" altLang="en-US"/>
              <a:t>具体来说：</a:t>
            </a:r>
          </a:p>
          <a:p>
            <a:r>
              <a:rPr lang="ja-JP" altLang="en-US"/>
              <a:t>只要某个参数：</a:t>
            </a:r>
          </a:p>
          <a:p>
            <a:pPr lvl="1"/>
            <a:r>
              <a:rPr lang="ja-JP" altLang="en-US"/>
              <a:t>在早期梯度大过</a:t>
            </a:r>
          </a:p>
          <a:p>
            <a:r>
              <a:rPr lang="ja-JP" altLang="en-US"/>
              <a:t>那么：</a:t>
            </a:r>
          </a:p>
          <a:p>
            <a:pPr lvl="1"/>
            <a:r>
              <a:rPr lang="en-US" sz="1200" kern="1200" dirty="0" err="1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rPr>
              <a:t>grad_squared</a:t>
            </a:r>
            <a:r>
              <a:rPr lang="en-US" dirty="0"/>
              <a:t> </a:t>
            </a:r>
            <a:r>
              <a:rPr lang="ja-JP" altLang="en-US"/>
              <a:t>会一直很大</a:t>
            </a:r>
          </a:p>
          <a:p>
            <a:pPr lvl="1"/>
            <a:r>
              <a:rPr lang="ja-JP" altLang="en-US"/>
              <a:t>即使后面梯度已经变小</a:t>
            </a:r>
          </a:p>
          <a:p>
            <a:pPr lvl="1"/>
            <a:r>
              <a:rPr lang="ja-JP" altLang="en-US"/>
              <a:t>学习率也 </a:t>
            </a:r>
            <a:r>
              <a:rPr lang="ja-JP" altLang="en-US" b="1"/>
              <a:t>永远回不来</a:t>
            </a:r>
            <a:r>
              <a:rPr lang="zh-CN" altLang="en-US" b="1" dirty="0"/>
              <a:t> （</a:t>
            </a:r>
            <a:r>
              <a:rPr lang="ja-JP" altLang="en-US"/>
              <a:t>学习率 → </a:t>
            </a:r>
            <a:r>
              <a:rPr lang="en-US" altLang="ja-JP" dirty="0"/>
              <a:t>0</a:t>
            </a:r>
            <a:r>
              <a:rPr lang="zh-CN" altLang="en-US" b="1" dirty="0"/>
              <a:t>）</a:t>
            </a:r>
            <a:endParaRPr lang="ja-JP" altLang="en-US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RMSProp</a:t>
            </a:r>
            <a:endParaRPr lang="en-US" dirty="0"/>
          </a:p>
          <a:p>
            <a:r>
              <a:rPr lang="ja-JP" altLang="en-US"/>
              <a:t>我不关心你“一辈子”更新得多不多，</a:t>
            </a:r>
            <a:br>
              <a:rPr lang="ja-JP" altLang="en-US"/>
            </a:br>
            <a:r>
              <a:rPr lang="ja-JP" altLang="en-US"/>
              <a:t>我只关心你“最近表现怎么样”。</a:t>
            </a:r>
            <a:endParaRPr lang="en-US" altLang="ja-JP" dirty="0"/>
          </a:p>
          <a:p>
            <a:endParaRPr lang="en-US" dirty="0"/>
          </a:p>
          <a:p>
            <a:r>
              <a:rPr lang="ja-JP" altLang="en-US"/>
              <a:t>很久以前的梯度</a:t>
            </a:r>
            <a:br>
              <a:rPr lang="ja-JP" altLang="en-US"/>
            </a:br>
            <a:r>
              <a:rPr lang="ja-JP" altLang="en-US"/>
              <a:t>→ </a:t>
            </a:r>
            <a:r>
              <a:rPr lang="ja-JP" altLang="en-US" b="1"/>
              <a:t>应该慢慢忘掉</a:t>
            </a:r>
            <a:endParaRPr lang="ja-JP" altLang="en-US"/>
          </a:p>
          <a:p>
            <a:r>
              <a:rPr lang="ja-JP" altLang="en-US"/>
              <a:t>最近的梯度</a:t>
            </a:r>
            <a:br>
              <a:rPr lang="ja-JP" altLang="en-US"/>
            </a:br>
            <a:r>
              <a:rPr lang="ja-JP" altLang="en-US"/>
              <a:t>→ </a:t>
            </a:r>
            <a:r>
              <a:rPr lang="ja-JP" altLang="en-US" b="1"/>
              <a:t>才有参考价值</a:t>
            </a:r>
            <a:endParaRPr lang="ja-JP" altLang="en-US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AD559-58E6-437A-A7FE-2E6C4DB0F6C1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1424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rPr>
              <a:t>beta1 = 0.9</a:t>
            </a:r>
            <a:endParaRPr lang="en-US" dirty="0"/>
          </a:p>
          <a:p>
            <a:r>
              <a:rPr lang="ja-JP" altLang="en-US"/>
              <a:t>第 </a:t>
            </a:r>
            <a:r>
              <a:rPr lang="en-US" altLang="ja-JP" dirty="0"/>
              <a:t>1 </a:t>
            </a:r>
            <a:r>
              <a:rPr lang="ja-JP" altLang="en-US"/>
              <a:t>步梯度是 </a:t>
            </a:r>
            <a:r>
              <a:rPr lang="en-US" sz="1200" kern="1200" dirty="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rPr>
              <a:t>g</a:t>
            </a:r>
            <a:endParaRPr lang="en-US" dirty="0"/>
          </a:p>
          <a:p>
            <a:r>
              <a:rPr lang="ja-JP" altLang="en-US" b="1"/>
              <a:t>不做 </a:t>
            </a:r>
            <a:r>
              <a:rPr lang="en-US" b="1" dirty="0"/>
              <a:t>bias correction </a:t>
            </a:r>
            <a:r>
              <a:rPr lang="ja-JP" altLang="en-US" b="1"/>
              <a:t>时：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Garamond" panose="02020404030301010803" pitchFamily="18" charset="0"/>
                <a:ea typeface="+mn-ea"/>
                <a:cs typeface="+mn-cs"/>
              </a:rPr>
              <a:t>m1 = 0.9 * 0 + 0.1 * g = 0.1 g</a:t>
            </a:r>
          </a:p>
          <a:p>
            <a:r>
              <a:rPr lang="ja-JP" altLang="en-US"/>
              <a:t>但问题是：</a:t>
            </a:r>
          </a:p>
          <a:p>
            <a:r>
              <a:rPr lang="ja-JP" altLang="en-US"/>
              <a:t>你真正想要的“梯度均值”明明是 </a:t>
            </a:r>
            <a:r>
              <a:rPr lang="en-US" b="1" dirty="0"/>
              <a:t>g</a:t>
            </a:r>
            <a:br>
              <a:rPr lang="en-US" dirty="0"/>
            </a:br>
            <a:r>
              <a:rPr lang="ja-JP" altLang="en-US"/>
              <a:t>却被硬生生压成了 </a:t>
            </a:r>
            <a:r>
              <a:rPr lang="en-US" altLang="ja-JP" b="1" dirty="0"/>
              <a:t>0.1 </a:t>
            </a:r>
            <a:r>
              <a:rPr lang="en-US" b="1" dirty="0"/>
              <a:t>g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AD559-58E6-437A-A7FE-2E6C4DB0F6C1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201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5548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408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6336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155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88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379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3631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710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016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3913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4459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2134D1-49F0-4546-86A1-AC0501B90F81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21786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9FDF80-94A4-4D7C-B1A8-7E251E7DBBA7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82466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A40F0D-5C06-4731-A34C-109BF192A96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5386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124B6E-7B2C-4DD0-B100-850733DB18F3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5484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E235E0-140F-4275-AF4F-B2ED2B4FE746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93327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F59DEC-22BE-4F83-BAA8-9945FF969969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3856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9325E5-224D-42B9-8A24-02AC07E5BC7E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14413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83EDF7-CE87-4276-8B7E-FD4597F8F227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9198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6EB3C9-DDE7-4283-8861-FA4C83D84A97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12572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0EDD31-9D7F-4A41-8637-222DAC39B97A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87019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26893A-60E9-48D9-9D9A-C2567195504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70450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15189" y="687366"/>
            <a:ext cx="4827905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tx1"/>
                </a:solidFill>
                <a:latin typeface="Garamond" panose="02020404030301010803" pitchFamily="18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lang="en-US" spc="-5" dirty="0">
                <a:latin typeface="Garamond" panose="02020404030301010803" pitchFamily="18" charset="0"/>
              </a:rPr>
              <a:t>April 24,</a:t>
            </a:r>
            <a:r>
              <a:rPr lang="en-US" spc="-90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2018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Fei-Fei Li </a:t>
            </a:r>
            <a:r>
              <a:rPr lang="en-US" dirty="0">
                <a:latin typeface="Garamond" panose="02020404030301010803" pitchFamily="18" charset="0"/>
              </a:rPr>
              <a:t>&amp; Justin Johnson &amp; </a:t>
            </a:r>
            <a:r>
              <a:rPr lang="en-US" spc="-5" dirty="0">
                <a:latin typeface="Garamond" panose="02020404030301010803" pitchFamily="18" charset="0"/>
              </a:rPr>
              <a:t>Serena</a:t>
            </a:r>
            <a:r>
              <a:rPr lang="en-US" spc="-125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Yeung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80"/>
              </a:lnSpc>
            </a:pPr>
            <a:r>
              <a:rPr lang="en-US" sz="3000" spc="-7" baseline="1388" dirty="0">
                <a:latin typeface="Garamond" panose="02020404030301010803" pitchFamily="18" charset="0"/>
              </a:rPr>
              <a:t>Lecture </a:t>
            </a:r>
            <a:r>
              <a:rPr lang="en-US" sz="3000" baseline="1388" dirty="0">
                <a:latin typeface="Garamond" panose="02020404030301010803" pitchFamily="18" charset="0"/>
              </a:rPr>
              <a:t>7 -</a:t>
            </a:r>
            <a:r>
              <a:rPr lang="en-US" sz="3000" spc="-277" baseline="1388" dirty="0">
                <a:latin typeface="Garamond" panose="02020404030301010803" pitchFamily="18" charset="0"/>
              </a:rPr>
              <a:t> </a:t>
            </a:r>
            <a:fld id="{81D60167-4931-47E6-BA6A-407CBD079E47}" type="slidenum">
              <a:rPr smtClean="0">
                <a:latin typeface="Garamond" panose="02020404030301010803" pitchFamily="18" charset="0"/>
              </a:rPr>
              <a:pPr marL="12700">
                <a:lnSpc>
                  <a:spcPts val="2380"/>
                </a:lnSpc>
              </a:pPr>
              <a:t>‹#›</a:t>
            </a:fld>
            <a:endParaRPr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8164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Garamond" panose="02020404030301010803" pitchFamily="18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lang="en-US" spc="-5" dirty="0">
                <a:latin typeface="Garamond" panose="02020404030301010803" pitchFamily="18" charset="0"/>
              </a:rPr>
              <a:t>April 25,</a:t>
            </a:r>
            <a:r>
              <a:rPr lang="en-US" spc="-90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Fei-Fei Li </a:t>
            </a:r>
            <a:r>
              <a:rPr lang="en-US" dirty="0">
                <a:latin typeface="Garamond" panose="02020404030301010803" pitchFamily="18" charset="0"/>
              </a:rPr>
              <a:t>&amp; Justin Johnson &amp; </a:t>
            </a:r>
            <a:r>
              <a:rPr lang="en-US" spc="-5" dirty="0">
                <a:latin typeface="Garamond" panose="02020404030301010803" pitchFamily="18" charset="0"/>
              </a:rPr>
              <a:t>Serena</a:t>
            </a:r>
            <a:r>
              <a:rPr lang="en-US" spc="-145" dirty="0">
                <a:latin typeface="Garamond" panose="02020404030301010803" pitchFamily="18" charset="0"/>
              </a:rPr>
              <a:t> </a:t>
            </a:r>
            <a:r>
              <a:rPr lang="en-US" spc="-40" dirty="0">
                <a:latin typeface="Garamond" panose="02020404030301010803" pitchFamily="18" charset="0"/>
              </a:rPr>
              <a:t>Yeung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Garamond" panose="02020404030301010803" pitchFamily="18" charset="0"/>
                <a:cs typeface="Arial"/>
              </a:defRPr>
            </a:lvl1pPr>
          </a:lstStyle>
          <a:p>
            <a:pPr marL="103505">
              <a:lnSpc>
                <a:spcPts val="2310"/>
              </a:lnSpc>
            </a:pPr>
            <a:fld id="{81D60167-4931-47E6-BA6A-407CBD079E47}" type="slidenum">
              <a:rPr lang="en-US" smtClean="0"/>
              <a:pPr marL="103505">
                <a:lnSpc>
                  <a:spcPts val="2310"/>
                </a:lnSpc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8667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552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5935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322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2768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88640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93726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15034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90165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4519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5722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1176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495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Garamond" panose="02020404030301010803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Garamond" panose="02020404030301010803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Garamond" panose="02020404030301010803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FD88B6D-6F3B-4364-94DC-2683F02AD070}" type="slidenum">
              <a:rPr 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649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7" r:id="rId12"/>
    <p:sldLayoutId id="2147483726" r:id="rId13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anose="02020404030301010803" pitchFamily="18" charset="0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Garamond" panose="02020404030301010803" pitchFamily="18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Garamond" panose="02020404030301010803" pitchFamily="18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Garamond" panose="02020404030301010803" pitchFamily="18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Garamond" panose="02020404030301010803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562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8.jpg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2.png"/><Relationship Id="rId4" Type="http://schemas.openxmlformats.org/officeDocument/2006/relationships/image" Target="../media/image29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imgur.com/a/Hqolp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eeplearning.ai/ai-notes/optimization/" TargetMode="Externa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7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openreview.net/pdf?id=r1eOnh4YPB" TargetMode="External"/><Relationship Id="rId4" Type="http://schemas.openxmlformats.org/officeDocument/2006/relationships/image" Target="../media/image3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A2844304-8D4E-49AC-99A9-CC54E13E85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10" y="46895"/>
            <a:ext cx="1841888" cy="594497"/>
          </a:xfrm>
          <a:prstGeom prst="rect">
            <a:avLst/>
          </a:prstGeom>
          <a:effectLst>
            <a:reflection stA="15000" endPos="65000" dist="50800" dir="5400000" sy="-100000" algn="bl" rotWithShape="0"/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CE12115-B5CE-453C-967D-DFFC315D5FB5}"/>
              </a:ext>
            </a:extLst>
          </p:cNvPr>
          <p:cNvSpPr/>
          <p:nvPr/>
        </p:nvSpPr>
        <p:spPr>
          <a:xfrm>
            <a:off x="0" y="1336432"/>
            <a:ext cx="9144000" cy="15464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</a:rPr>
              <a:t>CSCE 5218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</a:rPr>
              <a:t>Deep Learning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2FFFAB-39EF-4ACC-9EF6-A3A1475FC4D4}"/>
              </a:ext>
            </a:extLst>
          </p:cNvPr>
          <p:cNvCxnSpPr>
            <a:cxnSpLocks/>
          </p:cNvCxnSpPr>
          <p:nvPr/>
        </p:nvCxnSpPr>
        <p:spPr>
          <a:xfrm>
            <a:off x="614362" y="3052641"/>
            <a:ext cx="7915275" cy="0"/>
          </a:xfrm>
          <a:prstGeom prst="line">
            <a:avLst/>
          </a:prstGeom>
          <a:ln w="38100">
            <a:solidFill>
              <a:srgbClr val="007B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6DB69BA-A1E7-4F07-9D08-D763F6B04D39}"/>
              </a:ext>
            </a:extLst>
          </p:cNvPr>
          <p:cNvSpPr/>
          <p:nvPr/>
        </p:nvSpPr>
        <p:spPr>
          <a:xfrm>
            <a:off x="614361" y="3409042"/>
            <a:ext cx="7915275" cy="9422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</a:rPr>
              <a:t>Neural Network Training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77A988-A29A-4D86-87FC-7064D9BC0171}"/>
              </a:ext>
            </a:extLst>
          </p:cNvPr>
          <p:cNvSpPr/>
          <p:nvPr/>
        </p:nvSpPr>
        <p:spPr>
          <a:xfrm>
            <a:off x="0" y="6400803"/>
            <a:ext cx="7915275" cy="4571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</a:rPr>
              <a:t>Slides adapted from Adriana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</a:rPr>
              <a:t>Kovashka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896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33A38-ECC2-486F-9EE0-CCAEBDAFE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0"/>
          </a:xfrm>
        </p:spPr>
        <p:txBody>
          <a:bodyPr>
            <a:normAutofit/>
          </a:bodyPr>
          <a:lstStyle/>
          <a:p>
            <a:r>
              <a:rPr lang="en-US" sz="5400" dirty="0"/>
              <a:t>Convergence of training</a:t>
            </a:r>
          </a:p>
        </p:txBody>
      </p:sp>
    </p:spTree>
    <p:extLst>
      <p:ext uri="{BB962C8B-B14F-4D97-AF65-F5344CB8AC3E}">
        <p14:creationId xmlns:p14="http://schemas.microsoft.com/office/powerpoint/2010/main" val="389475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DF07E-68A9-42C5-B27F-4C8F9C052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Successful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3663B-EC6E-428F-A902-A6C21766A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training to converge (stop) at a reasonable place</a:t>
            </a:r>
          </a:p>
          <a:p>
            <a:r>
              <a:rPr lang="en-US" dirty="0"/>
              <a:t>Stopping is not guaranteed – e.g. imagine taking larger and larger steps…</a:t>
            </a:r>
          </a:p>
          <a:p>
            <a:r>
              <a:rPr lang="en-US" dirty="0"/>
              <a:t>Stopping in a good place is not guaranteed</a:t>
            </a:r>
          </a:p>
        </p:txBody>
      </p:sp>
    </p:spTree>
    <p:extLst>
      <p:ext uri="{BB962C8B-B14F-4D97-AF65-F5344CB8AC3E}">
        <p14:creationId xmlns:p14="http://schemas.microsoft.com/office/powerpoint/2010/main" val="3458101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37381-4F31-4831-A771-AE4135ADE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surfaces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D2550-1EFC-4829-AC53-B697EAB3B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Usually Loss(W) is not convex, so there could be many local minima</a:t>
            </a:r>
          </a:p>
          <a:p>
            <a:r>
              <a:rPr lang="en-US" dirty="0"/>
              <a:t>However, in deep networks, these minima are reasonably similar – not true in small networks</a:t>
            </a:r>
          </a:p>
          <a:p>
            <a:r>
              <a:rPr lang="en-US" dirty="0"/>
              <a:t>What are desirable properties of the loss surface?</a:t>
            </a:r>
          </a:p>
        </p:txBody>
      </p:sp>
    </p:spTree>
    <p:extLst>
      <p:ext uri="{BB962C8B-B14F-4D97-AF65-F5344CB8AC3E}">
        <p14:creationId xmlns:p14="http://schemas.microsoft.com/office/powerpoint/2010/main" val="3203449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9FC44-386F-4AAE-AF53-710582981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Convexity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4DCC5-DAE1-49D9-8F82-954D79873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spc="-149" dirty="0">
                <a:solidFill>
                  <a:srgbClr val="000000"/>
                </a:solidFill>
                <a:cs typeface="Arial"/>
              </a:rPr>
              <a:t>A </a:t>
            </a:r>
            <a:r>
              <a:rPr lang="en-US" sz="2800" spc="-83" dirty="0">
                <a:solidFill>
                  <a:srgbClr val="000000"/>
                </a:solidFill>
                <a:cs typeface="Arial"/>
              </a:rPr>
              <a:t>surface </a:t>
            </a:r>
            <a:r>
              <a:rPr lang="en-US" sz="2800" spc="-86" dirty="0">
                <a:solidFill>
                  <a:srgbClr val="000000"/>
                </a:solidFill>
                <a:cs typeface="Arial"/>
              </a:rPr>
              <a:t>is </a:t>
            </a:r>
            <a:r>
              <a:rPr lang="en-US" sz="2800" spc="-50" dirty="0">
                <a:solidFill>
                  <a:srgbClr val="000000"/>
                </a:solidFill>
                <a:cs typeface="Arial"/>
              </a:rPr>
              <a:t>“convex” </a:t>
            </a:r>
            <a:r>
              <a:rPr lang="en-US" sz="2800" spc="26" dirty="0">
                <a:solidFill>
                  <a:srgbClr val="000000"/>
                </a:solidFill>
                <a:cs typeface="Arial"/>
              </a:rPr>
              <a:t>if </a:t>
            </a:r>
            <a:r>
              <a:rPr lang="en-US" sz="2800" spc="50" dirty="0">
                <a:solidFill>
                  <a:srgbClr val="000000"/>
                </a:solidFill>
                <a:cs typeface="Arial"/>
              </a:rPr>
              <a:t>it </a:t>
            </a:r>
            <a:r>
              <a:rPr lang="en-US" sz="2800" spc="-53" dirty="0">
                <a:solidFill>
                  <a:srgbClr val="000000"/>
                </a:solidFill>
                <a:cs typeface="Arial"/>
              </a:rPr>
              <a:t>continuously </a:t>
            </a:r>
            <a:r>
              <a:rPr lang="en-US" sz="2800" spc="-59" dirty="0">
                <a:solidFill>
                  <a:srgbClr val="000000"/>
                </a:solidFill>
                <a:cs typeface="Arial"/>
              </a:rPr>
              <a:t>curves</a:t>
            </a:r>
            <a:r>
              <a:rPr lang="en-US" sz="2800" spc="-149" dirty="0">
                <a:solidFill>
                  <a:srgbClr val="000000"/>
                </a:solidFill>
                <a:cs typeface="Arial"/>
              </a:rPr>
              <a:t> </a:t>
            </a:r>
            <a:r>
              <a:rPr lang="en-US" sz="2800" spc="-56" dirty="0">
                <a:solidFill>
                  <a:srgbClr val="000000"/>
                </a:solidFill>
                <a:cs typeface="Arial"/>
              </a:rPr>
              <a:t>upward</a:t>
            </a:r>
            <a:endParaRPr lang="en-US" sz="2800" dirty="0">
              <a:solidFill>
                <a:srgbClr val="000000"/>
              </a:solidFill>
              <a:cs typeface="Arial"/>
            </a:endParaRPr>
          </a:p>
          <a:p>
            <a:pPr lvl="1"/>
            <a:r>
              <a:rPr lang="en-US" sz="2400" spc="-116" dirty="0">
                <a:solidFill>
                  <a:srgbClr val="000000"/>
                </a:solidFill>
                <a:cs typeface="Arial"/>
              </a:rPr>
              <a:t>We </a:t>
            </a:r>
            <a:r>
              <a:rPr lang="en-US" sz="2400" spc="-96" dirty="0">
                <a:solidFill>
                  <a:srgbClr val="000000"/>
                </a:solidFill>
                <a:cs typeface="Arial"/>
              </a:rPr>
              <a:t>can </a:t>
            </a:r>
            <a:r>
              <a:rPr lang="en-US" sz="2400" spc="-56" dirty="0">
                <a:solidFill>
                  <a:srgbClr val="000000"/>
                </a:solidFill>
                <a:cs typeface="Arial"/>
              </a:rPr>
              <a:t>connect </a:t>
            </a:r>
            <a:r>
              <a:rPr lang="en-US" sz="2400" spc="-86" dirty="0">
                <a:solidFill>
                  <a:srgbClr val="000000"/>
                </a:solidFill>
                <a:cs typeface="Arial"/>
              </a:rPr>
              <a:t>any </a:t>
            </a:r>
            <a:r>
              <a:rPr lang="en-US" sz="2400" dirty="0">
                <a:solidFill>
                  <a:srgbClr val="000000"/>
                </a:solidFill>
                <a:cs typeface="Arial"/>
              </a:rPr>
              <a:t>two</a:t>
            </a:r>
            <a:r>
              <a:rPr lang="en-US" sz="2400" spc="-53" dirty="0">
                <a:solidFill>
                  <a:srgbClr val="000000"/>
                </a:solidFill>
                <a:cs typeface="Arial"/>
              </a:rPr>
              <a:t> </a:t>
            </a:r>
            <a:r>
              <a:rPr lang="en-US" sz="2400" spc="-40" dirty="0">
                <a:solidFill>
                  <a:srgbClr val="000000"/>
                </a:solidFill>
                <a:cs typeface="Arial"/>
              </a:rPr>
              <a:t>points  </a:t>
            </a:r>
            <a:r>
              <a:rPr lang="en-US" sz="2400" spc="-80" dirty="0">
                <a:solidFill>
                  <a:srgbClr val="000000"/>
                </a:solidFill>
                <a:cs typeface="Arial"/>
              </a:rPr>
              <a:t>above </a:t>
            </a:r>
            <a:r>
              <a:rPr lang="en-US" sz="2400" spc="-20" dirty="0">
                <a:solidFill>
                  <a:srgbClr val="000000"/>
                </a:solidFill>
                <a:cs typeface="Arial"/>
              </a:rPr>
              <a:t>the </a:t>
            </a:r>
            <a:r>
              <a:rPr lang="en-US" sz="2400" spc="-73" dirty="0">
                <a:solidFill>
                  <a:srgbClr val="000000"/>
                </a:solidFill>
                <a:cs typeface="Arial"/>
              </a:rPr>
              <a:t>surface </a:t>
            </a:r>
            <a:r>
              <a:rPr lang="en-US" sz="2400" spc="3" dirty="0">
                <a:solidFill>
                  <a:srgbClr val="000000"/>
                </a:solidFill>
                <a:cs typeface="Arial"/>
              </a:rPr>
              <a:t>without  </a:t>
            </a:r>
            <a:r>
              <a:rPr lang="en-US" sz="2400" spc="-47" dirty="0">
                <a:solidFill>
                  <a:srgbClr val="000000"/>
                </a:solidFill>
                <a:cs typeface="Arial"/>
              </a:rPr>
              <a:t>intersecting</a:t>
            </a:r>
            <a:r>
              <a:rPr lang="en-US" sz="2400" spc="-63" dirty="0">
                <a:solidFill>
                  <a:srgbClr val="000000"/>
                </a:solidFill>
                <a:cs typeface="Arial"/>
              </a:rPr>
              <a:t> </a:t>
            </a:r>
            <a:r>
              <a:rPr lang="en-US" sz="2400" spc="43" dirty="0">
                <a:solidFill>
                  <a:srgbClr val="000000"/>
                </a:solidFill>
                <a:cs typeface="Arial"/>
              </a:rPr>
              <a:t>it</a:t>
            </a:r>
            <a:endParaRPr lang="en-US" sz="2400" dirty="0">
              <a:solidFill>
                <a:srgbClr val="000000"/>
              </a:solidFill>
              <a:cs typeface="Arial"/>
            </a:endParaRPr>
          </a:p>
          <a:p>
            <a:pPr lvl="1"/>
            <a:r>
              <a:rPr lang="en-US" sz="2400" spc="-59" dirty="0">
                <a:solidFill>
                  <a:srgbClr val="000000"/>
                </a:solidFill>
                <a:cs typeface="Arial"/>
              </a:rPr>
              <a:t>Many </a:t>
            </a:r>
            <a:r>
              <a:rPr lang="en-US" sz="2400" spc="-50" dirty="0">
                <a:solidFill>
                  <a:srgbClr val="000000"/>
                </a:solidFill>
                <a:cs typeface="Arial"/>
              </a:rPr>
              <a:t>mathematical</a:t>
            </a:r>
            <a:r>
              <a:rPr lang="en-US" sz="2400" spc="-89" dirty="0">
                <a:solidFill>
                  <a:srgbClr val="000000"/>
                </a:solidFill>
                <a:cs typeface="Arial"/>
              </a:rPr>
              <a:t> </a:t>
            </a:r>
            <a:r>
              <a:rPr lang="en-US" sz="2400" spc="-30" dirty="0">
                <a:solidFill>
                  <a:srgbClr val="000000"/>
                </a:solidFill>
                <a:cs typeface="Arial"/>
              </a:rPr>
              <a:t>definitions </a:t>
            </a:r>
            <a:r>
              <a:rPr lang="en-US" sz="2400" spc="-3" dirty="0">
                <a:solidFill>
                  <a:srgbClr val="000000"/>
                </a:solidFill>
                <a:cs typeface="Arial"/>
              </a:rPr>
              <a:t>that </a:t>
            </a:r>
            <a:r>
              <a:rPr lang="en-US" sz="2400" spc="-66" dirty="0">
                <a:solidFill>
                  <a:srgbClr val="000000"/>
                </a:solidFill>
                <a:cs typeface="Arial"/>
              </a:rPr>
              <a:t>are</a:t>
            </a:r>
            <a:r>
              <a:rPr lang="en-US" sz="2400" spc="-162" dirty="0">
                <a:solidFill>
                  <a:srgbClr val="000000"/>
                </a:solidFill>
                <a:cs typeface="Arial"/>
              </a:rPr>
              <a:t> </a:t>
            </a:r>
            <a:r>
              <a:rPr lang="en-US" sz="2400" spc="-47" dirty="0">
                <a:solidFill>
                  <a:srgbClr val="000000"/>
                </a:solidFill>
                <a:cs typeface="Arial"/>
              </a:rPr>
              <a:t>equivalent</a:t>
            </a:r>
            <a:endParaRPr lang="en-US" sz="2400" dirty="0">
              <a:solidFill>
                <a:srgbClr val="000000"/>
              </a:solidFill>
              <a:cs typeface="Arial"/>
            </a:endParaRPr>
          </a:p>
          <a:p>
            <a:r>
              <a:rPr lang="en-US" sz="2800" spc="-106" dirty="0">
                <a:solidFill>
                  <a:srgbClr val="000000"/>
                </a:solidFill>
                <a:cs typeface="Arial"/>
              </a:rPr>
              <a:t>Caveat: </a:t>
            </a:r>
            <a:r>
              <a:rPr lang="en-US" sz="2800" spc="-70" dirty="0">
                <a:solidFill>
                  <a:srgbClr val="000000"/>
                </a:solidFill>
                <a:cs typeface="Arial"/>
              </a:rPr>
              <a:t>Neural </a:t>
            </a:r>
            <a:r>
              <a:rPr lang="en-US" sz="2800" spc="-26" dirty="0">
                <a:solidFill>
                  <a:srgbClr val="000000"/>
                </a:solidFill>
                <a:cs typeface="Arial"/>
              </a:rPr>
              <a:t>net </a:t>
            </a:r>
            <a:r>
              <a:rPr lang="en-US" sz="2800" spc="-103" dirty="0">
                <a:solidFill>
                  <a:srgbClr val="000000"/>
                </a:solidFill>
                <a:cs typeface="Arial"/>
              </a:rPr>
              <a:t>loss </a:t>
            </a:r>
            <a:r>
              <a:rPr lang="en-US" sz="2800" spc="-83" dirty="0">
                <a:solidFill>
                  <a:srgbClr val="000000"/>
                </a:solidFill>
                <a:cs typeface="Arial"/>
              </a:rPr>
              <a:t>surface </a:t>
            </a:r>
            <a:r>
              <a:rPr lang="en-US" sz="2800" spc="-66" dirty="0">
                <a:solidFill>
                  <a:srgbClr val="000000"/>
                </a:solidFill>
                <a:cs typeface="Arial"/>
              </a:rPr>
              <a:t>generally </a:t>
            </a:r>
            <a:r>
              <a:rPr lang="en-US" sz="2800" spc="-7" dirty="0">
                <a:solidFill>
                  <a:srgbClr val="000000"/>
                </a:solidFill>
                <a:cs typeface="Arial"/>
              </a:rPr>
              <a:t>not</a:t>
            </a:r>
            <a:r>
              <a:rPr lang="en-US" sz="2800" spc="-110" dirty="0">
                <a:solidFill>
                  <a:srgbClr val="000000"/>
                </a:solidFill>
                <a:cs typeface="Arial"/>
              </a:rPr>
              <a:t> </a:t>
            </a:r>
            <a:r>
              <a:rPr lang="en-US" sz="2800" spc="-103" dirty="0">
                <a:solidFill>
                  <a:srgbClr val="000000"/>
                </a:solidFill>
                <a:cs typeface="Arial"/>
              </a:rPr>
              <a:t>convex</a:t>
            </a:r>
            <a:endParaRPr lang="en-US" sz="2800" dirty="0">
              <a:solidFill>
                <a:srgbClr val="000000"/>
              </a:solidFill>
              <a:cs typeface="Arial"/>
            </a:endParaRPr>
          </a:p>
          <a:p>
            <a:endParaRPr lang="en-US" sz="28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BD10F26-4E8D-4616-A5C8-1E313E600057}"/>
              </a:ext>
            </a:extLst>
          </p:cNvPr>
          <p:cNvGrpSpPr/>
          <p:nvPr/>
        </p:nvGrpSpPr>
        <p:grpSpPr>
          <a:xfrm>
            <a:off x="887350" y="3943380"/>
            <a:ext cx="3548366" cy="2791509"/>
            <a:chOff x="3184907" y="4763806"/>
            <a:chExt cx="2595030" cy="2041517"/>
          </a:xfrm>
        </p:grpSpPr>
        <p:grpSp>
          <p:nvGrpSpPr>
            <p:cNvPr id="4" name="object 6">
              <a:extLst>
                <a:ext uri="{FF2B5EF4-FFF2-40B4-BE49-F238E27FC236}">
                  <a16:creationId xmlns:a16="http://schemas.microsoft.com/office/drawing/2014/main" id="{9D8AB5B8-08B3-4F98-BE3A-257429703352}"/>
                </a:ext>
              </a:extLst>
            </p:cNvPr>
            <p:cNvGrpSpPr/>
            <p:nvPr/>
          </p:nvGrpSpPr>
          <p:grpSpPr>
            <a:xfrm>
              <a:off x="3276683" y="4822302"/>
              <a:ext cx="2503254" cy="1983021"/>
              <a:chOff x="5612891" y="1752600"/>
              <a:chExt cx="3782695" cy="2996565"/>
            </a:xfrm>
          </p:grpSpPr>
          <p:sp>
            <p:nvSpPr>
              <p:cNvPr id="5" name="object 7">
                <a:extLst>
                  <a:ext uri="{FF2B5EF4-FFF2-40B4-BE49-F238E27FC236}">
                    <a16:creationId xmlns:a16="http://schemas.microsoft.com/office/drawing/2014/main" id="{75CE48FE-9C96-4538-9D4B-40A92498ABF9}"/>
                  </a:ext>
                </a:extLst>
              </p:cNvPr>
              <p:cNvSpPr/>
              <p:nvPr/>
            </p:nvSpPr>
            <p:spPr>
              <a:xfrm>
                <a:off x="5612891" y="1752600"/>
                <a:ext cx="1370075" cy="1446276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685800"/>
                <a:endParaRPr sz="1191" dirty="0">
                  <a:solidFill>
                    <a:srgbClr val="000000"/>
                  </a:solidFill>
                  <a:latin typeface="Garamond" panose="02020404030301010803" pitchFamily="18" charset="0"/>
                </a:endParaRPr>
              </a:p>
            </p:txBody>
          </p:sp>
          <p:sp>
            <p:nvSpPr>
              <p:cNvPr id="6" name="object 8">
                <a:extLst>
                  <a:ext uri="{FF2B5EF4-FFF2-40B4-BE49-F238E27FC236}">
                    <a16:creationId xmlns:a16="http://schemas.microsoft.com/office/drawing/2014/main" id="{9E1520AC-C683-491B-BCBA-18B50ED52053}"/>
                  </a:ext>
                </a:extLst>
              </p:cNvPr>
              <p:cNvSpPr/>
              <p:nvPr/>
            </p:nvSpPr>
            <p:spPr>
              <a:xfrm>
                <a:off x="5806439" y="3321082"/>
                <a:ext cx="1165376" cy="1078705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685800"/>
                <a:endParaRPr sz="1191" dirty="0">
                  <a:solidFill>
                    <a:srgbClr val="000000"/>
                  </a:solidFill>
                  <a:latin typeface="Garamond" panose="02020404030301010803" pitchFamily="18" charset="0"/>
                </a:endParaRPr>
              </a:p>
            </p:txBody>
          </p:sp>
          <p:sp>
            <p:nvSpPr>
              <p:cNvPr id="7" name="object 9">
                <a:extLst>
                  <a:ext uri="{FF2B5EF4-FFF2-40B4-BE49-F238E27FC236}">
                    <a16:creationId xmlns:a16="http://schemas.microsoft.com/office/drawing/2014/main" id="{9C9EF65E-C8AD-4722-B1DB-70E70D46BAA1}"/>
                  </a:ext>
                </a:extLst>
              </p:cNvPr>
              <p:cNvSpPr/>
              <p:nvPr/>
            </p:nvSpPr>
            <p:spPr>
              <a:xfrm>
                <a:off x="7238999" y="1920239"/>
                <a:ext cx="2156459" cy="2828544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defTabSz="685800"/>
                <a:endParaRPr sz="1191" dirty="0">
                  <a:solidFill>
                    <a:srgbClr val="000000"/>
                  </a:solidFill>
                  <a:latin typeface="Garamond" panose="02020404030301010803" pitchFamily="18" charset="0"/>
                </a:endParaRPr>
              </a:p>
            </p:txBody>
          </p:sp>
        </p:grpSp>
        <p:sp>
          <p:nvSpPr>
            <p:cNvPr id="10" name="object 12">
              <a:extLst>
                <a:ext uri="{FF2B5EF4-FFF2-40B4-BE49-F238E27FC236}">
                  <a16:creationId xmlns:a16="http://schemas.microsoft.com/office/drawing/2014/main" id="{E6E8ABBE-E320-41D8-9B47-07740A271421}"/>
                </a:ext>
              </a:extLst>
            </p:cNvPr>
            <p:cNvSpPr/>
            <p:nvPr/>
          </p:nvSpPr>
          <p:spPr>
            <a:xfrm>
              <a:off x="3184907" y="4763806"/>
              <a:ext cx="2542755" cy="1819556"/>
            </a:xfrm>
            <a:custGeom>
              <a:avLst/>
              <a:gdLst/>
              <a:ahLst/>
              <a:cxnLst/>
              <a:rect l="l" t="t" r="r" b="b"/>
              <a:pathLst>
                <a:path w="3842384" h="2749550">
                  <a:moveTo>
                    <a:pt x="3835908" y="2749296"/>
                  </a:moveTo>
                  <a:lnTo>
                    <a:pt x="6096" y="2749296"/>
                  </a:lnTo>
                  <a:lnTo>
                    <a:pt x="0" y="2743200"/>
                  </a:lnTo>
                  <a:lnTo>
                    <a:pt x="0" y="6096"/>
                  </a:lnTo>
                  <a:lnTo>
                    <a:pt x="6096" y="0"/>
                  </a:lnTo>
                  <a:lnTo>
                    <a:pt x="3835908" y="0"/>
                  </a:lnTo>
                  <a:lnTo>
                    <a:pt x="3842004" y="6096"/>
                  </a:lnTo>
                  <a:lnTo>
                    <a:pt x="3842004" y="12192"/>
                  </a:lnTo>
                  <a:lnTo>
                    <a:pt x="25908" y="12192"/>
                  </a:lnTo>
                  <a:lnTo>
                    <a:pt x="12192" y="25908"/>
                  </a:lnTo>
                  <a:lnTo>
                    <a:pt x="25908" y="25908"/>
                  </a:lnTo>
                  <a:lnTo>
                    <a:pt x="25908" y="2723388"/>
                  </a:lnTo>
                  <a:lnTo>
                    <a:pt x="12192" y="2723388"/>
                  </a:lnTo>
                  <a:lnTo>
                    <a:pt x="25908" y="2735580"/>
                  </a:lnTo>
                  <a:lnTo>
                    <a:pt x="3842004" y="2735580"/>
                  </a:lnTo>
                  <a:lnTo>
                    <a:pt x="3842004" y="2743200"/>
                  </a:lnTo>
                  <a:lnTo>
                    <a:pt x="3835908" y="2749296"/>
                  </a:lnTo>
                  <a:close/>
                </a:path>
                <a:path w="3842384" h="2749550">
                  <a:moveTo>
                    <a:pt x="25908" y="25908"/>
                  </a:moveTo>
                  <a:lnTo>
                    <a:pt x="12192" y="25908"/>
                  </a:lnTo>
                  <a:lnTo>
                    <a:pt x="25908" y="12192"/>
                  </a:lnTo>
                  <a:lnTo>
                    <a:pt x="25908" y="25908"/>
                  </a:lnTo>
                  <a:close/>
                </a:path>
                <a:path w="3842384" h="2749550">
                  <a:moveTo>
                    <a:pt x="3816096" y="25908"/>
                  </a:moveTo>
                  <a:lnTo>
                    <a:pt x="25908" y="25908"/>
                  </a:lnTo>
                  <a:lnTo>
                    <a:pt x="25908" y="12192"/>
                  </a:lnTo>
                  <a:lnTo>
                    <a:pt x="3816096" y="12192"/>
                  </a:lnTo>
                  <a:lnTo>
                    <a:pt x="3816096" y="25908"/>
                  </a:lnTo>
                  <a:close/>
                </a:path>
                <a:path w="3842384" h="2749550">
                  <a:moveTo>
                    <a:pt x="3816096" y="2735580"/>
                  </a:moveTo>
                  <a:lnTo>
                    <a:pt x="3816096" y="12192"/>
                  </a:lnTo>
                  <a:lnTo>
                    <a:pt x="3829812" y="25908"/>
                  </a:lnTo>
                  <a:lnTo>
                    <a:pt x="3842004" y="25908"/>
                  </a:lnTo>
                  <a:lnTo>
                    <a:pt x="3842004" y="2723388"/>
                  </a:lnTo>
                  <a:lnTo>
                    <a:pt x="3829812" y="2723388"/>
                  </a:lnTo>
                  <a:lnTo>
                    <a:pt x="3816096" y="2735580"/>
                  </a:lnTo>
                  <a:close/>
                </a:path>
                <a:path w="3842384" h="2749550">
                  <a:moveTo>
                    <a:pt x="3842004" y="25908"/>
                  </a:moveTo>
                  <a:lnTo>
                    <a:pt x="3829812" y="25908"/>
                  </a:lnTo>
                  <a:lnTo>
                    <a:pt x="3816096" y="12192"/>
                  </a:lnTo>
                  <a:lnTo>
                    <a:pt x="3842004" y="12192"/>
                  </a:lnTo>
                  <a:lnTo>
                    <a:pt x="3842004" y="25908"/>
                  </a:lnTo>
                  <a:close/>
                </a:path>
                <a:path w="3842384" h="2749550">
                  <a:moveTo>
                    <a:pt x="25908" y="2735580"/>
                  </a:moveTo>
                  <a:lnTo>
                    <a:pt x="12192" y="2723388"/>
                  </a:lnTo>
                  <a:lnTo>
                    <a:pt x="25908" y="2723388"/>
                  </a:lnTo>
                  <a:lnTo>
                    <a:pt x="25908" y="2735580"/>
                  </a:lnTo>
                  <a:close/>
                </a:path>
                <a:path w="3842384" h="2749550">
                  <a:moveTo>
                    <a:pt x="3816096" y="2735580"/>
                  </a:moveTo>
                  <a:lnTo>
                    <a:pt x="25908" y="2735580"/>
                  </a:lnTo>
                  <a:lnTo>
                    <a:pt x="25908" y="2723388"/>
                  </a:lnTo>
                  <a:lnTo>
                    <a:pt x="3816096" y="2723388"/>
                  </a:lnTo>
                  <a:lnTo>
                    <a:pt x="3816096" y="2735580"/>
                  </a:lnTo>
                  <a:close/>
                </a:path>
                <a:path w="3842384" h="2749550">
                  <a:moveTo>
                    <a:pt x="3842004" y="2735580"/>
                  </a:moveTo>
                  <a:lnTo>
                    <a:pt x="3816096" y="2735580"/>
                  </a:lnTo>
                  <a:lnTo>
                    <a:pt x="3829812" y="2723388"/>
                  </a:lnTo>
                  <a:lnTo>
                    <a:pt x="3842004" y="2723388"/>
                  </a:lnTo>
                  <a:lnTo>
                    <a:pt x="3842004" y="2735580"/>
                  </a:lnTo>
                  <a:close/>
                </a:path>
              </a:pathLst>
            </a:custGeom>
            <a:solidFill>
              <a:srgbClr val="385D89"/>
            </a:solidFill>
          </p:spPr>
          <p:txBody>
            <a:bodyPr wrap="square" lIns="0" tIns="0" rIns="0" bIns="0" rtlCol="0"/>
            <a:lstStyle/>
            <a:p>
              <a:pPr defTabSz="685800"/>
              <a:endParaRPr sz="1191" dirty="0">
                <a:solidFill>
                  <a:srgbClr val="000000"/>
                </a:solidFill>
                <a:latin typeface="Garamond" panose="02020404030301010803" pitchFamily="18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F8DE369-27E7-40D3-AACF-EE33339E3303}"/>
              </a:ext>
            </a:extLst>
          </p:cNvPr>
          <p:cNvGrpSpPr/>
          <p:nvPr/>
        </p:nvGrpSpPr>
        <p:grpSpPr>
          <a:xfrm>
            <a:off x="4762619" y="4426042"/>
            <a:ext cx="3368539" cy="1522681"/>
            <a:chOff x="7055883" y="5108035"/>
            <a:chExt cx="2463517" cy="1113584"/>
          </a:xfrm>
        </p:grpSpPr>
        <p:sp>
          <p:nvSpPr>
            <p:cNvPr id="8" name="object 10">
              <a:extLst>
                <a:ext uri="{FF2B5EF4-FFF2-40B4-BE49-F238E27FC236}">
                  <a16:creationId xmlns:a16="http://schemas.microsoft.com/office/drawing/2014/main" id="{48A1D4D9-AE23-4669-B1E1-A399C8637E0F}"/>
                </a:ext>
              </a:extLst>
            </p:cNvPr>
            <p:cNvSpPr/>
            <p:nvPr/>
          </p:nvSpPr>
          <p:spPr>
            <a:xfrm>
              <a:off x="8748195" y="5395467"/>
              <a:ext cx="771205" cy="743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pPr defTabSz="685800"/>
              <a:endParaRPr sz="1191" dirty="0">
                <a:solidFill>
                  <a:srgbClr val="000000"/>
                </a:solidFill>
                <a:latin typeface="Garamond" panose="02020404030301010803" pitchFamily="18" charset="0"/>
              </a:endParaRPr>
            </a:p>
          </p:txBody>
        </p:sp>
        <p:grpSp>
          <p:nvGrpSpPr>
            <p:cNvPr id="11" name="object 13">
              <a:extLst>
                <a:ext uri="{FF2B5EF4-FFF2-40B4-BE49-F238E27FC236}">
                  <a16:creationId xmlns:a16="http://schemas.microsoft.com/office/drawing/2014/main" id="{51DD106D-5947-47F7-9B14-D3C0FFB12D3E}"/>
                </a:ext>
              </a:extLst>
            </p:cNvPr>
            <p:cNvGrpSpPr/>
            <p:nvPr/>
          </p:nvGrpSpPr>
          <p:grpSpPr>
            <a:xfrm>
              <a:off x="7055883" y="5108035"/>
              <a:ext cx="1343445" cy="1113584"/>
              <a:chOff x="5666232" y="4985003"/>
              <a:chExt cx="2030095" cy="1682750"/>
            </a:xfrm>
          </p:grpSpPr>
          <p:sp>
            <p:nvSpPr>
              <p:cNvPr id="12" name="object 14">
                <a:extLst>
                  <a:ext uri="{FF2B5EF4-FFF2-40B4-BE49-F238E27FC236}">
                    <a16:creationId xmlns:a16="http://schemas.microsoft.com/office/drawing/2014/main" id="{61DE3289-FFBC-42F0-A104-8A2F7DD6EDEC}"/>
                  </a:ext>
                </a:extLst>
              </p:cNvPr>
              <p:cNvSpPr/>
              <p:nvPr/>
            </p:nvSpPr>
            <p:spPr>
              <a:xfrm>
                <a:off x="5666219" y="5181599"/>
                <a:ext cx="2030095" cy="1486535"/>
              </a:xfrm>
              <a:custGeom>
                <a:avLst/>
                <a:gdLst/>
                <a:ahLst/>
                <a:cxnLst/>
                <a:rect l="l" t="t" r="r" b="b"/>
                <a:pathLst>
                  <a:path w="2030095" h="1486534">
                    <a:moveTo>
                      <a:pt x="2029980" y="1447812"/>
                    </a:moveTo>
                    <a:lnTo>
                      <a:pt x="2020836" y="1443228"/>
                    </a:lnTo>
                    <a:lnTo>
                      <a:pt x="1953780" y="1409700"/>
                    </a:lnTo>
                    <a:lnTo>
                      <a:pt x="1953780" y="1443228"/>
                    </a:lnTo>
                    <a:lnTo>
                      <a:pt x="54876" y="1443228"/>
                    </a:lnTo>
                    <a:lnTo>
                      <a:pt x="54876" y="27965"/>
                    </a:lnTo>
                    <a:lnTo>
                      <a:pt x="89928" y="88392"/>
                    </a:lnTo>
                    <a:lnTo>
                      <a:pt x="91452" y="91440"/>
                    </a:lnTo>
                    <a:lnTo>
                      <a:pt x="94500" y="91440"/>
                    </a:lnTo>
                    <a:lnTo>
                      <a:pt x="96024" y="89916"/>
                    </a:lnTo>
                    <a:lnTo>
                      <a:pt x="99072" y="88392"/>
                    </a:lnTo>
                    <a:lnTo>
                      <a:pt x="99072" y="86868"/>
                    </a:lnTo>
                    <a:lnTo>
                      <a:pt x="97548" y="83820"/>
                    </a:lnTo>
                    <a:lnTo>
                      <a:pt x="54978" y="10668"/>
                    </a:lnTo>
                    <a:lnTo>
                      <a:pt x="48768" y="0"/>
                    </a:lnTo>
                    <a:lnTo>
                      <a:pt x="1524" y="83820"/>
                    </a:lnTo>
                    <a:lnTo>
                      <a:pt x="0" y="86868"/>
                    </a:lnTo>
                    <a:lnTo>
                      <a:pt x="0" y="88392"/>
                    </a:lnTo>
                    <a:lnTo>
                      <a:pt x="3048" y="89916"/>
                    </a:lnTo>
                    <a:lnTo>
                      <a:pt x="4572" y="91440"/>
                    </a:lnTo>
                    <a:lnTo>
                      <a:pt x="7620" y="91440"/>
                    </a:lnTo>
                    <a:lnTo>
                      <a:pt x="9144" y="88392"/>
                    </a:lnTo>
                    <a:lnTo>
                      <a:pt x="44196" y="27965"/>
                    </a:lnTo>
                    <a:lnTo>
                      <a:pt x="44196" y="1447800"/>
                    </a:lnTo>
                    <a:lnTo>
                      <a:pt x="48780" y="1447800"/>
                    </a:lnTo>
                    <a:lnTo>
                      <a:pt x="48780" y="1453908"/>
                    </a:lnTo>
                    <a:lnTo>
                      <a:pt x="1953780" y="1453908"/>
                    </a:lnTo>
                    <a:lnTo>
                      <a:pt x="1953780" y="1485912"/>
                    </a:lnTo>
                    <a:lnTo>
                      <a:pt x="2017788" y="1453908"/>
                    </a:lnTo>
                    <a:lnTo>
                      <a:pt x="2029980" y="144781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pPr defTabSz="685800"/>
                <a:endParaRPr sz="1191" dirty="0">
                  <a:solidFill>
                    <a:srgbClr val="000000"/>
                  </a:solidFill>
                  <a:latin typeface="Garamond" panose="02020404030301010803" pitchFamily="18" charset="0"/>
                </a:endParaRPr>
              </a:p>
            </p:txBody>
          </p:sp>
          <p:sp>
            <p:nvSpPr>
              <p:cNvPr id="13" name="object 15">
                <a:extLst>
                  <a:ext uri="{FF2B5EF4-FFF2-40B4-BE49-F238E27FC236}">
                    <a16:creationId xmlns:a16="http://schemas.microsoft.com/office/drawing/2014/main" id="{0F285A3A-8E67-42E8-878B-A5C49BA07DFB}"/>
                  </a:ext>
                </a:extLst>
              </p:cNvPr>
              <p:cNvSpPr/>
              <p:nvPr/>
            </p:nvSpPr>
            <p:spPr>
              <a:xfrm>
                <a:off x="5852160" y="4985003"/>
                <a:ext cx="1819910" cy="1667510"/>
              </a:xfrm>
              <a:custGeom>
                <a:avLst/>
                <a:gdLst/>
                <a:ahLst/>
                <a:cxnLst/>
                <a:rect l="l" t="t" r="r" b="b"/>
                <a:pathLst>
                  <a:path w="1819909" h="1667509">
                    <a:moveTo>
                      <a:pt x="955547" y="1667256"/>
                    </a:moveTo>
                    <a:lnTo>
                      <a:pt x="926591" y="1667256"/>
                    </a:lnTo>
                    <a:lnTo>
                      <a:pt x="915923" y="1665732"/>
                    </a:lnTo>
                    <a:lnTo>
                      <a:pt x="873251" y="1652016"/>
                    </a:lnTo>
                    <a:lnTo>
                      <a:pt x="829055" y="1629156"/>
                    </a:lnTo>
                    <a:lnTo>
                      <a:pt x="783335" y="1598676"/>
                    </a:lnTo>
                    <a:lnTo>
                      <a:pt x="734567" y="1560576"/>
                    </a:lnTo>
                    <a:lnTo>
                      <a:pt x="684275" y="1516380"/>
                    </a:lnTo>
                    <a:lnTo>
                      <a:pt x="605027" y="1437132"/>
                    </a:lnTo>
                    <a:lnTo>
                      <a:pt x="577595" y="1408176"/>
                    </a:lnTo>
                    <a:lnTo>
                      <a:pt x="521207" y="1345692"/>
                    </a:lnTo>
                    <a:lnTo>
                      <a:pt x="463295" y="1278636"/>
                    </a:lnTo>
                    <a:lnTo>
                      <a:pt x="434339" y="1243584"/>
                    </a:lnTo>
                    <a:lnTo>
                      <a:pt x="403859" y="1207008"/>
                    </a:lnTo>
                    <a:lnTo>
                      <a:pt x="374903" y="1170432"/>
                    </a:lnTo>
                    <a:lnTo>
                      <a:pt x="344423" y="1132332"/>
                    </a:lnTo>
                    <a:lnTo>
                      <a:pt x="313943" y="1092708"/>
                    </a:lnTo>
                    <a:lnTo>
                      <a:pt x="283463" y="1054608"/>
                    </a:lnTo>
                    <a:lnTo>
                      <a:pt x="251459" y="1013460"/>
                    </a:lnTo>
                    <a:lnTo>
                      <a:pt x="220979" y="973836"/>
                    </a:lnTo>
                    <a:lnTo>
                      <a:pt x="188975" y="932688"/>
                    </a:lnTo>
                    <a:lnTo>
                      <a:pt x="126491" y="850392"/>
                    </a:lnTo>
                    <a:lnTo>
                      <a:pt x="64007" y="765048"/>
                    </a:lnTo>
                    <a:lnTo>
                      <a:pt x="0" y="681228"/>
                    </a:lnTo>
                    <a:lnTo>
                      <a:pt x="15239" y="669036"/>
                    </a:lnTo>
                    <a:lnTo>
                      <a:pt x="79247" y="754380"/>
                    </a:lnTo>
                    <a:lnTo>
                      <a:pt x="204215" y="922020"/>
                    </a:lnTo>
                    <a:lnTo>
                      <a:pt x="236219" y="961644"/>
                    </a:lnTo>
                    <a:lnTo>
                      <a:pt x="266699" y="1002792"/>
                    </a:lnTo>
                    <a:lnTo>
                      <a:pt x="298703" y="1042416"/>
                    </a:lnTo>
                    <a:lnTo>
                      <a:pt x="329183" y="1082040"/>
                    </a:lnTo>
                    <a:lnTo>
                      <a:pt x="359663" y="1120140"/>
                    </a:lnTo>
                    <a:lnTo>
                      <a:pt x="388619" y="1158240"/>
                    </a:lnTo>
                    <a:lnTo>
                      <a:pt x="419099" y="1194816"/>
                    </a:lnTo>
                    <a:lnTo>
                      <a:pt x="448055" y="1231392"/>
                    </a:lnTo>
                    <a:lnTo>
                      <a:pt x="507491" y="1299972"/>
                    </a:lnTo>
                    <a:lnTo>
                      <a:pt x="534923" y="1331976"/>
                    </a:lnTo>
                    <a:lnTo>
                      <a:pt x="591311" y="1394460"/>
                    </a:lnTo>
                    <a:lnTo>
                      <a:pt x="644651" y="1450848"/>
                    </a:lnTo>
                    <a:lnTo>
                      <a:pt x="672083" y="1476756"/>
                    </a:lnTo>
                    <a:lnTo>
                      <a:pt x="697991" y="1502664"/>
                    </a:lnTo>
                    <a:lnTo>
                      <a:pt x="748283" y="1546860"/>
                    </a:lnTo>
                    <a:lnTo>
                      <a:pt x="795527" y="1583436"/>
                    </a:lnTo>
                    <a:lnTo>
                      <a:pt x="839723" y="1613916"/>
                    </a:lnTo>
                    <a:lnTo>
                      <a:pt x="882395" y="1635252"/>
                    </a:lnTo>
                    <a:lnTo>
                      <a:pt x="891539" y="1638300"/>
                    </a:lnTo>
                    <a:lnTo>
                      <a:pt x="900683" y="1642872"/>
                    </a:lnTo>
                    <a:lnTo>
                      <a:pt x="911351" y="1644396"/>
                    </a:lnTo>
                    <a:lnTo>
                      <a:pt x="920495" y="1647444"/>
                    </a:lnTo>
                    <a:lnTo>
                      <a:pt x="928115" y="1648968"/>
                    </a:lnTo>
                    <a:lnTo>
                      <a:pt x="944879" y="1648968"/>
                    </a:lnTo>
                    <a:lnTo>
                      <a:pt x="954023" y="1647444"/>
                    </a:lnTo>
                    <a:lnTo>
                      <a:pt x="969263" y="1644396"/>
                    </a:lnTo>
                    <a:lnTo>
                      <a:pt x="992123" y="1635252"/>
                    </a:lnTo>
                    <a:lnTo>
                      <a:pt x="998219" y="1630680"/>
                    </a:lnTo>
                    <a:lnTo>
                      <a:pt x="1005839" y="1626108"/>
                    </a:lnTo>
                    <a:lnTo>
                      <a:pt x="1011935" y="1620012"/>
                    </a:lnTo>
                    <a:lnTo>
                      <a:pt x="1025651" y="1607820"/>
                    </a:lnTo>
                    <a:lnTo>
                      <a:pt x="1039367" y="1594104"/>
                    </a:lnTo>
                    <a:lnTo>
                      <a:pt x="1075943" y="1540764"/>
                    </a:lnTo>
                    <a:lnTo>
                      <a:pt x="1098804" y="1498092"/>
                    </a:lnTo>
                    <a:lnTo>
                      <a:pt x="1130808" y="1426464"/>
                    </a:lnTo>
                    <a:lnTo>
                      <a:pt x="1139952" y="1402080"/>
                    </a:lnTo>
                    <a:lnTo>
                      <a:pt x="1179575" y="1301496"/>
                    </a:lnTo>
                    <a:lnTo>
                      <a:pt x="1190243" y="1277112"/>
                    </a:lnTo>
                    <a:lnTo>
                      <a:pt x="1199387" y="1252728"/>
                    </a:lnTo>
                    <a:lnTo>
                      <a:pt x="1208532" y="1229868"/>
                    </a:lnTo>
                    <a:lnTo>
                      <a:pt x="1219200" y="1207008"/>
                    </a:lnTo>
                    <a:lnTo>
                      <a:pt x="1228343" y="1185672"/>
                    </a:lnTo>
                    <a:lnTo>
                      <a:pt x="1249679" y="1146048"/>
                    </a:lnTo>
                    <a:lnTo>
                      <a:pt x="1260347" y="1127760"/>
                    </a:lnTo>
                    <a:lnTo>
                      <a:pt x="1272539" y="1112520"/>
                    </a:lnTo>
                    <a:lnTo>
                      <a:pt x="1296923" y="1085088"/>
                    </a:lnTo>
                    <a:lnTo>
                      <a:pt x="1309115" y="1074420"/>
                    </a:lnTo>
                    <a:lnTo>
                      <a:pt x="1319783" y="1063752"/>
                    </a:lnTo>
                    <a:lnTo>
                      <a:pt x="1344168" y="1045464"/>
                    </a:lnTo>
                    <a:lnTo>
                      <a:pt x="1368552" y="1030224"/>
                    </a:lnTo>
                    <a:lnTo>
                      <a:pt x="1405127" y="1011936"/>
                    </a:lnTo>
                    <a:lnTo>
                      <a:pt x="1429511" y="1001268"/>
                    </a:lnTo>
                    <a:lnTo>
                      <a:pt x="1452371" y="990600"/>
                    </a:lnTo>
                    <a:lnTo>
                      <a:pt x="1498092" y="970788"/>
                    </a:lnTo>
                    <a:lnTo>
                      <a:pt x="1540764" y="947928"/>
                    </a:lnTo>
                    <a:lnTo>
                      <a:pt x="1549908" y="940308"/>
                    </a:lnTo>
                    <a:lnTo>
                      <a:pt x="1560576" y="932688"/>
                    </a:lnTo>
                    <a:lnTo>
                      <a:pt x="1578864" y="914400"/>
                    </a:lnTo>
                    <a:lnTo>
                      <a:pt x="1597152" y="893064"/>
                    </a:lnTo>
                    <a:lnTo>
                      <a:pt x="1606295" y="879348"/>
                    </a:lnTo>
                    <a:lnTo>
                      <a:pt x="1615439" y="867156"/>
                    </a:lnTo>
                    <a:lnTo>
                      <a:pt x="1638300" y="818388"/>
                    </a:lnTo>
                    <a:lnTo>
                      <a:pt x="1661160" y="760476"/>
                    </a:lnTo>
                    <a:lnTo>
                      <a:pt x="1667255" y="740664"/>
                    </a:lnTo>
                    <a:lnTo>
                      <a:pt x="1674876" y="719328"/>
                    </a:lnTo>
                    <a:lnTo>
                      <a:pt x="1680971" y="697992"/>
                    </a:lnTo>
                    <a:lnTo>
                      <a:pt x="1687068" y="675132"/>
                    </a:lnTo>
                    <a:lnTo>
                      <a:pt x="1693164" y="650748"/>
                    </a:lnTo>
                    <a:lnTo>
                      <a:pt x="1699260" y="627888"/>
                    </a:lnTo>
                    <a:lnTo>
                      <a:pt x="1705355" y="603504"/>
                    </a:lnTo>
                    <a:lnTo>
                      <a:pt x="1711452" y="577596"/>
                    </a:lnTo>
                    <a:lnTo>
                      <a:pt x="1722119" y="525780"/>
                    </a:lnTo>
                    <a:lnTo>
                      <a:pt x="1731264" y="472440"/>
                    </a:lnTo>
                    <a:lnTo>
                      <a:pt x="1741932" y="417576"/>
                    </a:lnTo>
                    <a:lnTo>
                      <a:pt x="1760219" y="301752"/>
                    </a:lnTo>
                    <a:lnTo>
                      <a:pt x="1767839" y="242316"/>
                    </a:lnTo>
                    <a:lnTo>
                      <a:pt x="1776983" y="182880"/>
                    </a:lnTo>
                    <a:lnTo>
                      <a:pt x="1799844" y="0"/>
                    </a:lnTo>
                    <a:lnTo>
                      <a:pt x="1819655" y="1524"/>
                    </a:lnTo>
                    <a:lnTo>
                      <a:pt x="1802891" y="124968"/>
                    </a:lnTo>
                    <a:lnTo>
                      <a:pt x="1795271" y="185928"/>
                    </a:lnTo>
                    <a:lnTo>
                      <a:pt x="1787652" y="245364"/>
                    </a:lnTo>
                    <a:lnTo>
                      <a:pt x="1778508" y="304800"/>
                    </a:lnTo>
                    <a:lnTo>
                      <a:pt x="1760219" y="420624"/>
                    </a:lnTo>
                    <a:lnTo>
                      <a:pt x="1751076" y="475488"/>
                    </a:lnTo>
                    <a:lnTo>
                      <a:pt x="1740408" y="530352"/>
                    </a:lnTo>
                    <a:lnTo>
                      <a:pt x="1729739" y="582168"/>
                    </a:lnTo>
                    <a:lnTo>
                      <a:pt x="1723644" y="606552"/>
                    </a:lnTo>
                    <a:lnTo>
                      <a:pt x="1717547" y="632460"/>
                    </a:lnTo>
                    <a:lnTo>
                      <a:pt x="1711452" y="656844"/>
                    </a:lnTo>
                    <a:lnTo>
                      <a:pt x="1693164" y="725424"/>
                    </a:lnTo>
                    <a:lnTo>
                      <a:pt x="1685544" y="746760"/>
                    </a:lnTo>
                    <a:lnTo>
                      <a:pt x="1679447" y="768096"/>
                    </a:lnTo>
                    <a:lnTo>
                      <a:pt x="1664208" y="807720"/>
                    </a:lnTo>
                    <a:lnTo>
                      <a:pt x="1656588" y="826008"/>
                    </a:lnTo>
                    <a:lnTo>
                      <a:pt x="1647444" y="844296"/>
                    </a:lnTo>
                    <a:lnTo>
                      <a:pt x="1639824" y="861060"/>
                    </a:lnTo>
                    <a:lnTo>
                      <a:pt x="1621535" y="891540"/>
                    </a:lnTo>
                    <a:lnTo>
                      <a:pt x="1603247" y="915924"/>
                    </a:lnTo>
                    <a:lnTo>
                      <a:pt x="1592579" y="928116"/>
                    </a:lnTo>
                    <a:lnTo>
                      <a:pt x="1581911" y="937260"/>
                    </a:lnTo>
                    <a:lnTo>
                      <a:pt x="1572768" y="946404"/>
                    </a:lnTo>
                    <a:lnTo>
                      <a:pt x="1562100" y="955548"/>
                    </a:lnTo>
                    <a:lnTo>
                      <a:pt x="1549908" y="963168"/>
                    </a:lnTo>
                    <a:lnTo>
                      <a:pt x="1539239" y="970788"/>
                    </a:lnTo>
                    <a:lnTo>
                      <a:pt x="1528571" y="976884"/>
                    </a:lnTo>
                    <a:lnTo>
                      <a:pt x="1505711" y="989076"/>
                    </a:lnTo>
                    <a:lnTo>
                      <a:pt x="1482852" y="999744"/>
                    </a:lnTo>
                    <a:lnTo>
                      <a:pt x="1437132" y="1018032"/>
                    </a:lnTo>
                    <a:lnTo>
                      <a:pt x="1414271" y="1028700"/>
                    </a:lnTo>
                    <a:lnTo>
                      <a:pt x="1389887" y="1040892"/>
                    </a:lnTo>
                    <a:lnTo>
                      <a:pt x="1379219" y="1046988"/>
                    </a:lnTo>
                    <a:lnTo>
                      <a:pt x="1367027" y="1053084"/>
                    </a:lnTo>
                    <a:lnTo>
                      <a:pt x="1356360" y="1060704"/>
                    </a:lnTo>
                    <a:lnTo>
                      <a:pt x="1344168" y="1069848"/>
                    </a:lnTo>
                    <a:lnTo>
                      <a:pt x="1333500" y="1077468"/>
                    </a:lnTo>
                    <a:lnTo>
                      <a:pt x="1298447" y="1110996"/>
                    </a:lnTo>
                    <a:lnTo>
                      <a:pt x="1266444" y="1155192"/>
                    </a:lnTo>
                    <a:lnTo>
                      <a:pt x="1246632" y="1193292"/>
                    </a:lnTo>
                    <a:lnTo>
                      <a:pt x="1235964" y="1214628"/>
                    </a:lnTo>
                    <a:lnTo>
                      <a:pt x="1226820" y="1237488"/>
                    </a:lnTo>
                    <a:lnTo>
                      <a:pt x="1216152" y="1260348"/>
                    </a:lnTo>
                    <a:lnTo>
                      <a:pt x="1197864" y="1309116"/>
                    </a:lnTo>
                    <a:lnTo>
                      <a:pt x="1158239" y="1409700"/>
                    </a:lnTo>
                    <a:lnTo>
                      <a:pt x="1115567" y="1507236"/>
                    </a:lnTo>
                    <a:lnTo>
                      <a:pt x="1092708" y="1549908"/>
                    </a:lnTo>
                    <a:lnTo>
                      <a:pt x="1066800" y="1589532"/>
                    </a:lnTo>
                    <a:lnTo>
                      <a:pt x="1039367" y="1621536"/>
                    </a:lnTo>
                    <a:lnTo>
                      <a:pt x="1008887" y="1647444"/>
                    </a:lnTo>
                    <a:lnTo>
                      <a:pt x="999743" y="1652016"/>
                    </a:lnTo>
                    <a:lnTo>
                      <a:pt x="992123" y="1656588"/>
                    </a:lnTo>
                    <a:lnTo>
                      <a:pt x="964691" y="1665732"/>
                    </a:lnTo>
                    <a:lnTo>
                      <a:pt x="955547" y="1667256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 wrap="square" lIns="0" tIns="0" rIns="0" bIns="0" rtlCol="0"/>
              <a:lstStyle/>
              <a:p>
                <a:pPr defTabSz="685800"/>
                <a:endParaRPr sz="1191" dirty="0">
                  <a:solidFill>
                    <a:srgbClr val="000000"/>
                  </a:solidFill>
                  <a:latin typeface="Garamond" panose="02020404030301010803" pitchFamily="18" charset="0"/>
                </a:endParaRPr>
              </a:p>
            </p:txBody>
          </p:sp>
          <p:sp>
            <p:nvSpPr>
              <p:cNvPr id="14" name="object 16">
                <a:extLst>
                  <a:ext uri="{FF2B5EF4-FFF2-40B4-BE49-F238E27FC236}">
                    <a16:creationId xmlns:a16="http://schemas.microsoft.com/office/drawing/2014/main" id="{C9134331-53F5-4EF1-A153-95CD98B170B0}"/>
                  </a:ext>
                </a:extLst>
              </p:cNvPr>
              <p:cNvSpPr/>
              <p:nvPr/>
            </p:nvSpPr>
            <p:spPr>
              <a:xfrm>
                <a:off x="6744271" y="5849111"/>
                <a:ext cx="689610" cy="732155"/>
              </a:xfrm>
              <a:custGeom>
                <a:avLst/>
                <a:gdLst/>
                <a:ahLst/>
                <a:cxnLst/>
                <a:rect l="l" t="t" r="r" b="b"/>
                <a:pathLst>
                  <a:path w="689609" h="732154">
                    <a:moveTo>
                      <a:pt x="619259" y="58553"/>
                    </a:moveTo>
                    <a:lnTo>
                      <a:pt x="615672" y="53554"/>
                    </a:lnTo>
                    <a:lnTo>
                      <a:pt x="612648" y="39433"/>
                    </a:lnTo>
                    <a:lnTo>
                      <a:pt x="615053" y="25026"/>
                    </a:lnTo>
                    <a:lnTo>
                      <a:pt x="622744" y="12192"/>
                    </a:lnTo>
                    <a:lnTo>
                      <a:pt x="635388" y="3381"/>
                    </a:lnTo>
                    <a:lnTo>
                      <a:pt x="649605" y="0"/>
                    </a:lnTo>
                    <a:lnTo>
                      <a:pt x="664106" y="2333"/>
                    </a:lnTo>
                    <a:lnTo>
                      <a:pt x="677608" y="10668"/>
                    </a:lnTo>
                    <a:lnTo>
                      <a:pt x="686204" y="22645"/>
                    </a:lnTo>
                    <a:lnTo>
                      <a:pt x="688209" y="32004"/>
                    </a:lnTo>
                    <a:lnTo>
                      <a:pt x="644080" y="32004"/>
                    </a:lnTo>
                    <a:lnTo>
                      <a:pt x="619259" y="58553"/>
                    </a:lnTo>
                    <a:close/>
                  </a:path>
                  <a:path w="689609" h="732154">
                    <a:moveTo>
                      <a:pt x="632916" y="70870"/>
                    </a:moveTo>
                    <a:lnTo>
                      <a:pt x="624268" y="65532"/>
                    </a:lnTo>
                    <a:lnTo>
                      <a:pt x="619259" y="58553"/>
                    </a:lnTo>
                    <a:lnTo>
                      <a:pt x="644080" y="32004"/>
                    </a:lnTo>
                    <a:lnTo>
                      <a:pt x="657796" y="44196"/>
                    </a:lnTo>
                    <a:lnTo>
                      <a:pt x="632916" y="70870"/>
                    </a:lnTo>
                    <a:close/>
                  </a:path>
                  <a:path w="689609" h="732154">
                    <a:moveTo>
                      <a:pt x="652272" y="76200"/>
                    </a:moveTo>
                    <a:lnTo>
                      <a:pt x="637770" y="73866"/>
                    </a:lnTo>
                    <a:lnTo>
                      <a:pt x="632916" y="70870"/>
                    </a:lnTo>
                    <a:lnTo>
                      <a:pt x="657796" y="44196"/>
                    </a:lnTo>
                    <a:lnTo>
                      <a:pt x="644080" y="32004"/>
                    </a:lnTo>
                    <a:lnTo>
                      <a:pt x="688209" y="32004"/>
                    </a:lnTo>
                    <a:lnTo>
                      <a:pt x="689229" y="36766"/>
                    </a:lnTo>
                    <a:lnTo>
                      <a:pt x="686823" y="51173"/>
                    </a:lnTo>
                    <a:lnTo>
                      <a:pt x="679132" y="64008"/>
                    </a:lnTo>
                    <a:lnTo>
                      <a:pt x="666488" y="72818"/>
                    </a:lnTo>
                    <a:lnTo>
                      <a:pt x="652272" y="76200"/>
                    </a:lnTo>
                    <a:close/>
                  </a:path>
                  <a:path w="689609" h="732154">
                    <a:moveTo>
                      <a:pt x="70562" y="673793"/>
                    </a:moveTo>
                    <a:lnTo>
                      <a:pt x="64960" y="665988"/>
                    </a:lnTo>
                    <a:lnTo>
                      <a:pt x="56098" y="660939"/>
                    </a:lnTo>
                    <a:lnTo>
                      <a:pt x="619259" y="58553"/>
                    </a:lnTo>
                    <a:lnTo>
                      <a:pt x="624268" y="65532"/>
                    </a:lnTo>
                    <a:lnTo>
                      <a:pt x="632916" y="70870"/>
                    </a:lnTo>
                    <a:lnTo>
                      <a:pt x="70562" y="673793"/>
                    </a:lnTo>
                    <a:close/>
                  </a:path>
                  <a:path w="689609" h="732154">
                    <a:moveTo>
                      <a:pt x="39052" y="731710"/>
                    </a:moveTo>
                    <a:lnTo>
                      <a:pt x="24479" y="729829"/>
                    </a:lnTo>
                    <a:lnTo>
                      <a:pt x="11620" y="722376"/>
                    </a:lnTo>
                    <a:lnTo>
                      <a:pt x="3024" y="709517"/>
                    </a:lnTo>
                    <a:lnTo>
                      <a:pt x="0" y="694944"/>
                    </a:lnTo>
                    <a:lnTo>
                      <a:pt x="2405" y="680370"/>
                    </a:lnTo>
                    <a:lnTo>
                      <a:pt x="10096" y="667512"/>
                    </a:lnTo>
                    <a:lnTo>
                      <a:pt x="22740" y="658915"/>
                    </a:lnTo>
                    <a:lnTo>
                      <a:pt x="36957" y="655891"/>
                    </a:lnTo>
                    <a:lnTo>
                      <a:pt x="51458" y="658296"/>
                    </a:lnTo>
                    <a:lnTo>
                      <a:pt x="56098" y="660939"/>
                    </a:lnTo>
                    <a:lnTo>
                      <a:pt x="31432" y="687324"/>
                    </a:lnTo>
                    <a:lnTo>
                      <a:pt x="45148" y="701040"/>
                    </a:lnTo>
                    <a:lnTo>
                      <a:pt x="75086" y="701040"/>
                    </a:lnTo>
                    <a:lnTo>
                      <a:pt x="74175" y="706493"/>
                    </a:lnTo>
                    <a:lnTo>
                      <a:pt x="66484" y="719328"/>
                    </a:lnTo>
                    <a:lnTo>
                      <a:pt x="53625" y="728162"/>
                    </a:lnTo>
                    <a:lnTo>
                      <a:pt x="39052" y="731710"/>
                    </a:lnTo>
                    <a:close/>
                  </a:path>
                  <a:path w="689609" h="732154">
                    <a:moveTo>
                      <a:pt x="45148" y="701040"/>
                    </a:moveTo>
                    <a:lnTo>
                      <a:pt x="31432" y="687324"/>
                    </a:lnTo>
                    <a:lnTo>
                      <a:pt x="56098" y="660939"/>
                    </a:lnTo>
                    <a:lnTo>
                      <a:pt x="64960" y="665988"/>
                    </a:lnTo>
                    <a:lnTo>
                      <a:pt x="70562" y="673793"/>
                    </a:lnTo>
                    <a:lnTo>
                      <a:pt x="45148" y="701040"/>
                    </a:lnTo>
                    <a:close/>
                  </a:path>
                  <a:path w="689609" h="732154">
                    <a:moveTo>
                      <a:pt x="75086" y="701040"/>
                    </a:moveTo>
                    <a:lnTo>
                      <a:pt x="45148" y="701040"/>
                    </a:lnTo>
                    <a:lnTo>
                      <a:pt x="70562" y="673793"/>
                    </a:lnTo>
                    <a:lnTo>
                      <a:pt x="73556" y="677965"/>
                    </a:lnTo>
                    <a:lnTo>
                      <a:pt x="76581" y="692086"/>
                    </a:lnTo>
                    <a:lnTo>
                      <a:pt x="75086" y="70104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pPr defTabSz="685800"/>
                <a:endParaRPr sz="1191" dirty="0">
                  <a:solidFill>
                    <a:srgbClr val="000000"/>
                  </a:solidFill>
                  <a:latin typeface="Garamond" panose="02020404030301010803" pitchFamily="18" charset="0"/>
                </a:endParaRPr>
              </a:p>
            </p:txBody>
          </p: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BA4EF99-6E57-4583-AB34-168360686643}"/>
              </a:ext>
            </a:extLst>
          </p:cNvPr>
          <p:cNvSpPr txBox="1"/>
          <p:nvPr/>
        </p:nvSpPr>
        <p:spPr>
          <a:xfrm>
            <a:off x="0" y="6611779"/>
            <a:ext cx="15488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000" dirty="0">
                <a:solidFill>
                  <a:srgbClr val="000000"/>
                </a:solidFill>
                <a:latin typeface="Garamond" panose="02020404030301010803" pitchFamily="18" charset="0"/>
              </a:rPr>
              <a:t>Adapted from </a:t>
            </a:r>
            <a:r>
              <a:rPr lang="en-US" sz="1000" dirty="0" err="1">
                <a:solidFill>
                  <a:srgbClr val="000000"/>
                </a:solidFill>
                <a:latin typeface="Garamond" panose="02020404030301010803" pitchFamily="18" charset="0"/>
              </a:rPr>
              <a:t>Bhiksha</a:t>
            </a:r>
            <a:r>
              <a:rPr lang="en-US" sz="1000" dirty="0">
                <a:solidFill>
                  <a:srgbClr val="000000"/>
                </a:solidFill>
                <a:latin typeface="Garamond" panose="02020404030301010803" pitchFamily="18" charset="0"/>
              </a:rPr>
              <a:t> Raj</a:t>
            </a:r>
            <a:endParaRPr lang="en-US" sz="1000" dirty="0">
              <a:solidFill>
                <a:prstClr val="black"/>
              </a:solidFill>
              <a:latin typeface="Garamond" panose="02020404030301010803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FB2560-AE0F-42CB-B118-A3C6EBE3CBDD}"/>
              </a:ext>
            </a:extLst>
          </p:cNvPr>
          <p:cNvSpPr txBox="1"/>
          <p:nvPr/>
        </p:nvSpPr>
        <p:spPr>
          <a:xfrm>
            <a:off x="987101" y="5257800"/>
            <a:ext cx="806631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Garamond" panose="02020404030301010803" pitchFamily="18" charset="0"/>
              </a:rPr>
              <a:t>Convex set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0C8DF1-FBFE-48AB-AB60-B5CA04671025}"/>
              </a:ext>
            </a:extLst>
          </p:cNvPr>
          <p:cNvSpPr txBox="1"/>
          <p:nvPr/>
        </p:nvSpPr>
        <p:spPr>
          <a:xfrm>
            <a:off x="7033136" y="4645059"/>
            <a:ext cx="1072730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Garamond" panose="02020404030301010803" pitchFamily="18" charset="0"/>
              </a:rPr>
              <a:t>Non-convex set</a:t>
            </a:r>
          </a:p>
        </p:txBody>
      </p:sp>
    </p:spTree>
    <p:extLst>
      <p:ext uri="{BB962C8B-B14F-4D97-AF65-F5344CB8AC3E}">
        <p14:creationId xmlns:p14="http://schemas.microsoft.com/office/powerpoint/2010/main" val="1197697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0A3D3-F643-4BF8-9C7C-2566006E2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loss surface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13AF8-9EC0-48ED-8BBF-78A24DF0A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Gradient descent makes the assumption that loss/objective has a single global optimum </a:t>
            </a:r>
          </a:p>
          <a:p>
            <a:r>
              <a:rPr lang="en-US" dirty="0"/>
              <a:t>What about local optima?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4F971AF2-B4C2-46A9-B8C1-9A2AFBBE028A}"/>
              </a:ext>
            </a:extLst>
          </p:cNvPr>
          <p:cNvSpPr/>
          <p:nvPr/>
        </p:nvSpPr>
        <p:spPr>
          <a:xfrm>
            <a:off x="5399314" y="3683470"/>
            <a:ext cx="3287486" cy="28006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685800"/>
            <a:endParaRPr sz="1191" dirty="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6B0A23-84D8-47E0-8CFD-9ADD65EBDF20}"/>
              </a:ext>
            </a:extLst>
          </p:cNvPr>
          <p:cNvSpPr txBox="1"/>
          <p:nvPr/>
        </p:nvSpPr>
        <p:spPr>
          <a:xfrm>
            <a:off x="0" y="6611779"/>
            <a:ext cx="15488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000" dirty="0">
                <a:solidFill>
                  <a:srgbClr val="000000"/>
                </a:solidFill>
                <a:latin typeface="Garamond" panose="02020404030301010803" pitchFamily="18" charset="0"/>
              </a:rPr>
              <a:t>Adapted from </a:t>
            </a:r>
            <a:r>
              <a:rPr lang="en-US" sz="1000" dirty="0" err="1">
                <a:solidFill>
                  <a:srgbClr val="000000"/>
                </a:solidFill>
                <a:latin typeface="Garamond" panose="02020404030301010803" pitchFamily="18" charset="0"/>
              </a:rPr>
              <a:t>Bhiksha</a:t>
            </a:r>
            <a:r>
              <a:rPr lang="en-US" sz="1000" dirty="0">
                <a:solidFill>
                  <a:srgbClr val="000000"/>
                </a:solidFill>
                <a:latin typeface="Garamond" panose="02020404030301010803" pitchFamily="18" charset="0"/>
              </a:rPr>
              <a:t> Raj</a:t>
            </a:r>
            <a:endParaRPr lang="en-US" sz="1000" dirty="0">
              <a:solidFill>
                <a:prstClr val="black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824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E15E5-FB8A-420C-B730-44C6165A7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loss surface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3DBC6-1B72-45ED-9080-3B6EC25D4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6229176" cy="4822634"/>
          </a:xfrm>
        </p:spPr>
        <p:txBody>
          <a:bodyPr>
            <a:noAutofit/>
          </a:bodyPr>
          <a:lstStyle/>
          <a:p>
            <a:pPr marL="235336" indent="-226931" defTabSz="685800">
              <a:spcBef>
                <a:spcPts val="414"/>
              </a:spcBef>
              <a:buFont typeface="Arial"/>
              <a:buChar char="•"/>
              <a:tabLst>
                <a:tab pos="234916" algn="l"/>
                <a:tab pos="235336" algn="l"/>
              </a:tabLst>
            </a:pPr>
            <a:r>
              <a:rPr lang="en-US" sz="2000" spc="-110" dirty="0">
                <a:cs typeface="Arial"/>
              </a:rPr>
              <a:t>Popular</a:t>
            </a:r>
            <a:r>
              <a:rPr lang="en-US" sz="2000" spc="-70" dirty="0">
                <a:cs typeface="Arial"/>
              </a:rPr>
              <a:t> </a:t>
            </a:r>
            <a:r>
              <a:rPr lang="en-US" sz="2000" spc="-110" dirty="0">
                <a:cs typeface="Arial"/>
              </a:rPr>
              <a:t>hypothesis:</a:t>
            </a:r>
            <a:endParaRPr lang="en-US" sz="2000" dirty="0">
              <a:cs typeface="Arial"/>
            </a:endParaRPr>
          </a:p>
          <a:p>
            <a:pPr marL="500510" lvl="1" indent="-189950" defTabSz="685800">
              <a:spcBef>
                <a:spcPts val="301"/>
              </a:spcBef>
              <a:buFontTx/>
              <a:buChar char="–"/>
              <a:tabLst>
                <a:tab pos="500510" algn="l"/>
                <a:tab pos="500930" algn="l"/>
              </a:tabLst>
            </a:pPr>
            <a:r>
              <a:rPr lang="en-US" sz="2000" spc="-23" dirty="0">
                <a:cs typeface="Arial"/>
              </a:rPr>
              <a:t>Most </a:t>
            </a:r>
            <a:r>
              <a:rPr lang="en-US" sz="2000" spc="-47" dirty="0">
                <a:cs typeface="Arial"/>
              </a:rPr>
              <a:t>local </a:t>
            </a:r>
            <a:r>
              <a:rPr lang="en-US" sz="2000" spc="-40" dirty="0">
                <a:cs typeface="Arial"/>
              </a:rPr>
              <a:t>minima </a:t>
            </a:r>
            <a:r>
              <a:rPr lang="en-US" sz="2000" spc="-56" dirty="0">
                <a:cs typeface="Arial"/>
              </a:rPr>
              <a:t>are</a:t>
            </a:r>
            <a:r>
              <a:rPr lang="en-US" sz="2000" spc="-166" dirty="0">
                <a:cs typeface="Arial"/>
              </a:rPr>
              <a:t> </a:t>
            </a:r>
            <a:r>
              <a:rPr lang="en-US" sz="2000" spc="-40" dirty="0">
                <a:cs typeface="Arial"/>
              </a:rPr>
              <a:t>equivalent</a:t>
            </a:r>
            <a:endParaRPr lang="en-US" sz="2000" dirty="0">
              <a:cs typeface="Arial"/>
            </a:endParaRPr>
          </a:p>
          <a:p>
            <a:pPr marL="764843" lvl="2" indent="-152128" defTabSz="685800">
              <a:spcBef>
                <a:spcPts val="287"/>
              </a:spcBef>
              <a:buFontTx/>
              <a:buChar char="•"/>
              <a:tabLst>
                <a:tab pos="764843" algn="l"/>
                <a:tab pos="765263" algn="l"/>
              </a:tabLst>
            </a:pPr>
            <a:r>
              <a:rPr lang="en-US" sz="2000" spc="-56" dirty="0">
                <a:cs typeface="Arial"/>
              </a:rPr>
              <a:t>And </a:t>
            </a:r>
            <a:r>
              <a:rPr lang="en-US" sz="2000" spc="-59" dirty="0">
                <a:cs typeface="Arial"/>
              </a:rPr>
              <a:t>close </a:t>
            </a:r>
            <a:r>
              <a:rPr lang="en-US" sz="2000" spc="14" dirty="0">
                <a:cs typeface="Arial"/>
              </a:rPr>
              <a:t>to </a:t>
            </a:r>
            <a:r>
              <a:rPr lang="en-US" sz="2000" spc="-43" dirty="0">
                <a:cs typeface="Arial"/>
              </a:rPr>
              <a:t>global</a:t>
            </a:r>
            <a:r>
              <a:rPr lang="en-US" sz="2000" spc="-166" dirty="0">
                <a:cs typeface="Arial"/>
              </a:rPr>
              <a:t> </a:t>
            </a:r>
            <a:r>
              <a:rPr lang="en-US" sz="2000" spc="-23" dirty="0">
                <a:cs typeface="Arial"/>
              </a:rPr>
              <a:t>minimum</a:t>
            </a:r>
            <a:endParaRPr lang="en-US" sz="2000" dirty="0">
              <a:cs typeface="Arial"/>
            </a:endParaRPr>
          </a:p>
          <a:p>
            <a:pPr marL="500510" lvl="1" indent="-189950" defTabSz="685800">
              <a:spcBef>
                <a:spcPts val="301"/>
              </a:spcBef>
              <a:buFontTx/>
              <a:buChar char="–"/>
              <a:tabLst>
                <a:tab pos="500510" algn="l"/>
                <a:tab pos="500930" algn="l"/>
              </a:tabLst>
            </a:pPr>
            <a:r>
              <a:rPr lang="en-US" sz="2000" spc="-86" dirty="0">
                <a:cs typeface="Arial"/>
              </a:rPr>
              <a:t>This </a:t>
            </a:r>
            <a:r>
              <a:rPr lang="en-US" sz="2000" spc="-76" dirty="0">
                <a:cs typeface="Arial"/>
              </a:rPr>
              <a:t>is </a:t>
            </a:r>
            <a:r>
              <a:rPr lang="en-US" sz="2000" spc="-3" dirty="0">
                <a:cs typeface="Arial"/>
              </a:rPr>
              <a:t>not </a:t>
            </a:r>
            <a:r>
              <a:rPr lang="en-US" sz="2000" spc="-7" dirty="0">
                <a:cs typeface="Arial"/>
              </a:rPr>
              <a:t>true </a:t>
            </a:r>
            <a:r>
              <a:rPr lang="en-US" sz="2000" dirty="0">
                <a:cs typeface="Arial"/>
              </a:rPr>
              <a:t>for </a:t>
            </a:r>
            <a:r>
              <a:rPr lang="en-US" sz="2000" spc="-56" dirty="0">
                <a:cs typeface="Arial"/>
              </a:rPr>
              <a:t>small</a:t>
            </a:r>
            <a:r>
              <a:rPr lang="en-US" sz="2000" spc="-248" dirty="0">
                <a:cs typeface="Arial"/>
              </a:rPr>
              <a:t> </a:t>
            </a:r>
            <a:r>
              <a:rPr lang="en-US" sz="2000" spc="-40" dirty="0">
                <a:cs typeface="Arial"/>
              </a:rPr>
              <a:t>networks</a:t>
            </a:r>
            <a:endParaRPr lang="en-US" sz="2000" dirty="0">
              <a:cs typeface="Arial"/>
            </a:endParaRPr>
          </a:p>
          <a:p>
            <a:pPr marL="500510" marR="245422" lvl="1" indent="-189950" defTabSz="685800">
              <a:spcBef>
                <a:spcPts val="323"/>
              </a:spcBef>
              <a:buFontTx/>
              <a:buChar char="–"/>
              <a:tabLst>
                <a:tab pos="500510" algn="l"/>
                <a:tab pos="500930" algn="l"/>
              </a:tabLst>
            </a:pPr>
            <a:r>
              <a:rPr lang="en-US" sz="2000" spc="-40" dirty="0">
                <a:cs typeface="Arial"/>
              </a:rPr>
              <a:t>In </a:t>
            </a:r>
            <a:r>
              <a:rPr lang="en-US" sz="2000" spc="-59" dirty="0">
                <a:cs typeface="Arial"/>
              </a:rPr>
              <a:t>large </a:t>
            </a:r>
            <a:r>
              <a:rPr lang="en-US" sz="2000" spc="-40" dirty="0">
                <a:cs typeface="Arial"/>
              </a:rPr>
              <a:t>networks, </a:t>
            </a:r>
            <a:r>
              <a:rPr lang="en-US" sz="2000" spc="-70" dirty="0">
                <a:cs typeface="Arial"/>
              </a:rPr>
              <a:t>saddle </a:t>
            </a:r>
            <a:r>
              <a:rPr lang="en-US" sz="2000" spc="-33" dirty="0">
                <a:cs typeface="Arial"/>
              </a:rPr>
              <a:t>points </a:t>
            </a:r>
            <a:r>
              <a:rPr lang="en-US" sz="2000" spc="-63" dirty="0">
                <a:cs typeface="Arial"/>
              </a:rPr>
              <a:t>are </a:t>
            </a:r>
            <a:r>
              <a:rPr lang="en-US" sz="2000" spc="-23" dirty="0">
                <a:cs typeface="Arial"/>
              </a:rPr>
              <a:t>far</a:t>
            </a:r>
            <a:r>
              <a:rPr lang="en-US" sz="2000" spc="-185" dirty="0">
                <a:cs typeface="Arial"/>
              </a:rPr>
              <a:t> </a:t>
            </a:r>
            <a:r>
              <a:rPr lang="en-US" sz="2000" spc="-43" dirty="0">
                <a:cs typeface="Arial"/>
              </a:rPr>
              <a:t>more </a:t>
            </a:r>
            <a:r>
              <a:rPr lang="en-US" sz="2000" spc="-53" dirty="0">
                <a:cs typeface="Arial"/>
              </a:rPr>
              <a:t>common </a:t>
            </a:r>
            <a:r>
              <a:rPr lang="en-US" sz="2000" spc="-30" dirty="0">
                <a:cs typeface="Arial"/>
              </a:rPr>
              <a:t>than </a:t>
            </a:r>
            <a:r>
              <a:rPr lang="en-US" sz="2000" spc="-50" dirty="0">
                <a:cs typeface="Arial"/>
              </a:rPr>
              <a:t>local</a:t>
            </a:r>
            <a:r>
              <a:rPr lang="en-US" sz="2000" spc="-143" dirty="0">
                <a:cs typeface="Arial"/>
              </a:rPr>
              <a:t> </a:t>
            </a:r>
            <a:r>
              <a:rPr lang="en-US" sz="2000" spc="-40" dirty="0">
                <a:cs typeface="Arial"/>
              </a:rPr>
              <a:t>minima</a:t>
            </a:r>
            <a:endParaRPr lang="en-US" sz="2000" dirty="0">
              <a:cs typeface="Arial"/>
            </a:endParaRPr>
          </a:p>
          <a:p>
            <a:pPr marL="235336" indent="-226931" defTabSz="685800">
              <a:buFont typeface="Arial"/>
              <a:buChar char="•"/>
              <a:tabLst>
                <a:tab pos="234916" algn="l"/>
                <a:tab pos="235336" algn="l"/>
              </a:tabLst>
            </a:pPr>
            <a:endParaRPr lang="en-US" sz="2000" spc="-122" dirty="0">
              <a:cs typeface="Arial"/>
            </a:endParaRPr>
          </a:p>
          <a:p>
            <a:pPr marL="235336" indent="-226931" defTabSz="685800">
              <a:buFont typeface="Arial"/>
              <a:buChar char="•"/>
              <a:tabLst>
                <a:tab pos="234916" algn="l"/>
                <a:tab pos="235336" algn="l"/>
              </a:tabLst>
            </a:pPr>
            <a:r>
              <a:rPr lang="en-US" sz="2000" spc="-122" dirty="0">
                <a:cs typeface="Arial"/>
              </a:rPr>
              <a:t>Saddle </a:t>
            </a:r>
            <a:r>
              <a:rPr lang="en-US" sz="2000" spc="-80" dirty="0">
                <a:cs typeface="Arial"/>
              </a:rPr>
              <a:t>point: </a:t>
            </a:r>
            <a:r>
              <a:rPr lang="en-US" sz="2000" spc="-132" dirty="0">
                <a:cs typeface="Arial"/>
              </a:rPr>
              <a:t>A </a:t>
            </a:r>
            <a:r>
              <a:rPr lang="en-US" sz="2000" spc="-14" dirty="0">
                <a:cs typeface="Arial"/>
              </a:rPr>
              <a:t>point</a:t>
            </a:r>
            <a:r>
              <a:rPr lang="en-US" sz="2000" spc="59" dirty="0">
                <a:cs typeface="Arial"/>
              </a:rPr>
              <a:t> </a:t>
            </a:r>
            <a:r>
              <a:rPr lang="en-US" sz="2000" spc="-47" dirty="0">
                <a:cs typeface="Arial"/>
              </a:rPr>
              <a:t>where:</a:t>
            </a:r>
            <a:endParaRPr lang="en-US" sz="2000" dirty="0">
              <a:cs typeface="Arial"/>
            </a:endParaRPr>
          </a:p>
          <a:p>
            <a:pPr marL="500510" lvl="1" indent="-189950" defTabSz="685800">
              <a:spcBef>
                <a:spcPts val="324"/>
              </a:spcBef>
              <a:buFontTx/>
              <a:buChar char="–"/>
              <a:tabLst>
                <a:tab pos="500510" algn="l"/>
                <a:tab pos="500930" algn="l"/>
              </a:tabLst>
            </a:pPr>
            <a:r>
              <a:rPr lang="en-US" sz="2000" spc="-96" dirty="0">
                <a:cs typeface="Arial"/>
              </a:rPr>
              <a:t>The </a:t>
            </a:r>
            <a:r>
              <a:rPr lang="en-US" sz="2000" spc="-59" dirty="0">
                <a:cs typeface="Arial"/>
              </a:rPr>
              <a:t>slope </a:t>
            </a:r>
            <a:r>
              <a:rPr lang="en-US" sz="2000" spc="-70" dirty="0">
                <a:cs typeface="Arial"/>
              </a:rPr>
              <a:t>is</a:t>
            </a:r>
            <a:r>
              <a:rPr lang="en-US" sz="2000" spc="-47" dirty="0">
                <a:cs typeface="Arial"/>
              </a:rPr>
              <a:t> </a:t>
            </a:r>
            <a:r>
              <a:rPr lang="en-US" sz="2000" spc="-80" dirty="0">
                <a:cs typeface="Arial"/>
              </a:rPr>
              <a:t>zero</a:t>
            </a:r>
            <a:endParaRPr lang="en-US" sz="2000" dirty="0">
              <a:cs typeface="Arial"/>
            </a:endParaRPr>
          </a:p>
          <a:p>
            <a:pPr marL="500510" marR="229033" lvl="1" indent="-189950" defTabSz="685800">
              <a:spcBef>
                <a:spcPts val="318"/>
              </a:spcBef>
              <a:buFontTx/>
              <a:buChar char="–"/>
              <a:tabLst>
                <a:tab pos="500510" algn="l"/>
                <a:tab pos="500930" algn="l"/>
              </a:tabLst>
            </a:pPr>
            <a:r>
              <a:rPr lang="en-US" sz="2000" spc="-96" dirty="0">
                <a:cs typeface="Arial"/>
              </a:rPr>
              <a:t>The </a:t>
            </a:r>
            <a:r>
              <a:rPr lang="en-US" sz="2000" spc="-66" dirty="0">
                <a:cs typeface="Arial"/>
              </a:rPr>
              <a:t>surface </a:t>
            </a:r>
            <a:r>
              <a:rPr lang="en-US" sz="2000" spc="-80" dirty="0">
                <a:cs typeface="Arial"/>
              </a:rPr>
              <a:t>increases </a:t>
            </a:r>
            <a:r>
              <a:rPr lang="en-US" sz="2000" spc="-23" dirty="0">
                <a:cs typeface="Arial"/>
              </a:rPr>
              <a:t>in </a:t>
            </a:r>
            <a:r>
              <a:rPr lang="en-US" sz="2000" spc="-80" dirty="0">
                <a:cs typeface="Arial"/>
              </a:rPr>
              <a:t>some </a:t>
            </a:r>
            <a:r>
              <a:rPr lang="en-US" sz="2000" spc="-37" dirty="0">
                <a:cs typeface="Arial"/>
              </a:rPr>
              <a:t>directions, </a:t>
            </a:r>
            <a:r>
              <a:rPr lang="en-US" sz="2000" dirty="0">
                <a:cs typeface="Arial"/>
              </a:rPr>
              <a:t>but </a:t>
            </a:r>
            <a:r>
              <a:rPr lang="en-US" sz="2000" spc="-86" dirty="0">
                <a:cs typeface="Arial"/>
              </a:rPr>
              <a:t>decreases </a:t>
            </a:r>
            <a:r>
              <a:rPr lang="en-US" sz="2000" spc="-17" dirty="0">
                <a:cs typeface="Arial"/>
              </a:rPr>
              <a:t>in</a:t>
            </a:r>
            <a:r>
              <a:rPr lang="en-US" sz="2000" spc="-56" dirty="0">
                <a:cs typeface="Arial"/>
              </a:rPr>
              <a:t> </a:t>
            </a:r>
            <a:r>
              <a:rPr lang="en-US" sz="2000" spc="-40" dirty="0">
                <a:cs typeface="Arial"/>
              </a:rPr>
              <a:t>others</a:t>
            </a:r>
            <a:endParaRPr lang="en-US" sz="2000" dirty="0">
              <a:cs typeface="Arial"/>
            </a:endParaRPr>
          </a:p>
          <a:p>
            <a:pPr marL="764843" marR="12608" lvl="2" indent="-151708" defTabSz="685800">
              <a:spcBef>
                <a:spcPts val="284"/>
              </a:spcBef>
              <a:buFontTx/>
              <a:buChar char="•"/>
              <a:tabLst>
                <a:tab pos="764843" algn="l"/>
                <a:tab pos="765263" algn="l"/>
              </a:tabLst>
            </a:pPr>
            <a:r>
              <a:rPr lang="en-US" sz="2000" spc="-96" dirty="0">
                <a:cs typeface="Arial"/>
              </a:rPr>
              <a:t>Some </a:t>
            </a:r>
            <a:r>
              <a:rPr lang="en-US" sz="2000" dirty="0">
                <a:cs typeface="Arial"/>
              </a:rPr>
              <a:t>of </a:t>
            </a:r>
            <a:r>
              <a:rPr lang="en-US" sz="2000" spc="-10" dirty="0">
                <a:cs typeface="Arial"/>
              </a:rPr>
              <a:t>the </a:t>
            </a:r>
            <a:r>
              <a:rPr lang="en-US" sz="2000" spc="-73" dirty="0">
                <a:cs typeface="Arial"/>
              </a:rPr>
              <a:t>Eigenvalues </a:t>
            </a:r>
            <a:r>
              <a:rPr lang="en-US" sz="2000" spc="-7" dirty="0">
                <a:cs typeface="Arial"/>
              </a:rPr>
              <a:t>of </a:t>
            </a:r>
            <a:r>
              <a:rPr lang="en-US" sz="2000" spc="-10" dirty="0">
                <a:cs typeface="Arial"/>
              </a:rPr>
              <a:t>the</a:t>
            </a:r>
            <a:r>
              <a:rPr lang="en-US" sz="2000" spc="-215" dirty="0">
                <a:cs typeface="Arial"/>
              </a:rPr>
              <a:t> </a:t>
            </a:r>
            <a:r>
              <a:rPr lang="en-US" sz="2000" spc="-76" dirty="0">
                <a:cs typeface="Arial"/>
              </a:rPr>
              <a:t>Hessian </a:t>
            </a:r>
            <a:r>
              <a:rPr lang="en-US" sz="2000" spc="-53" dirty="0">
                <a:cs typeface="Arial"/>
              </a:rPr>
              <a:t>are </a:t>
            </a:r>
            <a:r>
              <a:rPr lang="en-US" sz="2000" spc="-30" dirty="0">
                <a:cs typeface="Arial"/>
              </a:rPr>
              <a:t>positive; </a:t>
            </a:r>
            <a:r>
              <a:rPr lang="en-US" sz="2000" spc="-33" dirty="0">
                <a:cs typeface="Arial"/>
              </a:rPr>
              <a:t>others </a:t>
            </a:r>
            <a:r>
              <a:rPr lang="en-US" sz="2000" spc="-50" dirty="0">
                <a:cs typeface="Arial"/>
              </a:rPr>
              <a:t>are</a:t>
            </a:r>
            <a:r>
              <a:rPr lang="en-US" sz="2000" spc="-99" dirty="0">
                <a:cs typeface="Arial"/>
              </a:rPr>
              <a:t> </a:t>
            </a:r>
            <a:r>
              <a:rPr lang="en-US" sz="2000" spc="-50" dirty="0">
                <a:cs typeface="Arial"/>
              </a:rPr>
              <a:t>negative</a:t>
            </a:r>
            <a:endParaRPr lang="en-US" sz="2000" dirty="0">
              <a:cs typeface="Arial"/>
            </a:endParaRPr>
          </a:p>
          <a:p>
            <a:pPr marL="500510" marR="3362" lvl="1" indent="-189950" defTabSz="685800">
              <a:spcBef>
                <a:spcPts val="301"/>
              </a:spcBef>
              <a:buFontTx/>
              <a:buChar char="–"/>
              <a:tabLst>
                <a:tab pos="500510" algn="l"/>
                <a:tab pos="500930" algn="l"/>
              </a:tabLst>
            </a:pPr>
            <a:r>
              <a:rPr lang="en-US" sz="2000" spc="-53" dirty="0">
                <a:cs typeface="Arial"/>
              </a:rPr>
              <a:t>Gradient </a:t>
            </a:r>
            <a:r>
              <a:rPr lang="en-US" sz="2000" spc="-63" dirty="0">
                <a:cs typeface="Arial"/>
              </a:rPr>
              <a:t>descent </a:t>
            </a:r>
            <a:r>
              <a:rPr lang="en-US" sz="2000" spc="-40" dirty="0" err="1">
                <a:cs typeface="Arial"/>
              </a:rPr>
              <a:t>algs</a:t>
            </a:r>
            <a:r>
              <a:rPr lang="en-US" sz="2000" spc="-40" dirty="0">
                <a:cs typeface="Arial"/>
              </a:rPr>
              <a:t> </a:t>
            </a:r>
            <a:r>
              <a:rPr lang="en-US" sz="2000" spc="-14" dirty="0">
                <a:cs typeface="Arial"/>
              </a:rPr>
              <a:t>often </a:t>
            </a:r>
            <a:r>
              <a:rPr lang="en-US" sz="2000" spc="-43" dirty="0">
                <a:cs typeface="Arial"/>
              </a:rPr>
              <a:t>get </a:t>
            </a:r>
            <a:r>
              <a:rPr lang="en-US" sz="2000" spc="-14" dirty="0">
                <a:cs typeface="Arial"/>
              </a:rPr>
              <a:t>“stuck”</a:t>
            </a:r>
            <a:r>
              <a:rPr lang="en-US" sz="2000" spc="-209" dirty="0">
                <a:cs typeface="Arial"/>
              </a:rPr>
              <a:t> </a:t>
            </a:r>
            <a:r>
              <a:rPr lang="en-US" sz="2000" spc="-17" dirty="0">
                <a:cs typeface="Arial"/>
              </a:rPr>
              <a:t>in </a:t>
            </a:r>
            <a:r>
              <a:rPr lang="en-US" sz="2000" spc="-70" dirty="0">
                <a:cs typeface="Arial"/>
              </a:rPr>
              <a:t>saddle</a:t>
            </a:r>
            <a:r>
              <a:rPr lang="en-US" sz="2000" spc="-76" dirty="0">
                <a:cs typeface="Arial"/>
              </a:rPr>
              <a:t> </a:t>
            </a:r>
            <a:r>
              <a:rPr lang="en-US" sz="2000" spc="-33" dirty="0">
                <a:cs typeface="Arial"/>
              </a:rPr>
              <a:t>points</a:t>
            </a:r>
            <a:endParaRPr lang="en-US" sz="2000" dirty="0">
              <a:cs typeface="Arial"/>
            </a:endParaRPr>
          </a:p>
          <a:p>
            <a:endParaRPr lang="en-US" sz="20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2A0798C-23F5-41DB-983B-BF84E75B1EC1}"/>
              </a:ext>
            </a:extLst>
          </p:cNvPr>
          <p:cNvSpPr/>
          <p:nvPr/>
        </p:nvSpPr>
        <p:spPr>
          <a:xfrm>
            <a:off x="6899612" y="1600200"/>
            <a:ext cx="1955958" cy="14354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685800"/>
            <a:endParaRPr sz="1191" dirty="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953F62D-F884-4F30-B2C7-72C7076FB5AB}"/>
              </a:ext>
            </a:extLst>
          </p:cNvPr>
          <p:cNvSpPr/>
          <p:nvPr/>
        </p:nvSpPr>
        <p:spPr>
          <a:xfrm>
            <a:off x="6912231" y="3249345"/>
            <a:ext cx="1930721" cy="17083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685800"/>
            <a:endParaRPr sz="1191" dirty="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025E221-489C-4DAE-8EF0-D12B0C06C972}"/>
              </a:ext>
            </a:extLst>
          </p:cNvPr>
          <p:cNvSpPr/>
          <p:nvPr/>
        </p:nvSpPr>
        <p:spPr>
          <a:xfrm>
            <a:off x="7088898" y="5174113"/>
            <a:ext cx="1577387" cy="13439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685800"/>
            <a:endParaRPr sz="1191" dirty="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608F1E-493A-4B62-931D-ED6734193E16}"/>
              </a:ext>
            </a:extLst>
          </p:cNvPr>
          <p:cNvSpPr txBox="1"/>
          <p:nvPr/>
        </p:nvSpPr>
        <p:spPr>
          <a:xfrm>
            <a:off x="0" y="6611779"/>
            <a:ext cx="7777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000" dirty="0" err="1">
                <a:solidFill>
                  <a:srgbClr val="000000"/>
                </a:solidFill>
                <a:latin typeface="Garamond" panose="02020404030301010803" pitchFamily="18" charset="0"/>
              </a:rPr>
              <a:t>Bhiksha</a:t>
            </a:r>
            <a:r>
              <a:rPr lang="en-US" sz="1000" dirty="0">
                <a:solidFill>
                  <a:srgbClr val="000000"/>
                </a:solidFill>
                <a:latin typeface="Garamond" panose="02020404030301010803" pitchFamily="18" charset="0"/>
              </a:rPr>
              <a:t> Raj</a:t>
            </a:r>
            <a:endParaRPr lang="en-US" sz="1000" dirty="0">
              <a:solidFill>
                <a:prstClr val="black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8805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877B-D7ED-4826-BEC2-CA0AE851B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Conditions for convergence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BFF14-77BB-41D1-8882-1E49089F7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So far we have assumed training arrives at a local minimum</a:t>
            </a:r>
          </a:p>
          <a:p>
            <a:endParaRPr lang="en-US" dirty="0"/>
          </a:p>
          <a:p>
            <a:r>
              <a:rPr lang="en-US" dirty="0"/>
              <a:t>Does it always converge?</a:t>
            </a:r>
          </a:p>
          <a:p>
            <a:r>
              <a:rPr lang="en-US" dirty="0"/>
              <a:t>How long does it take?</a:t>
            </a:r>
          </a:p>
          <a:p>
            <a:endParaRPr lang="en-US" dirty="0"/>
          </a:p>
          <a:p>
            <a:r>
              <a:rPr lang="en-US" dirty="0"/>
              <a:t>Hard to analyze for a neural network, but we can look at the problem through the lens of convex optimization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17B5BF-C917-4BA1-AA44-0F23606B5CCB}"/>
              </a:ext>
            </a:extLst>
          </p:cNvPr>
          <p:cNvSpPr txBox="1"/>
          <p:nvPr/>
        </p:nvSpPr>
        <p:spPr>
          <a:xfrm>
            <a:off x="0" y="6611779"/>
            <a:ext cx="15488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000" dirty="0">
                <a:solidFill>
                  <a:srgbClr val="000000"/>
                </a:solidFill>
                <a:latin typeface="Garamond" panose="02020404030301010803" pitchFamily="18" charset="0"/>
              </a:rPr>
              <a:t>Adapted from </a:t>
            </a:r>
            <a:r>
              <a:rPr lang="en-US" sz="1000" dirty="0" err="1">
                <a:solidFill>
                  <a:srgbClr val="000000"/>
                </a:solidFill>
                <a:latin typeface="Garamond" panose="02020404030301010803" pitchFamily="18" charset="0"/>
              </a:rPr>
              <a:t>Bhiksha</a:t>
            </a:r>
            <a:r>
              <a:rPr lang="en-US" sz="1000" dirty="0">
                <a:solidFill>
                  <a:srgbClr val="000000"/>
                </a:solidFill>
                <a:latin typeface="Garamond" panose="02020404030301010803" pitchFamily="18" charset="0"/>
              </a:rPr>
              <a:t> Raj</a:t>
            </a:r>
            <a:endParaRPr lang="en-US" sz="1000" dirty="0">
              <a:solidFill>
                <a:prstClr val="black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764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6BDA5-BB3D-4D3B-863E-482BF300F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Convergence and convergence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1BA86-8992-478A-9B55-00A357198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6781800" cy="4525963"/>
          </a:xfrm>
        </p:spPr>
        <p:txBody>
          <a:bodyPr>
            <a:noAutofit/>
          </a:bodyPr>
          <a:lstStyle/>
          <a:p>
            <a:pPr marL="234916" marR="1653236" indent="-226931" defTabSz="685800">
              <a:spcBef>
                <a:spcPts val="380"/>
              </a:spcBef>
              <a:buFontTx/>
              <a:buChar char="•"/>
              <a:tabLst>
                <a:tab pos="234916" algn="l"/>
                <a:tab pos="235336" algn="l"/>
              </a:tabLst>
            </a:pPr>
            <a:r>
              <a:rPr lang="en-US" sz="2400" spc="-89" dirty="0">
                <a:solidFill>
                  <a:srgbClr val="000000"/>
                </a:solidFill>
                <a:cs typeface="Arial"/>
              </a:rPr>
              <a:t>An </a:t>
            </a:r>
            <a:r>
              <a:rPr lang="en-US" sz="2400" spc="-26" dirty="0">
                <a:solidFill>
                  <a:srgbClr val="000000"/>
                </a:solidFill>
                <a:cs typeface="Arial"/>
              </a:rPr>
              <a:t>iterative </a:t>
            </a:r>
            <a:r>
              <a:rPr lang="en-US" sz="2400" spc="-33" dirty="0">
                <a:solidFill>
                  <a:srgbClr val="000000"/>
                </a:solidFill>
                <a:cs typeface="Arial"/>
              </a:rPr>
              <a:t>algorithm </a:t>
            </a:r>
            <a:r>
              <a:rPr lang="en-US" sz="2400" spc="-76" dirty="0">
                <a:solidFill>
                  <a:srgbClr val="000000"/>
                </a:solidFill>
                <a:cs typeface="Arial"/>
              </a:rPr>
              <a:t>is </a:t>
            </a:r>
            <a:r>
              <a:rPr lang="en-US" sz="2400" spc="-80" dirty="0">
                <a:solidFill>
                  <a:srgbClr val="000000"/>
                </a:solidFill>
                <a:cs typeface="Arial"/>
              </a:rPr>
              <a:t>said </a:t>
            </a:r>
            <a:r>
              <a:rPr lang="en-US" sz="2400" spc="7" dirty="0">
                <a:solidFill>
                  <a:srgbClr val="000000"/>
                </a:solidFill>
                <a:cs typeface="Arial"/>
              </a:rPr>
              <a:t>to </a:t>
            </a:r>
            <a:r>
              <a:rPr lang="en-US" sz="2400" i="1" spc="-83" dirty="0">
                <a:solidFill>
                  <a:srgbClr val="000000"/>
                </a:solidFill>
                <a:cs typeface="Arial"/>
              </a:rPr>
              <a:t>converge </a:t>
            </a:r>
            <a:r>
              <a:rPr lang="en-US" sz="2400" spc="7" dirty="0">
                <a:solidFill>
                  <a:srgbClr val="000000"/>
                </a:solidFill>
                <a:cs typeface="Arial"/>
              </a:rPr>
              <a:t>to </a:t>
            </a:r>
            <a:r>
              <a:rPr lang="en-US" sz="2400" spc="-116" dirty="0">
                <a:solidFill>
                  <a:srgbClr val="000000"/>
                </a:solidFill>
                <a:cs typeface="Arial"/>
              </a:rPr>
              <a:t>a </a:t>
            </a:r>
            <a:r>
              <a:rPr lang="en-US" sz="2400" spc="-30" dirty="0">
                <a:solidFill>
                  <a:srgbClr val="000000"/>
                </a:solidFill>
                <a:cs typeface="Arial"/>
              </a:rPr>
              <a:t>solution </a:t>
            </a:r>
            <a:r>
              <a:rPr lang="en-US" sz="2400" spc="23" dirty="0">
                <a:solidFill>
                  <a:srgbClr val="000000"/>
                </a:solidFill>
                <a:cs typeface="Arial"/>
              </a:rPr>
              <a:t>if </a:t>
            </a:r>
            <a:r>
              <a:rPr lang="en-US" sz="2400" spc="-20" dirty="0">
                <a:solidFill>
                  <a:srgbClr val="000000"/>
                </a:solidFill>
                <a:cs typeface="Arial"/>
              </a:rPr>
              <a:t>the</a:t>
            </a:r>
            <a:r>
              <a:rPr lang="en-US" sz="2400" spc="-291" dirty="0">
                <a:solidFill>
                  <a:srgbClr val="000000"/>
                </a:solidFill>
                <a:cs typeface="Arial"/>
              </a:rPr>
              <a:t> </a:t>
            </a:r>
            <a:r>
              <a:rPr lang="en-US" sz="2400" spc="-70" dirty="0">
                <a:solidFill>
                  <a:srgbClr val="000000"/>
                </a:solidFill>
                <a:cs typeface="Arial"/>
              </a:rPr>
              <a:t>value updates </a:t>
            </a:r>
            <a:r>
              <a:rPr lang="en-US" sz="2400" spc="-40" dirty="0">
                <a:solidFill>
                  <a:srgbClr val="000000"/>
                </a:solidFill>
                <a:cs typeface="Arial"/>
              </a:rPr>
              <a:t>arrive </a:t>
            </a:r>
            <a:r>
              <a:rPr lang="en-US" sz="2400" spc="-23" dirty="0">
                <a:solidFill>
                  <a:srgbClr val="000000"/>
                </a:solidFill>
                <a:cs typeface="Arial"/>
              </a:rPr>
              <a:t>at </a:t>
            </a:r>
            <a:r>
              <a:rPr lang="en-US" sz="2400" spc="-116" dirty="0">
                <a:solidFill>
                  <a:srgbClr val="000000"/>
                </a:solidFill>
                <a:cs typeface="Arial"/>
              </a:rPr>
              <a:t>a </a:t>
            </a:r>
            <a:r>
              <a:rPr lang="en-US" sz="2400" spc="-47" dirty="0">
                <a:solidFill>
                  <a:srgbClr val="000000"/>
                </a:solidFill>
                <a:cs typeface="Arial"/>
              </a:rPr>
              <a:t>fixed</a:t>
            </a:r>
            <a:r>
              <a:rPr lang="en-US" sz="2400" spc="-139" dirty="0">
                <a:solidFill>
                  <a:srgbClr val="000000"/>
                </a:solidFill>
                <a:cs typeface="Arial"/>
              </a:rPr>
              <a:t> </a:t>
            </a:r>
            <a:r>
              <a:rPr lang="en-US" sz="2400" spc="-14" dirty="0">
                <a:solidFill>
                  <a:srgbClr val="000000"/>
                </a:solidFill>
                <a:cs typeface="Arial"/>
              </a:rPr>
              <a:t>point</a:t>
            </a:r>
            <a:endParaRPr lang="en-US" sz="2400" dirty="0">
              <a:solidFill>
                <a:srgbClr val="000000"/>
              </a:solidFill>
              <a:cs typeface="Arial"/>
            </a:endParaRPr>
          </a:p>
          <a:p>
            <a:pPr marL="634966" marR="1653236" lvl="1" indent="-226931" defTabSz="685800">
              <a:spcBef>
                <a:spcPts val="380"/>
              </a:spcBef>
              <a:buFontTx/>
              <a:buChar char="•"/>
              <a:tabLst>
                <a:tab pos="234916" algn="l"/>
                <a:tab pos="235336" algn="l"/>
              </a:tabLst>
            </a:pPr>
            <a:r>
              <a:rPr lang="en-US" sz="2400" spc="-53" dirty="0">
                <a:solidFill>
                  <a:srgbClr val="000000"/>
                </a:solidFill>
                <a:cs typeface="Arial"/>
              </a:rPr>
              <a:t>Where </a:t>
            </a:r>
            <a:r>
              <a:rPr lang="en-US" sz="2400" spc="-17" dirty="0">
                <a:solidFill>
                  <a:srgbClr val="000000"/>
                </a:solidFill>
                <a:cs typeface="Arial"/>
              </a:rPr>
              <a:t>the </a:t>
            </a:r>
            <a:r>
              <a:rPr lang="en-US" sz="2400" spc="-40" dirty="0">
                <a:solidFill>
                  <a:srgbClr val="000000"/>
                </a:solidFill>
                <a:cs typeface="Arial"/>
              </a:rPr>
              <a:t>gradient </a:t>
            </a:r>
            <a:r>
              <a:rPr lang="en-US" sz="2400" spc="-70" dirty="0">
                <a:solidFill>
                  <a:srgbClr val="000000"/>
                </a:solidFill>
                <a:cs typeface="Arial"/>
              </a:rPr>
              <a:t>is </a:t>
            </a:r>
            <a:r>
              <a:rPr lang="en-US" sz="2400" spc="-66" dirty="0">
                <a:solidFill>
                  <a:srgbClr val="000000"/>
                </a:solidFill>
                <a:cs typeface="Arial"/>
              </a:rPr>
              <a:t>0 and </a:t>
            </a:r>
            <a:r>
              <a:rPr lang="en-US" sz="2400" spc="-3" dirty="0">
                <a:solidFill>
                  <a:srgbClr val="000000"/>
                </a:solidFill>
                <a:cs typeface="Arial"/>
              </a:rPr>
              <a:t>further  </a:t>
            </a:r>
            <a:r>
              <a:rPr lang="en-US" sz="2400" spc="-59" dirty="0">
                <a:solidFill>
                  <a:srgbClr val="000000"/>
                </a:solidFill>
                <a:cs typeface="Arial"/>
              </a:rPr>
              <a:t>updates </a:t>
            </a:r>
            <a:r>
              <a:rPr lang="en-US" sz="2400" spc="-43" dirty="0">
                <a:solidFill>
                  <a:srgbClr val="000000"/>
                </a:solidFill>
                <a:cs typeface="Arial"/>
              </a:rPr>
              <a:t>do </a:t>
            </a:r>
            <a:r>
              <a:rPr lang="en-US" sz="2400" spc="-3" dirty="0">
                <a:solidFill>
                  <a:srgbClr val="000000"/>
                </a:solidFill>
                <a:cs typeface="Arial"/>
              </a:rPr>
              <a:t>not </a:t>
            </a:r>
            <a:r>
              <a:rPr lang="en-US" sz="2400" spc="-83" dirty="0">
                <a:solidFill>
                  <a:srgbClr val="000000"/>
                </a:solidFill>
                <a:cs typeface="Arial"/>
              </a:rPr>
              <a:t>change </a:t>
            </a:r>
            <a:r>
              <a:rPr lang="en-US" sz="2400" spc="-10" dirty="0">
                <a:solidFill>
                  <a:srgbClr val="000000"/>
                </a:solidFill>
                <a:cs typeface="Arial"/>
              </a:rPr>
              <a:t>the</a:t>
            </a:r>
            <a:r>
              <a:rPr lang="en-US" sz="2400" spc="-185" dirty="0">
                <a:solidFill>
                  <a:srgbClr val="000000"/>
                </a:solidFill>
                <a:cs typeface="Arial"/>
              </a:rPr>
              <a:t> </a:t>
            </a:r>
            <a:r>
              <a:rPr lang="en-US" sz="2400" spc="-47" dirty="0">
                <a:solidFill>
                  <a:srgbClr val="000000"/>
                </a:solidFill>
                <a:cs typeface="Arial"/>
              </a:rPr>
              <a:t>estimate</a:t>
            </a:r>
          </a:p>
          <a:p>
            <a:pPr marL="634966" marR="1653236" lvl="1" indent="-226931" defTabSz="685800">
              <a:spcBef>
                <a:spcPts val="380"/>
              </a:spcBef>
              <a:buFontTx/>
              <a:buChar char="•"/>
              <a:tabLst>
                <a:tab pos="234916" algn="l"/>
                <a:tab pos="235336" algn="l"/>
              </a:tabLst>
            </a:pPr>
            <a:endParaRPr lang="en-US" sz="2400" dirty="0">
              <a:solidFill>
                <a:srgbClr val="000000"/>
              </a:solidFill>
              <a:cs typeface="Arial"/>
            </a:endParaRPr>
          </a:p>
          <a:p>
            <a:pPr marL="234916" marR="1856633" indent="-226931" defTabSz="685800">
              <a:spcBef>
                <a:spcPts val="539"/>
              </a:spcBef>
              <a:buFontTx/>
              <a:buChar char="•"/>
              <a:tabLst>
                <a:tab pos="234916" algn="l"/>
                <a:tab pos="235336" algn="l"/>
              </a:tabLst>
            </a:pPr>
            <a:r>
              <a:rPr lang="en-US" sz="2400" spc="-110" dirty="0">
                <a:solidFill>
                  <a:srgbClr val="000000"/>
                </a:solidFill>
                <a:cs typeface="Arial"/>
              </a:rPr>
              <a:t>The </a:t>
            </a:r>
            <a:r>
              <a:rPr lang="en-US" sz="2400" spc="-30" dirty="0">
                <a:solidFill>
                  <a:srgbClr val="000000"/>
                </a:solidFill>
                <a:cs typeface="Arial"/>
              </a:rPr>
              <a:t>algorithm </a:t>
            </a:r>
            <a:r>
              <a:rPr lang="en-US" sz="2400" spc="-89" dirty="0">
                <a:solidFill>
                  <a:srgbClr val="000000"/>
                </a:solidFill>
                <a:cs typeface="Arial"/>
              </a:rPr>
              <a:t>may </a:t>
            </a:r>
            <a:r>
              <a:rPr lang="en-US" sz="2400" dirty="0">
                <a:solidFill>
                  <a:srgbClr val="000000"/>
                </a:solidFill>
                <a:cs typeface="Arial"/>
              </a:rPr>
              <a:t>not</a:t>
            </a:r>
            <a:r>
              <a:rPr lang="en-US" sz="2400" spc="-122" dirty="0">
                <a:solidFill>
                  <a:srgbClr val="000000"/>
                </a:solidFill>
                <a:cs typeface="Arial"/>
              </a:rPr>
              <a:t> </a:t>
            </a:r>
            <a:r>
              <a:rPr lang="en-US" sz="2400" spc="-83" dirty="0">
                <a:solidFill>
                  <a:srgbClr val="000000"/>
                </a:solidFill>
                <a:cs typeface="Arial"/>
              </a:rPr>
              <a:t>converge</a:t>
            </a:r>
            <a:endParaRPr lang="en-US" sz="2400" dirty="0">
              <a:solidFill>
                <a:srgbClr val="000000"/>
              </a:solidFill>
              <a:cs typeface="Arial"/>
            </a:endParaRPr>
          </a:p>
          <a:p>
            <a:pPr marL="634966" marR="1856633" lvl="1" indent="-226931" defTabSz="685800">
              <a:spcBef>
                <a:spcPts val="539"/>
              </a:spcBef>
              <a:buFontTx/>
              <a:buChar char="•"/>
              <a:tabLst>
                <a:tab pos="234916" algn="l"/>
                <a:tab pos="235336" algn="l"/>
              </a:tabLst>
            </a:pPr>
            <a:r>
              <a:rPr lang="en-US" sz="2400" spc="17" dirty="0">
                <a:solidFill>
                  <a:srgbClr val="000000"/>
                </a:solidFill>
                <a:cs typeface="Arial"/>
              </a:rPr>
              <a:t>It </a:t>
            </a:r>
            <a:r>
              <a:rPr lang="en-US" sz="2400" spc="-80" dirty="0">
                <a:solidFill>
                  <a:srgbClr val="000000"/>
                </a:solidFill>
                <a:cs typeface="Arial"/>
              </a:rPr>
              <a:t>may </a:t>
            </a:r>
            <a:r>
              <a:rPr lang="en-US" sz="2400" spc="14" dirty="0">
                <a:solidFill>
                  <a:srgbClr val="000000"/>
                </a:solidFill>
                <a:cs typeface="Arial"/>
              </a:rPr>
              <a:t>jitter </a:t>
            </a:r>
            <a:r>
              <a:rPr lang="en-US" sz="2400" spc="-47" dirty="0">
                <a:solidFill>
                  <a:srgbClr val="000000"/>
                </a:solidFill>
                <a:cs typeface="Arial"/>
              </a:rPr>
              <a:t>around </a:t>
            </a:r>
            <a:r>
              <a:rPr lang="en-US" sz="2400" spc="-17" dirty="0">
                <a:solidFill>
                  <a:srgbClr val="000000"/>
                </a:solidFill>
                <a:cs typeface="Arial"/>
              </a:rPr>
              <a:t>the</a:t>
            </a:r>
            <a:r>
              <a:rPr lang="en-US" sz="2400" spc="-275" dirty="0">
                <a:solidFill>
                  <a:srgbClr val="000000"/>
                </a:solidFill>
                <a:cs typeface="Arial"/>
              </a:rPr>
              <a:t> </a:t>
            </a:r>
            <a:r>
              <a:rPr lang="en-US" sz="2400" spc="-47" dirty="0">
                <a:solidFill>
                  <a:srgbClr val="000000"/>
                </a:solidFill>
                <a:cs typeface="Arial"/>
              </a:rPr>
              <a:t>local  </a:t>
            </a:r>
            <a:r>
              <a:rPr lang="en-US" sz="2400" spc="-30" dirty="0">
                <a:solidFill>
                  <a:srgbClr val="000000"/>
                </a:solidFill>
                <a:cs typeface="Arial"/>
              </a:rPr>
              <a:t>minimum</a:t>
            </a:r>
            <a:endParaRPr lang="en-US" sz="2400" dirty="0">
              <a:solidFill>
                <a:srgbClr val="000000"/>
              </a:solidFill>
              <a:cs typeface="Arial"/>
            </a:endParaRPr>
          </a:p>
          <a:p>
            <a:pPr marL="634966" marR="1856633" lvl="1" indent="-226931" defTabSz="685800">
              <a:spcBef>
                <a:spcPts val="539"/>
              </a:spcBef>
              <a:buFontTx/>
              <a:buChar char="•"/>
              <a:tabLst>
                <a:tab pos="234916" algn="l"/>
                <a:tab pos="235336" algn="l"/>
              </a:tabLst>
            </a:pPr>
            <a:r>
              <a:rPr lang="en-US" sz="2400" spc="17" dirty="0">
                <a:solidFill>
                  <a:srgbClr val="000000"/>
                </a:solidFill>
                <a:cs typeface="Arial"/>
              </a:rPr>
              <a:t>It </a:t>
            </a:r>
            <a:r>
              <a:rPr lang="en-US" sz="2400" spc="-80" dirty="0">
                <a:solidFill>
                  <a:srgbClr val="000000"/>
                </a:solidFill>
                <a:cs typeface="Arial"/>
              </a:rPr>
              <a:t>may </a:t>
            </a:r>
            <a:r>
              <a:rPr lang="en-US" sz="2400" spc="-73" dirty="0">
                <a:solidFill>
                  <a:srgbClr val="000000"/>
                </a:solidFill>
                <a:cs typeface="Arial"/>
              </a:rPr>
              <a:t>even</a:t>
            </a:r>
            <a:r>
              <a:rPr lang="en-US" sz="2400" spc="-188" dirty="0">
                <a:solidFill>
                  <a:srgbClr val="000000"/>
                </a:solidFill>
                <a:cs typeface="Arial"/>
              </a:rPr>
              <a:t> </a:t>
            </a:r>
            <a:r>
              <a:rPr lang="en-US" sz="2400" spc="-56" dirty="0">
                <a:solidFill>
                  <a:srgbClr val="000000"/>
                </a:solidFill>
                <a:cs typeface="Arial"/>
              </a:rPr>
              <a:t>diverge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DE9B6A4-4CBC-4C60-9CF7-8D11BED905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624" t="30741" r="22581" b="9045"/>
          <a:stretch/>
        </p:blipFill>
        <p:spPr>
          <a:xfrm>
            <a:off x="6703789" y="1600200"/>
            <a:ext cx="1834124" cy="485502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F15FE6D-E68B-4541-99DD-EC097F6C2C6C}"/>
              </a:ext>
            </a:extLst>
          </p:cNvPr>
          <p:cNvSpPr txBox="1"/>
          <p:nvPr/>
        </p:nvSpPr>
        <p:spPr>
          <a:xfrm>
            <a:off x="0" y="6611779"/>
            <a:ext cx="7777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000" dirty="0" err="1">
                <a:solidFill>
                  <a:srgbClr val="000000"/>
                </a:solidFill>
                <a:latin typeface="Garamond" panose="02020404030301010803" pitchFamily="18" charset="0"/>
              </a:rPr>
              <a:t>Bhiksha</a:t>
            </a:r>
            <a:r>
              <a:rPr lang="en-US" sz="1000" dirty="0">
                <a:solidFill>
                  <a:srgbClr val="000000"/>
                </a:solidFill>
                <a:latin typeface="Garamond" panose="02020404030301010803" pitchFamily="18" charset="0"/>
              </a:rPr>
              <a:t> Raj</a:t>
            </a:r>
            <a:endParaRPr lang="en-US" sz="1000" dirty="0">
              <a:solidFill>
                <a:prstClr val="black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1480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B8DC5-E198-4656-9E1B-59512750C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Convergence and convergence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A046A-1AB4-48CB-9B39-39826E2EA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5605" indent="-457200" defTabSz="685800">
              <a:spcBef>
                <a:spcPts val="347"/>
              </a:spcBef>
              <a:tabLst>
                <a:tab pos="234916" algn="l"/>
                <a:tab pos="235336" algn="l"/>
              </a:tabLst>
            </a:pPr>
            <a:r>
              <a:rPr lang="en-US" dirty="0">
                <a:solidFill>
                  <a:srgbClr val="000000"/>
                </a:solidFill>
                <a:cs typeface="Arial"/>
              </a:rPr>
              <a:t>Convergence rate: how fast iterations arrive at the solution</a:t>
            </a:r>
          </a:p>
          <a:p>
            <a:pPr marL="465605" indent="-457200" defTabSz="685800">
              <a:spcBef>
                <a:spcPts val="347"/>
              </a:spcBef>
              <a:tabLst>
                <a:tab pos="234916" algn="l"/>
                <a:tab pos="235336" algn="l"/>
              </a:tabLst>
            </a:pPr>
            <a:r>
              <a:rPr lang="en-US" dirty="0">
                <a:solidFill>
                  <a:srgbClr val="000000"/>
                </a:solidFill>
                <a:cs typeface="Arial"/>
              </a:rPr>
              <a:t>Generally quantified as: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R is a constant (or upper-bounded): convergence is linear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5148D7-A3D9-4AFF-9C16-7314C5B201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947" t="47372" r="42473" b="34851"/>
          <a:stretch/>
        </p:blipFill>
        <p:spPr>
          <a:xfrm>
            <a:off x="2825371" y="3282919"/>
            <a:ext cx="3279534" cy="14523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E4CD33-52FF-40CA-A442-AC03F74890F9}"/>
              </a:ext>
            </a:extLst>
          </p:cNvPr>
          <p:cNvSpPr txBox="1"/>
          <p:nvPr/>
        </p:nvSpPr>
        <p:spPr>
          <a:xfrm>
            <a:off x="0" y="6611779"/>
            <a:ext cx="15488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000" dirty="0">
                <a:solidFill>
                  <a:srgbClr val="000000"/>
                </a:solidFill>
                <a:latin typeface="Garamond" panose="02020404030301010803" pitchFamily="18" charset="0"/>
              </a:rPr>
              <a:t>Adapted from </a:t>
            </a:r>
            <a:r>
              <a:rPr lang="en-US" sz="1000" dirty="0" err="1">
                <a:solidFill>
                  <a:srgbClr val="000000"/>
                </a:solidFill>
                <a:latin typeface="Garamond" panose="02020404030301010803" pitchFamily="18" charset="0"/>
              </a:rPr>
              <a:t>Bhiksha</a:t>
            </a:r>
            <a:r>
              <a:rPr lang="en-US" sz="1000" dirty="0">
                <a:solidFill>
                  <a:srgbClr val="000000"/>
                </a:solidFill>
                <a:latin typeface="Garamond" panose="02020404030301010803" pitchFamily="18" charset="0"/>
              </a:rPr>
              <a:t> Raj</a:t>
            </a:r>
            <a:endParaRPr lang="en-US" sz="1000" dirty="0">
              <a:solidFill>
                <a:prstClr val="black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561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580F5-2CA4-4DD0-9958-C2EFA178E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non-optimal step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4BEAA-746F-46C8-9336-9F193B6FF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AC1344-C7E1-4289-940E-E6255B0F18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107" t="31697" r="15700" b="14445"/>
          <a:stretch/>
        </p:blipFill>
        <p:spPr>
          <a:xfrm>
            <a:off x="527957" y="1600199"/>
            <a:ext cx="8088086" cy="45214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FE8492-855F-4B6B-BE28-C4880750C894}"/>
              </a:ext>
            </a:extLst>
          </p:cNvPr>
          <p:cNvSpPr txBox="1"/>
          <p:nvPr/>
        </p:nvSpPr>
        <p:spPr>
          <a:xfrm>
            <a:off x="0" y="6611779"/>
            <a:ext cx="7777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1000" dirty="0" err="1">
                <a:solidFill>
                  <a:srgbClr val="000000"/>
                </a:solidFill>
                <a:latin typeface="Garamond" panose="02020404030301010803" pitchFamily="18" charset="0"/>
              </a:rPr>
              <a:t>Bhiksha</a:t>
            </a:r>
            <a:r>
              <a:rPr lang="en-US" sz="1000" dirty="0">
                <a:solidFill>
                  <a:srgbClr val="000000"/>
                </a:solidFill>
                <a:latin typeface="Garamond" panose="02020404030301010803" pitchFamily="18" charset="0"/>
              </a:rPr>
              <a:t> Raj</a:t>
            </a:r>
            <a:endParaRPr lang="en-US" sz="1000" dirty="0">
              <a:solidFill>
                <a:prstClr val="black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246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33A38-ECC2-486F-9EE0-CCAEBDAFE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0"/>
          </a:xfrm>
        </p:spPr>
        <p:txBody>
          <a:bodyPr>
            <a:normAutofit/>
          </a:bodyPr>
          <a:lstStyle/>
          <a:p>
            <a:r>
              <a:rPr lang="en-US" sz="5400" dirty="0"/>
              <a:t>Optimization strategies</a:t>
            </a:r>
          </a:p>
        </p:txBody>
      </p:sp>
    </p:spTree>
    <p:extLst>
      <p:ext uri="{BB962C8B-B14F-4D97-AF65-F5344CB8AC3E}">
        <p14:creationId xmlns:p14="http://schemas.microsoft.com/office/powerpoint/2010/main" val="2452503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CE280-21DB-42E0-98E2-025565DAF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to the minimum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9F13E-ECF7-41EA-A71A-15C8BDEE0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Gradient descent is just one strategy, but has several problems</a:t>
            </a:r>
          </a:p>
          <a:p>
            <a:r>
              <a:rPr lang="en-US" dirty="0"/>
              <a:t>What other “steps” can we take? </a:t>
            </a:r>
          </a:p>
          <a:p>
            <a:r>
              <a:rPr lang="en-US" dirty="0"/>
              <a:t>How far in the direction of decreasing gradient do we go? With what speed/acceleration?</a:t>
            </a:r>
          </a:p>
          <a:p>
            <a:r>
              <a:rPr lang="en-US" dirty="0"/>
              <a:t>What about overshooting minima?</a:t>
            </a:r>
          </a:p>
        </p:txBody>
      </p:sp>
    </p:spTree>
    <p:extLst>
      <p:ext uri="{BB962C8B-B14F-4D97-AF65-F5344CB8AC3E}">
        <p14:creationId xmlns:p14="http://schemas.microsoft.com/office/powerpoint/2010/main" val="4277289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03275" y="2704096"/>
            <a:ext cx="5480013" cy="1283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04588" y="2189765"/>
            <a:ext cx="2076615" cy="20766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78662" y="4333642"/>
            <a:ext cx="2332990" cy="0"/>
          </a:xfrm>
          <a:custGeom>
            <a:avLst/>
            <a:gdLst/>
            <a:ahLst/>
            <a:cxnLst/>
            <a:rect l="l" t="t" r="r" b="b"/>
            <a:pathLst>
              <a:path w="2332990">
                <a:moveTo>
                  <a:pt x="0" y="0"/>
                </a:moveTo>
                <a:lnTo>
                  <a:pt x="2332870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711533" y="4317918"/>
            <a:ext cx="43815" cy="31750"/>
          </a:xfrm>
          <a:custGeom>
            <a:avLst/>
            <a:gdLst/>
            <a:ahLst/>
            <a:cxnLst/>
            <a:rect l="l" t="t" r="r" b="b"/>
            <a:pathLst>
              <a:path w="43815" h="31750">
                <a:moveTo>
                  <a:pt x="0" y="31449"/>
                </a:moveTo>
                <a:lnTo>
                  <a:pt x="0" y="0"/>
                </a:lnTo>
                <a:lnTo>
                  <a:pt x="43224" y="15724"/>
                </a:lnTo>
                <a:lnTo>
                  <a:pt x="0" y="314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711533" y="4317918"/>
            <a:ext cx="43815" cy="31750"/>
          </a:xfrm>
          <a:custGeom>
            <a:avLst/>
            <a:gdLst/>
            <a:ahLst/>
            <a:cxnLst/>
            <a:rect l="l" t="t" r="r" b="b"/>
            <a:pathLst>
              <a:path w="43815" h="31750">
                <a:moveTo>
                  <a:pt x="0" y="31449"/>
                </a:moveTo>
                <a:lnTo>
                  <a:pt x="43224" y="15724"/>
                </a:lnTo>
                <a:lnTo>
                  <a:pt x="0" y="0"/>
                </a:lnTo>
                <a:lnTo>
                  <a:pt x="0" y="314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41692" y="4354019"/>
            <a:ext cx="495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W_1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29837" y="2067366"/>
            <a:ext cx="0" cy="2266315"/>
          </a:xfrm>
          <a:custGeom>
            <a:avLst/>
            <a:gdLst/>
            <a:ahLst/>
            <a:cxnLst/>
            <a:rect l="l" t="t" r="r" b="b"/>
            <a:pathLst>
              <a:path h="2266315">
                <a:moveTo>
                  <a:pt x="0" y="2266277"/>
                </a:moveTo>
                <a:lnTo>
                  <a:pt x="0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314112" y="2024141"/>
            <a:ext cx="31750" cy="43815"/>
          </a:xfrm>
          <a:custGeom>
            <a:avLst/>
            <a:gdLst/>
            <a:ahLst/>
            <a:cxnLst/>
            <a:rect l="l" t="t" r="r" b="b"/>
            <a:pathLst>
              <a:path w="31750" h="43815">
                <a:moveTo>
                  <a:pt x="31474" y="43224"/>
                </a:moveTo>
                <a:lnTo>
                  <a:pt x="0" y="43224"/>
                </a:lnTo>
                <a:lnTo>
                  <a:pt x="15724" y="0"/>
                </a:lnTo>
                <a:lnTo>
                  <a:pt x="31474" y="43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314112" y="2024141"/>
            <a:ext cx="31750" cy="43815"/>
          </a:xfrm>
          <a:custGeom>
            <a:avLst/>
            <a:gdLst/>
            <a:ahLst/>
            <a:cxnLst/>
            <a:rect l="l" t="t" r="r" b="b"/>
            <a:pathLst>
              <a:path w="31750" h="43815">
                <a:moveTo>
                  <a:pt x="31474" y="43224"/>
                </a:moveTo>
                <a:lnTo>
                  <a:pt x="15724" y="0"/>
                </a:lnTo>
                <a:lnTo>
                  <a:pt x="0" y="43224"/>
                </a:lnTo>
                <a:lnTo>
                  <a:pt x="31474" y="43224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67649" y="1966440"/>
            <a:ext cx="495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W_2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628421" y="3929906"/>
            <a:ext cx="159174" cy="15917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647161" y="2210532"/>
            <a:ext cx="1008380" cy="1746250"/>
          </a:xfrm>
          <a:custGeom>
            <a:avLst/>
            <a:gdLst/>
            <a:ahLst/>
            <a:cxnLst/>
            <a:rect l="l" t="t" r="r" b="b"/>
            <a:pathLst>
              <a:path w="1008379" h="1746250">
                <a:moveTo>
                  <a:pt x="1007922" y="1746036"/>
                </a:moveTo>
                <a:lnTo>
                  <a:pt x="0" y="0"/>
                </a:lnTo>
              </a:path>
            </a:pathLst>
          </a:custGeom>
          <a:ln w="28574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525936" y="3746744"/>
            <a:ext cx="148199" cy="22887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7925" y="5574843"/>
            <a:ext cx="8875395" cy="273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253355" algn="l"/>
                <a:tab pos="7310755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Fei-Fei Li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&amp; Justin Johnson &amp;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Serena Yeung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 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7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April 24,</a:t>
            </a:r>
            <a:r>
              <a:rPr kumimoji="0" sz="3000" b="0" i="0" u="none" strike="noStrike" kern="1200" cap="none" spc="-142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2018</a:t>
            </a:r>
            <a:endParaRPr kumimoji="0" sz="3000" b="0" i="0" u="none" strike="noStrike" kern="1200" cap="none" spc="0" normalizeH="0" baseline="-4166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5399118" y="4704893"/>
            <a:ext cx="1592579" cy="318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23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-7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Lecture </a:t>
            </a:r>
            <a:r>
              <a:rPr kumimoji="0" lang="en-US" sz="3000" b="0" i="0" u="none" strike="noStrike" kern="1200" cap="none" spc="0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7 -</a:t>
            </a:r>
            <a:r>
              <a:rPr kumimoji="0" lang="en-US" sz="3000" b="0" i="0" u="none" strike="noStrike" kern="1200" cap="none" spc="-277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fld id="{81D60167-4931-47E6-BA6A-407CBD079E47}" type="slidenum">
              <a:rPr kumimoji="0" sz="2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pPr marL="12700" marR="0" lvl="0" indent="0" algn="l" defTabSz="914400" rtl="0" eaLnBrk="1" fontAlgn="auto" latinLnBrk="0" hangingPunct="1">
                <a:lnSpc>
                  <a:spcPts val="23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xfrm>
            <a:off x="7456513" y="4704893"/>
            <a:ext cx="159004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April 24,</a:t>
            </a:r>
            <a:r>
              <a:rPr kumimoji="0" lang="en-US" sz="2000" b="0" i="0" u="none" strike="noStrike" kern="1200" cap="none" spc="-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2018</a:t>
            </a:r>
            <a:endParaRPr kumimoji="0" sz="2000" b="0" i="0" u="none" strike="noStrike" kern="1200" cap="none" spc="-5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xfrm>
            <a:off x="145224" y="4709647"/>
            <a:ext cx="451485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20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Fei-Fei Li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&amp; Justin Johnson &amp; </a:t>
            </a: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Serena</a:t>
            </a:r>
            <a:r>
              <a:rPr kumimoji="0" lang="en-US" sz="1800" b="0" i="0" u="none" strike="noStrike" kern="1200" cap="none" spc="-1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Yeung</a:t>
            </a:r>
            <a:endParaRPr kumimoji="0" sz="1800" b="0" i="0" u="none" strike="noStrike" kern="1200" cap="none" spc="-5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F09EB3CE-FD8C-4A6A-B539-A5E8074E8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6E2FFA-3E9F-48FE-B8E7-EA01D52AA068}"/>
              </a:ext>
            </a:extLst>
          </p:cNvPr>
          <p:cNvSpPr txBox="1"/>
          <p:nvPr/>
        </p:nvSpPr>
        <p:spPr>
          <a:xfrm>
            <a:off x="0" y="6604084"/>
            <a:ext cx="32832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, Justin Johnson, Serena Yeung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91836" y="2980709"/>
            <a:ext cx="8200708" cy="16553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8023" y="1896412"/>
            <a:ext cx="6843395" cy="562526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699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What if loss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changes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quickly in one direction and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slowly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in another?  What does gradient descent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do?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7925" y="5574843"/>
            <a:ext cx="8875395" cy="273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253355" algn="l"/>
                <a:tab pos="7310755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Fei-Fei Li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&amp; Justin Johnson &amp;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Serena Yeung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 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7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April 24,</a:t>
            </a:r>
            <a:r>
              <a:rPr kumimoji="0" sz="3000" b="0" i="0" u="none" strike="noStrike" kern="1200" cap="none" spc="-142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2018</a:t>
            </a:r>
            <a:endParaRPr kumimoji="0" sz="3000" b="0" i="0" u="none" strike="noStrike" kern="1200" cap="none" spc="0" normalizeH="0" baseline="-4166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2" name="object 2">
            <a:extLst>
              <a:ext uri="{FF2B5EF4-FFF2-40B4-BE49-F238E27FC236}">
                <a16:creationId xmlns:a16="http://schemas.microsoft.com/office/drawing/2014/main" id="{DCD021B1-5E86-4BE3-9953-A0AF55C02F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62618"/>
            <a:ext cx="8229600" cy="1367041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/>
              <a:t>Optimization: </a:t>
            </a:r>
            <a:br>
              <a:rPr lang="en-US" spc="-10" dirty="0"/>
            </a:br>
            <a:r>
              <a:rPr spc="-10" dirty="0"/>
              <a:t>Problems </a:t>
            </a:r>
            <a:r>
              <a:rPr spc="-5" dirty="0"/>
              <a:t>with</a:t>
            </a:r>
            <a:r>
              <a:rPr spc="-85" dirty="0"/>
              <a:t> </a:t>
            </a:r>
            <a:r>
              <a:rPr spc="-5" dirty="0"/>
              <a:t>SGD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37F5E7-6E2C-4BC5-A583-5DCE4185BFAA}"/>
              </a:ext>
            </a:extLst>
          </p:cNvPr>
          <p:cNvSpPr txBox="1"/>
          <p:nvPr/>
        </p:nvSpPr>
        <p:spPr>
          <a:xfrm>
            <a:off x="0" y="6604084"/>
            <a:ext cx="32832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, Justin Johnson, Serena Yeung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91836" y="2980709"/>
            <a:ext cx="8200708" cy="16553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8023" y="1896413"/>
            <a:ext cx="7249795" cy="85216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410845" lvl="0" indent="0" algn="l" defTabSz="914400" rtl="0" eaLnBrk="1" fontAlgn="auto" latinLnBrk="0" hangingPunct="1">
              <a:lnSpc>
                <a:spcPct val="100699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cs typeface="Arial"/>
              </a:rPr>
              <a:t>What if loss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cs typeface="Arial"/>
              </a:rPr>
              <a:t>changes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cs typeface="Arial"/>
              </a:rPr>
              <a:t>quickly in one direction and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cs typeface="Arial"/>
              </a:rPr>
              <a:t>slowly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cs typeface="Arial"/>
              </a:rPr>
              <a:t>in another?  What does gradient descent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cs typeface="Arial"/>
              </a:rPr>
              <a:t>do?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cs typeface="Arial"/>
              </a:rPr>
              <a:t>Very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cs typeface="Arial"/>
              </a:rPr>
              <a:t>slow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cs typeface="Arial"/>
              </a:rPr>
              <a:t>progress along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cs typeface="Arial"/>
              </a:rPr>
              <a:t>shallow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cs typeface="Arial"/>
              </a:rPr>
              <a:t>dimension, jitter along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cs typeface="Arial"/>
              </a:rPr>
              <a:t>steep</a:t>
            </a:r>
            <a:r>
              <a:rPr kumimoji="0" sz="1800" b="0" i="0" u="none" strike="noStrike" kern="1200" cap="none" spc="-9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cs typeface="Arial"/>
              </a:rPr>
              <a:t>direction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7925" y="5574843"/>
            <a:ext cx="887539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253355" algn="l"/>
                <a:tab pos="7310755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Fei-Fei Li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&amp; Justin Johnson &amp;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Serena Yeung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Lecture 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7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-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April 24,</a:t>
            </a:r>
            <a:r>
              <a:rPr kumimoji="0" sz="3000" b="0" i="0" u="none" strike="noStrike" kern="1200" cap="none" spc="-142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2018</a:t>
            </a:r>
            <a:endParaRPr kumimoji="0" sz="3000" b="0" i="0" u="none" strike="noStrike" kern="1200" cap="none" spc="0" normalizeH="0" baseline="-4166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2" name="object 2">
            <a:extLst>
              <a:ext uri="{FF2B5EF4-FFF2-40B4-BE49-F238E27FC236}">
                <a16:creationId xmlns:a16="http://schemas.microsoft.com/office/drawing/2014/main" id="{B36D3E10-6071-4827-AA7A-363E473721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62618"/>
            <a:ext cx="8229600" cy="1367041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/>
              <a:t>Optimization: </a:t>
            </a:r>
            <a:br>
              <a:rPr lang="en-US" spc="-10" dirty="0"/>
            </a:br>
            <a:r>
              <a:rPr spc="-10" dirty="0"/>
              <a:t>Problems </a:t>
            </a:r>
            <a:r>
              <a:rPr spc="-5" dirty="0"/>
              <a:t>with</a:t>
            </a:r>
            <a:r>
              <a:rPr spc="-85" dirty="0"/>
              <a:t> </a:t>
            </a:r>
            <a:r>
              <a:rPr spc="-5" dirty="0"/>
              <a:t>SGD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323993-7072-1C50-CE6E-E01FC983E26A}"/>
              </a:ext>
            </a:extLst>
          </p:cNvPr>
          <p:cNvSpPr txBox="1"/>
          <p:nvPr/>
        </p:nvSpPr>
        <p:spPr>
          <a:xfrm>
            <a:off x="0" y="6604084"/>
            <a:ext cx="32832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, Justin Johnson, Serena Yeung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02449" y="2287451"/>
            <a:ext cx="2277745" cy="298556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5244" lvl="0" indent="0" algn="l" defTabSz="914400" rtl="0" eaLnBrk="1" fontAlgn="auto" latinLnBrk="0" hangingPunct="1">
              <a:lnSpc>
                <a:spcPts val="2850"/>
              </a:lnSpc>
              <a:spcBef>
                <a:spcPts val="21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What if the loss  function has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 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local minima</a:t>
            </a:r>
            <a:r>
              <a:rPr kumimoji="0" sz="2400" b="1" i="0" u="none" strike="noStrike" kern="1200" cap="none" spc="-7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or 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saddle</a:t>
            </a:r>
            <a:r>
              <a:rPr kumimoji="0" sz="2400" b="1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point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?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2700" marR="508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Zero gradient,  gradient</a:t>
            </a:r>
            <a:r>
              <a:rPr kumimoji="0" sz="2400" b="0" i="0" u="none" strike="noStrike" kern="1200" cap="none" spc="-9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descent  gets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stuck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51640" y="1934310"/>
            <a:ext cx="3091180" cy="1528445"/>
          </a:xfrm>
          <a:custGeom>
            <a:avLst/>
            <a:gdLst/>
            <a:ahLst/>
            <a:cxnLst/>
            <a:rect l="l" t="t" r="r" b="b"/>
            <a:pathLst>
              <a:path w="3091179" h="1528445">
                <a:moveTo>
                  <a:pt x="0" y="72040"/>
                </a:moveTo>
                <a:lnTo>
                  <a:pt x="58906" y="67209"/>
                </a:lnTo>
                <a:lnTo>
                  <a:pt x="137560" y="54989"/>
                </a:lnTo>
                <a:lnTo>
                  <a:pt x="182887" y="47174"/>
                </a:lnTo>
                <a:lnTo>
                  <a:pt x="231466" y="38791"/>
                </a:lnTo>
                <a:lnTo>
                  <a:pt x="282734" y="30265"/>
                </a:lnTo>
                <a:lnTo>
                  <a:pt x="336130" y="22024"/>
                </a:lnTo>
                <a:lnTo>
                  <a:pt x="391091" y="14493"/>
                </a:lnTo>
                <a:lnTo>
                  <a:pt x="447056" y="8099"/>
                </a:lnTo>
                <a:lnTo>
                  <a:pt x="503463" y="3268"/>
                </a:lnTo>
                <a:lnTo>
                  <a:pt x="559749" y="426"/>
                </a:lnTo>
                <a:lnTo>
                  <a:pt x="615354" y="0"/>
                </a:lnTo>
                <a:lnTo>
                  <a:pt x="669715" y="2415"/>
                </a:lnTo>
                <a:lnTo>
                  <a:pt x="722271" y="8099"/>
                </a:lnTo>
                <a:lnTo>
                  <a:pt x="772458" y="17477"/>
                </a:lnTo>
                <a:lnTo>
                  <a:pt x="819717" y="30976"/>
                </a:lnTo>
                <a:lnTo>
                  <a:pt x="863484" y="49021"/>
                </a:lnTo>
                <a:lnTo>
                  <a:pt x="903198" y="72040"/>
                </a:lnTo>
                <a:lnTo>
                  <a:pt x="956199" y="120827"/>
                </a:lnTo>
                <a:lnTo>
                  <a:pt x="979973" y="151919"/>
                </a:lnTo>
                <a:lnTo>
                  <a:pt x="1002171" y="186895"/>
                </a:lnTo>
                <a:lnTo>
                  <a:pt x="1022973" y="225319"/>
                </a:lnTo>
                <a:lnTo>
                  <a:pt x="1042561" y="266756"/>
                </a:lnTo>
                <a:lnTo>
                  <a:pt x="1061116" y="310769"/>
                </a:lnTo>
                <a:lnTo>
                  <a:pt x="1078819" y="356922"/>
                </a:lnTo>
                <a:lnTo>
                  <a:pt x="1095852" y="404781"/>
                </a:lnTo>
                <a:lnTo>
                  <a:pt x="1112395" y="453908"/>
                </a:lnTo>
                <a:lnTo>
                  <a:pt x="1128630" y="503868"/>
                </a:lnTo>
                <a:lnTo>
                  <a:pt x="1144737" y="554225"/>
                </a:lnTo>
                <a:lnTo>
                  <a:pt x="1160899" y="604543"/>
                </a:lnTo>
                <a:lnTo>
                  <a:pt x="1177296" y="654386"/>
                </a:lnTo>
                <a:lnTo>
                  <a:pt x="1194109" y="703318"/>
                </a:lnTo>
                <a:lnTo>
                  <a:pt x="1211520" y="750904"/>
                </a:lnTo>
                <a:lnTo>
                  <a:pt x="1229710" y="796707"/>
                </a:lnTo>
                <a:lnTo>
                  <a:pt x="1248859" y="840291"/>
                </a:lnTo>
                <a:lnTo>
                  <a:pt x="1269149" y="881221"/>
                </a:lnTo>
                <a:lnTo>
                  <a:pt x="1290762" y="919061"/>
                </a:lnTo>
                <a:lnTo>
                  <a:pt x="1313877" y="953375"/>
                </a:lnTo>
                <a:lnTo>
                  <a:pt x="1338678" y="983726"/>
                </a:lnTo>
                <a:lnTo>
                  <a:pt x="1394056" y="1030799"/>
                </a:lnTo>
                <a:lnTo>
                  <a:pt x="1457046" y="1056535"/>
                </a:lnTo>
                <a:lnTo>
                  <a:pt x="1527635" y="1061473"/>
                </a:lnTo>
                <a:lnTo>
                  <a:pt x="1565811" y="1057349"/>
                </a:lnTo>
                <a:lnTo>
                  <a:pt x="1605667" y="1049381"/>
                </a:lnTo>
                <a:lnTo>
                  <a:pt x="1647020" y="1037982"/>
                </a:lnTo>
                <a:lnTo>
                  <a:pt x="1689688" y="1023565"/>
                </a:lnTo>
                <a:lnTo>
                  <a:pt x="1733491" y="1006542"/>
                </a:lnTo>
                <a:lnTo>
                  <a:pt x="1778247" y="987328"/>
                </a:lnTo>
                <a:lnTo>
                  <a:pt x="1823774" y="966334"/>
                </a:lnTo>
                <a:lnTo>
                  <a:pt x="1869890" y="943974"/>
                </a:lnTo>
                <a:lnTo>
                  <a:pt x="1916414" y="920661"/>
                </a:lnTo>
                <a:lnTo>
                  <a:pt x="1963164" y="896808"/>
                </a:lnTo>
                <a:lnTo>
                  <a:pt x="2009959" y="872829"/>
                </a:lnTo>
                <a:lnTo>
                  <a:pt x="2056617" y="849135"/>
                </a:lnTo>
                <a:lnTo>
                  <a:pt x="2102956" y="826140"/>
                </a:lnTo>
                <a:lnTo>
                  <a:pt x="2148795" y="804257"/>
                </a:lnTo>
                <a:lnTo>
                  <a:pt x="2193952" y="783899"/>
                </a:lnTo>
                <a:lnTo>
                  <a:pt x="2238246" y="765480"/>
                </a:lnTo>
                <a:lnTo>
                  <a:pt x="2281494" y="749411"/>
                </a:lnTo>
                <a:lnTo>
                  <a:pt x="2323516" y="736107"/>
                </a:lnTo>
                <a:lnTo>
                  <a:pt x="2364130" y="725980"/>
                </a:lnTo>
                <a:lnTo>
                  <a:pt x="2403154" y="719443"/>
                </a:lnTo>
                <a:lnTo>
                  <a:pt x="2440406" y="716909"/>
                </a:lnTo>
                <a:lnTo>
                  <a:pt x="2475705" y="718792"/>
                </a:lnTo>
                <a:lnTo>
                  <a:pt x="2548055" y="740329"/>
                </a:lnTo>
                <a:lnTo>
                  <a:pt x="2586259" y="761448"/>
                </a:lnTo>
                <a:lnTo>
                  <a:pt x="2623455" y="788237"/>
                </a:lnTo>
                <a:lnTo>
                  <a:pt x="2659617" y="820071"/>
                </a:lnTo>
                <a:lnTo>
                  <a:pt x="2694719" y="856327"/>
                </a:lnTo>
                <a:lnTo>
                  <a:pt x="2728736" y="896381"/>
                </a:lnTo>
                <a:lnTo>
                  <a:pt x="2761640" y="939607"/>
                </a:lnTo>
                <a:lnTo>
                  <a:pt x="2793407" y="985382"/>
                </a:lnTo>
                <a:lnTo>
                  <a:pt x="2824010" y="1033082"/>
                </a:lnTo>
                <a:lnTo>
                  <a:pt x="2853423" y="1082082"/>
                </a:lnTo>
                <a:lnTo>
                  <a:pt x="2881620" y="1131758"/>
                </a:lnTo>
                <a:lnTo>
                  <a:pt x="2908575" y="1181486"/>
                </a:lnTo>
                <a:lnTo>
                  <a:pt x="2934262" y="1230642"/>
                </a:lnTo>
                <a:lnTo>
                  <a:pt x="2958656" y="1278602"/>
                </a:lnTo>
                <a:lnTo>
                  <a:pt x="2981729" y="1324740"/>
                </a:lnTo>
                <a:lnTo>
                  <a:pt x="3003456" y="1368434"/>
                </a:lnTo>
                <a:lnTo>
                  <a:pt x="3023812" y="1409059"/>
                </a:lnTo>
                <a:lnTo>
                  <a:pt x="3042769" y="1445991"/>
                </a:lnTo>
                <a:lnTo>
                  <a:pt x="3060303" y="1478605"/>
                </a:lnTo>
                <a:lnTo>
                  <a:pt x="3076386" y="1506278"/>
                </a:lnTo>
                <a:lnTo>
                  <a:pt x="3090993" y="1528385"/>
                </a:lnTo>
              </a:path>
            </a:pathLst>
          </a:custGeom>
          <a:ln w="7619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47274" y="2792208"/>
            <a:ext cx="170924" cy="1709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352274" y="4351630"/>
            <a:ext cx="170924" cy="1709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100189" y="3641944"/>
            <a:ext cx="1361440" cy="919480"/>
          </a:xfrm>
          <a:custGeom>
            <a:avLst/>
            <a:gdLst/>
            <a:ahLst/>
            <a:cxnLst/>
            <a:rect l="l" t="t" r="r" b="b"/>
            <a:pathLst>
              <a:path w="1361439" h="919479">
                <a:moveTo>
                  <a:pt x="0" y="0"/>
                </a:moveTo>
                <a:lnTo>
                  <a:pt x="41499" y="3433"/>
                </a:lnTo>
                <a:lnTo>
                  <a:pt x="78459" y="13397"/>
                </a:lnTo>
                <a:lnTo>
                  <a:pt x="141423" y="50912"/>
                </a:lnTo>
                <a:lnTo>
                  <a:pt x="168762" y="77456"/>
                </a:lnTo>
                <a:lnTo>
                  <a:pt x="194229" y="108523"/>
                </a:lnTo>
                <a:lnTo>
                  <a:pt x="218490" y="143609"/>
                </a:lnTo>
                <a:lnTo>
                  <a:pt x="242212" y="182211"/>
                </a:lnTo>
                <a:lnTo>
                  <a:pt x="266064" y="223829"/>
                </a:lnTo>
                <a:lnTo>
                  <a:pt x="290711" y="267958"/>
                </a:lnTo>
                <a:lnTo>
                  <a:pt x="316821" y="314097"/>
                </a:lnTo>
                <a:lnTo>
                  <a:pt x="345061" y="361744"/>
                </a:lnTo>
                <a:lnTo>
                  <a:pt x="376098" y="410395"/>
                </a:lnTo>
                <a:lnTo>
                  <a:pt x="410599" y="459549"/>
                </a:lnTo>
                <a:lnTo>
                  <a:pt x="458070" y="519338"/>
                </a:lnTo>
                <a:lnTo>
                  <a:pt x="484146" y="548949"/>
                </a:lnTo>
                <a:lnTo>
                  <a:pt x="511805" y="578220"/>
                </a:lnTo>
                <a:lnTo>
                  <a:pt x="541063" y="607038"/>
                </a:lnTo>
                <a:lnTo>
                  <a:pt x="571940" y="635289"/>
                </a:lnTo>
                <a:lnTo>
                  <a:pt x="604451" y="662860"/>
                </a:lnTo>
                <a:lnTo>
                  <a:pt x="638614" y="689637"/>
                </a:lnTo>
                <a:lnTo>
                  <a:pt x="674447" y="715508"/>
                </a:lnTo>
                <a:lnTo>
                  <a:pt x="711967" y="740359"/>
                </a:lnTo>
                <a:lnTo>
                  <a:pt x="751191" y="764077"/>
                </a:lnTo>
                <a:lnTo>
                  <a:pt x="792137" y="786549"/>
                </a:lnTo>
                <a:lnTo>
                  <a:pt x="834822" y="807661"/>
                </a:lnTo>
                <a:lnTo>
                  <a:pt x="879263" y="827300"/>
                </a:lnTo>
                <a:lnTo>
                  <a:pt x="925477" y="845352"/>
                </a:lnTo>
                <a:lnTo>
                  <a:pt x="973483" y="861705"/>
                </a:lnTo>
                <a:lnTo>
                  <a:pt x="1023296" y="876246"/>
                </a:lnTo>
                <a:lnTo>
                  <a:pt x="1074935" y="888860"/>
                </a:lnTo>
                <a:lnTo>
                  <a:pt x="1128417" y="899434"/>
                </a:lnTo>
                <a:lnTo>
                  <a:pt x="1183760" y="907856"/>
                </a:lnTo>
                <a:lnTo>
                  <a:pt x="1240980" y="914012"/>
                </a:lnTo>
                <a:lnTo>
                  <a:pt x="1300095" y="917789"/>
                </a:lnTo>
                <a:lnTo>
                  <a:pt x="1361122" y="919073"/>
                </a:lnTo>
              </a:path>
            </a:pathLst>
          </a:custGeom>
          <a:ln w="7619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386188" y="4561017"/>
            <a:ext cx="1569085" cy="711200"/>
          </a:xfrm>
          <a:custGeom>
            <a:avLst/>
            <a:gdLst/>
            <a:ahLst/>
            <a:cxnLst/>
            <a:rect l="l" t="t" r="r" b="b"/>
            <a:pathLst>
              <a:path w="1569084" h="711200">
                <a:moveTo>
                  <a:pt x="0" y="0"/>
                </a:moveTo>
                <a:lnTo>
                  <a:pt x="68960" y="722"/>
                </a:lnTo>
                <a:lnTo>
                  <a:pt x="136294" y="2853"/>
                </a:lnTo>
                <a:lnTo>
                  <a:pt x="201989" y="6339"/>
                </a:lnTo>
                <a:lnTo>
                  <a:pt x="266034" y="11125"/>
                </a:lnTo>
                <a:lnTo>
                  <a:pt x="328417" y="17158"/>
                </a:lnTo>
                <a:lnTo>
                  <a:pt x="389126" y="24382"/>
                </a:lnTo>
                <a:lnTo>
                  <a:pt x="448147" y="32744"/>
                </a:lnTo>
                <a:lnTo>
                  <a:pt x="505470" y="42190"/>
                </a:lnTo>
                <a:lnTo>
                  <a:pt x="561083" y="52665"/>
                </a:lnTo>
                <a:lnTo>
                  <a:pt x="614972" y="64116"/>
                </a:lnTo>
                <a:lnTo>
                  <a:pt x="667127" y="76487"/>
                </a:lnTo>
                <a:lnTo>
                  <a:pt x="717535" y="89726"/>
                </a:lnTo>
                <a:lnTo>
                  <a:pt x="766184" y="103777"/>
                </a:lnTo>
                <a:lnTo>
                  <a:pt x="813062" y="118586"/>
                </a:lnTo>
                <a:lnTo>
                  <a:pt x="858156" y="134100"/>
                </a:lnTo>
                <a:lnTo>
                  <a:pt x="901456" y="150264"/>
                </a:lnTo>
                <a:lnTo>
                  <a:pt x="942948" y="167024"/>
                </a:lnTo>
                <a:lnTo>
                  <a:pt x="982622" y="184325"/>
                </a:lnTo>
                <a:lnTo>
                  <a:pt x="1020463" y="202114"/>
                </a:lnTo>
                <a:lnTo>
                  <a:pt x="1056462" y="220336"/>
                </a:lnTo>
                <a:lnTo>
                  <a:pt x="1090605" y="238938"/>
                </a:lnTo>
                <a:lnTo>
                  <a:pt x="1153276" y="277061"/>
                </a:lnTo>
                <a:lnTo>
                  <a:pt x="1208381" y="316051"/>
                </a:lnTo>
                <a:lnTo>
                  <a:pt x="1255822" y="355474"/>
                </a:lnTo>
                <a:lnTo>
                  <a:pt x="1300186" y="399802"/>
                </a:lnTo>
                <a:lnTo>
                  <a:pt x="1336227" y="443513"/>
                </a:lnTo>
                <a:lnTo>
                  <a:pt x="1365446" y="485990"/>
                </a:lnTo>
                <a:lnTo>
                  <a:pt x="1389340" y="526616"/>
                </a:lnTo>
                <a:lnTo>
                  <a:pt x="1409411" y="564773"/>
                </a:lnTo>
                <a:lnTo>
                  <a:pt x="1427156" y="599845"/>
                </a:lnTo>
                <a:lnTo>
                  <a:pt x="1444076" y="631214"/>
                </a:lnTo>
                <a:lnTo>
                  <a:pt x="1461670" y="658264"/>
                </a:lnTo>
                <a:lnTo>
                  <a:pt x="1481437" y="680377"/>
                </a:lnTo>
                <a:lnTo>
                  <a:pt x="1504876" y="696935"/>
                </a:lnTo>
                <a:lnTo>
                  <a:pt x="1533488" y="707323"/>
                </a:lnTo>
                <a:lnTo>
                  <a:pt x="1568771" y="710923"/>
                </a:lnTo>
              </a:path>
            </a:pathLst>
          </a:custGeom>
          <a:ln w="7619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7925" y="5574843"/>
            <a:ext cx="8875395" cy="273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253355" algn="l"/>
                <a:tab pos="7310755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Fei-Fei Li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&amp; Justin Johnson &amp;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Serena Yeung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 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7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April 24,</a:t>
            </a:r>
            <a:r>
              <a:rPr kumimoji="0" sz="3000" b="0" i="0" u="none" strike="noStrike" kern="1200" cap="none" spc="-142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2018</a:t>
            </a:r>
            <a:endParaRPr kumimoji="0" sz="3000" b="0" i="0" u="none" strike="noStrike" kern="1200" cap="none" spc="0" normalizeH="0" baseline="-4166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5399118" y="4704893"/>
            <a:ext cx="1592579" cy="318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23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-7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Lecture </a:t>
            </a:r>
            <a:r>
              <a:rPr kumimoji="0" lang="en-US" sz="3000" b="0" i="0" u="none" strike="noStrike" kern="1200" cap="none" spc="0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7 -</a:t>
            </a:r>
            <a:r>
              <a:rPr kumimoji="0" lang="en-US" sz="3000" b="0" i="0" u="none" strike="noStrike" kern="1200" cap="none" spc="-277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fld id="{81D60167-4931-47E6-BA6A-407CBD079E47}" type="slidenum">
              <a:rPr kumimoji="0" sz="2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pPr marL="12700" marR="0" lvl="0" indent="0" algn="l" defTabSz="914400" rtl="0" eaLnBrk="1" fontAlgn="auto" latinLnBrk="0" hangingPunct="1">
                <a:lnSpc>
                  <a:spcPts val="23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0EB73AA-CD2A-4E09-93AE-3719C361F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0" dirty="0"/>
              <a:t>Optimization: </a:t>
            </a:r>
            <a:br>
              <a:rPr lang="en-US" spc="-10" dirty="0"/>
            </a:br>
            <a:r>
              <a:rPr lang="en-US" spc="-10" dirty="0"/>
              <a:t>Problems </a:t>
            </a:r>
            <a:r>
              <a:rPr lang="en-US" spc="-5" dirty="0"/>
              <a:t>with</a:t>
            </a:r>
            <a:r>
              <a:rPr lang="en-US" spc="-85" dirty="0"/>
              <a:t> </a:t>
            </a:r>
            <a:r>
              <a:rPr lang="en-US" spc="-5" dirty="0"/>
              <a:t>SGD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58A98F-FCDC-44DA-9CC1-A1CE4ECA5CCC}"/>
              </a:ext>
            </a:extLst>
          </p:cNvPr>
          <p:cNvSpPr txBox="1"/>
          <p:nvPr/>
        </p:nvSpPr>
        <p:spPr>
          <a:xfrm>
            <a:off x="0" y="6604084"/>
            <a:ext cx="32832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, Justin Johnson, Serena Yeung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28191" y="1630574"/>
            <a:ext cx="3680517" cy="36805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962615" y="1681024"/>
            <a:ext cx="3630067" cy="36300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63912" y="2940271"/>
            <a:ext cx="3046202" cy="8144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1166" y="3956472"/>
            <a:ext cx="3938768" cy="75697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9049" y="2100104"/>
            <a:ext cx="3453765" cy="562526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699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Our gradients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come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from 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minibatches so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they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can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be</a:t>
            </a:r>
            <a:r>
              <a:rPr kumimoji="0" sz="1800" b="0" i="0" u="none" strike="noStrike" kern="1200" cap="none" spc="-1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noisy!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7925" y="5574843"/>
            <a:ext cx="8875395" cy="273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253355" algn="l"/>
                <a:tab pos="7310755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Fei-Fei Li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&amp; Justin Johnson &amp;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Serena Yeung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 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7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April 24,</a:t>
            </a:r>
            <a:r>
              <a:rPr kumimoji="0" sz="3000" b="0" i="0" u="none" strike="noStrike" kern="1200" cap="none" spc="-142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2018</a:t>
            </a:r>
            <a:endParaRPr kumimoji="0" sz="3000" b="0" i="0" u="none" strike="noStrike" kern="1200" cap="none" spc="0" normalizeH="0" baseline="-4166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6553200" y="7959725"/>
            <a:ext cx="2133600" cy="307777"/>
          </a:xfrm>
          <a:prstGeom prst="rect">
            <a:avLst/>
          </a:prstGeom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 marR="0" lvl="0" indent="0" algn="r" defTabSz="914400" rtl="0" eaLnBrk="1" fontAlgn="auto" latinLnBrk="0" hangingPunct="1">
              <a:lnSpc>
                <a:spcPts val="23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7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Lecture </a:t>
            </a:r>
            <a:r>
              <a:rPr kumimoji="0" sz="3000" b="0" i="0" u="none" strike="noStrike" kern="1200" cap="none" spc="0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7 -</a:t>
            </a:r>
            <a:r>
              <a:rPr kumimoji="0" sz="3000" b="0" i="0" u="none" strike="noStrike" kern="1200" cap="none" spc="-277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fld id="{81D60167-4931-47E6-BA6A-407CBD079E47}" type="slidenum"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pPr marL="12700" marR="0" lvl="0" indent="0" algn="r" defTabSz="914400" rtl="0" eaLnBrk="1" fontAlgn="auto" latinLnBrk="0" hangingPunct="1">
                <a:lnSpc>
                  <a:spcPts val="23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3124200" y="7959725"/>
            <a:ext cx="2895600" cy="294953"/>
          </a:xfrm>
          <a:prstGeom prst="rect">
            <a:avLst/>
          </a:prstGeom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April 24,</a:t>
            </a:r>
            <a:r>
              <a:rPr kumimoji="0" sz="2000" b="0" i="0" u="none" strike="noStrike" kern="1200" cap="none" spc="-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2018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457200" y="7959725"/>
            <a:ext cx="2133600" cy="807913"/>
          </a:xfrm>
          <a:prstGeom prst="rect">
            <a:avLst/>
          </a:prstGeom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0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Fei-Fei Li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&amp; Justin Johnson &amp;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Serena</a:t>
            </a:r>
            <a:r>
              <a:rPr kumimoji="0" sz="1800" b="0" i="0" u="none" strike="noStrike" kern="1200" cap="none" spc="-1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Yeung</a:t>
            </a:r>
          </a:p>
        </p:txBody>
      </p:sp>
      <p:sp>
        <p:nvSpPr>
          <p:cNvPr id="13" name="Title 13">
            <a:extLst>
              <a:ext uri="{FF2B5EF4-FFF2-40B4-BE49-F238E27FC236}">
                <a16:creationId xmlns:a16="http://schemas.microsoft.com/office/drawing/2014/main" id="{CB126EDF-70DC-4961-A5F5-1582D3E32B92}"/>
              </a:ext>
            </a:extLst>
          </p:cNvPr>
          <p:cNvSpPr txBox="1">
            <a:spLocks/>
          </p:cNvSpPr>
          <p:nvPr/>
        </p:nvSpPr>
        <p:spPr bwMode="auto">
          <a:xfrm>
            <a:off x="457200" y="169030"/>
            <a:ext cx="8229600" cy="1354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800" b="0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Optimization: </a:t>
            </a:r>
            <a:br>
              <a:rPr kumimoji="0" lang="en-US" sz="4400" b="0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</a:br>
            <a:r>
              <a:rPr kumimoji="0" lang="en-US" sz="4400" b="0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Problems </a:t>
            </a:r>
            <a:r>
              <a:rPr kumimoji="0" lang="en-US" sz="4400" b="0" i="0" u="none" strike="noStrike" kern="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with</a:t>
            </a:r>
            <a:r>
              <a:rPr kumimoji="0" lang="en-US" sz="4400" b="0" i="0" u="none" strike="noStrike" kern="0" cap="none" spc="-8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 </a:t>
            </a:r>
            <a:r>
              <a:rPr kumimoji="0" lang="en-US" sz="4400" b="0" i="0" u="none" strike="noStrike" kern="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</a:rPr>
              <a:t>SGD</a:t>
            </a: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6D766B-52DC-48FC-B68A-73C7BDF39C4C}"/>
              </a:ext>
            </a:extLst>
          </p:cNvPr>
          <p:cNvSpPr txBox="1"/>
          <p:nvPr/>
        </p:nvSpPr>
        <p:spPr>
          <a:xfrm>
            <a:off x="0" y="6604084"/>
            <a:ext cx="32832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, Justin Johnson, Serena Yeung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695025" y="1832580"/>
            <a:ext cx="685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SGD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34342" y="4509354"/>
            <a:ext cx="5344795" cy="57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marR="0" lvl="0" indent="-304165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316865" algn="l"/>
                <a:tab pos="317500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Build up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“velocity”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as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 running mean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of</a:t>
            </a:r>
            <a:r>
              <a:rPr kumimoji="0" sz="1800" b="0" i="0" u="none" strike="noStrike" kern="1200" cap="none" spc="-1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gradients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316865" marR="0" lvl="0" indent="-304165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316865" algn="l"/>
                <a:tab pos="317500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Rho gives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“friction”;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typically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rho=0.9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or</a:t>
            </a:r>
            <a:r>
              <a:rPr kumimoji="0" sz="1800" b="0" i="0" u="none" strike="noStrike" kern="120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0.99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04065" y="2486189"/>
            <a:ext cx="1794280" cy="2070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50" y="5250108"/>
            <a:ext cx="544004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Sutskever et al, 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“On </a:t>
            </a:r>
            <a:r>
              <a:rPr kumimoji="0" sz="1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the importance of initialization and 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momentum </a:t>
            </a:r>
            <a:r>
              <a:rPr kumimoji="0" sz="1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in deep learning”, ICML</a:t>
            </a:r>
            <a:r>
              <a:rPr kumimoji="0" sz="1000" b="0" i="0" u="none" strike="noStrike" kern="1200" cap="none" spc="-5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2013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11348" y="2950746"/>
            <a:ext cx="2728294" cy="9893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79772" y="1834730"/>
            <a:ext cx="23850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SGD+Momentum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21833" y="2307116"/>
            <a:ext cx="1895668" cy="55754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251590" y="2966495"/>
            <a:ext cx="2882619" cy="132652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7925" y="5574843"/>
            <a:ext cx="8875395" cy="273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253355" algn="l"/>
                <a:tab pos="7310755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Fei-Fei Li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&amp; Justin Johnson &amp;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Serena Yeung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 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7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April 24,</a:t>
            </a:r>
            <a:r>
              <a:rPr kumimoji="0" sz="3000" b="0" i="0" u="none" strike="noStrike" kern="1200" cap="none" spc="-142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2018</a:t>
            </a:r>
            <a:endParaRPr kumimoji="0" sz="3000" b="0" i="0" u="none" strike="noStrike" kern="1200" cap="none" spc="0" normalizeH="0" baseline="-4166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1034F4EE-1342-4CDF-90B4-F23D50A73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0" dirty="0"/>
              <a:t>SGD </a:t>
            </a:r>
            <a:r>
              <a:rPr lang="en-US" dirty="0"/>
              <a:t>+</a:t>
            </a:r>
            <a:r>
              <a:rPr lang="en-US" spc="-105" dirty="0"/>
              <a:t> </a:t>
            </a:r>
            <a:r>
              <a:rPr lang="en-US" dirty="0"/>
              <a:t>Momentum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7551738" y="4705350"/>
            <a:ext cx="1592262" cy="317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23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-7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Lecture </a:t>
            </a:r>
            <a:r>
              <a:rPr kumimoji="0" lang="en-US" sz="3000" b="0" i="0" u="none" strike="noStrike" kern="1200" cap="none" spc="0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7 -</a:t>
            </a:r>
            <a:r>
              <a:rPr kumimoji="0" lang="en-US" sz="3000" b="0" i="0" u="none" strike="noStrike" kern="1200" cap="none" spc="-277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fld id="{81D60167-4931-47E6-BA6A-407CBD079E47}" type="slidenum">
              <a:rPr kumimoji="0" sz="2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pPr marL="12700" marR="0" lvl="0" indent="0" algn="l" defTabSz="914400" rtl="0" eaLnBrk="1" fontAlgn="auto" latinLnBrk="0" hangingPunct="1">
                <a:lnSpc>
                  <a:spcPts val="23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4294967295"/>
          </p:nvPr>
        </p:nvSpPr>
        <p:spPr>
          <a:xfrm>
            <a:off x="7553325" y="4705350"/>
            <a:ext cx="159067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April 24,</a:t>
            </a:r>
            <a:r>
              <a:rPr kumimoji="0" lang="en-US" sz="2000" b="0" i="0" u="none" strike="noStrike" kern="1200" cap="none" spc="-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2018</a:t>
            </a:r>
            <a:endParaRPr kumimoji="0" sz="2000" b="0" i="0" u="none" strike="noStrike" kern="1200" cap="none" spc="-5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3CE418-A572-4CC5-80DA-00B02498F106}"/>
              </a:ext>
            </a:extLst>
          </p:cNvPr>
          <p:cNvSpPr txBox="1"/>
          <p:nvPr/>
        </p:nvSpPr>
        <p:spPr>
          <a:xfrm>
            <a:off x="0" y="6604084"/>
            <a:ext cx="32832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, Justin Johnson, Serena Yeung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5049" y="1715861"/>
            <a:ext cx="6207162" cy="13609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4200" y="2473272"/>
            <a:ext cx="2456815" cy="240665"/>
          </a:xfrm>
          <a:custGeom>
            <a:avLst/>
            <a:gdLst/>
            <a:ahLst/>
            <a:cxnLst/>
            <a:rect l="l" t="t" r="r" b="b"/>
            <a:pathLst>
              <a:path w="2456815" h="240664">
                <a:moveTo>
                  <a:pt x="0" y="0"/>
                </a:moveTo>
                <a:lnTo>
                  <a:pt x="2456695" y="0"/>
                </a:lnTo>
                <a:lnTo>
                  <a:pt x="2456695" y="240599"/>
                </a:lnTo>
                <a:lnTo>
                  <a:pt x="0" y="2405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91564" y="3255522"/>
            <a:ext cx="5154930" cy="140462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699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Added element-wise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scaling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of the gradient based  on the historical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sum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of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squares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in each</a:t>
            </a:r>
            <a:r>
              <a:rPr kumimoji="0" sz="1800" b="0" i="0" u="none" strike="noStrike" kern="1200" cap="none" spc="-8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dimension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2700" marR="2060575" lvl="0" indent="0" algn="l" defTabSz="914400" rtl="0" eaLnBrk="1" fontAlgn="auto" latinLnBrk="0" hangingPunct="1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“Per-parameter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learning</a:t>
            </a:r>
            <a:r>
              <a:rPr kumimoji="0" sz="1800" b="0" i="0" u="none" strike="noStrike" kern="1200" cap="none" spc="-10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rates” 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or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“adaptive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learning</a:t>
            </a:r>
            <a:r>
              <a:rPr kumimoji="0" sz="1800" b="0" i="0" u="none" strike="noStrike" kern="1200" cap="none" spc="-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rates”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7925" y="5574843"/>
            <a:ext cx="8875395" cy="273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253355" algn="l"/>
                <a:tab pos="7310755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Fei-Fei Li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&amp; Justin Johnson &amp;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Serena Yeung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 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7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April 24,</a:t>
            </a:r>
            <a:r>
              <a:rPr kumimoji="0" sz="3000" b="0" i="0" u="none" strike="noStrike" kern="1200" cap="none" spc="-142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2018</a:t>
            </a:r>
            <a:endParaRPr kumimoji="0" sz="3000" b="0" i="0" u="none" strike="noStrike" kern="1200" cap="none" spc="0" normalizeH="0" baseline="-4166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F901C85-C7F0-48F1-AA39-887526AF6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 err="1"/>
              <a:t>AdaGrad</a:t>
            </a:r>
            <a:endParaRPr lang="en-US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7551738" y="4705350"/>
            <a:ext cx="1592262" cy="317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23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-7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Lecture </a:t>
            </a:r>
            <a:r>
              <a:rPr kumimoji="0" lang="en-US" sz="3000" b="0" i="0" u="none" strike="noStrike" kern="1200" cap="none" spc="0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7 -</a:t>
            </a:r>
            <a:r>
              <a:rPr kumimoji="0" lang="en-US" sz="3000" b="0" i="0" u="none" strike="noStrike" kern="1200" cap="none" spc="-277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fld id="{81D60167-4931-47E6-BA6A-407CBD079E47}" type="slidenum">
              <a:rPr kumimoji="0" sz="2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pPr marL="12700" marR="0" lvl="0" indent="0" algn="l" defTabSz="914400" rtl="0" eaLnBrk="1" fontAlgn="auto" latinLnBrk="0" hangingPunct="1">
                <a:lnSpc>
                  <a:spcPts val="23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4294967295"/>
          </p:nvPr>
        </p:nvSpPr>
        <p:spPr>
          <a:xfrm>
            <a:off x="7553325" y="4705350"/>
            <a:ext cx="159067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April 24,</a:t>
            </a:r>
            <a:r>
              <a:rPr kumimoji="0" lang="en-US" sz="2000" b="0" i="0" u="none" strike="noStrike" kern="1200" cap="none" spc="-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2018</a:t>
            </a:r>
            <a:endParaRPr kumimoji="0" sz="2000" b="0" i="0" u="none" strike="noStrike" kern="1200" cap="none" spc="-5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4294967295"/>
          </p:nvPr>
        </p:nvSpPr>
        <p:spPr>
          <a:xfrm>
            <a:off x="0" y="4710113"/>
            <a:ext cx="451485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20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Fei-Fei Li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&amp; Justin Johnson &amp; </a:t>
            </a: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Serena</a:t>
            </a:r>
            <a:r>
              <a:rPr kumimoji="0" lang="en-US" sz="1800" b="0" i="0" u="none" strike="noStrike" kern="1200" cap="none" spc="-1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Yeung</a:t>
            </a:r>
            <a:endParaRPr kumimoji="0" sz="1800" b="0" i="0" u="none" strike="noStrike" kern="1200" cap="none" spc="-5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024" y="5300454"/>
            <a:ext cx="4659630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Duchi et al, 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“Adaptive subgradient methods </a:t>
            </a:r>
            <a:r>
              <a:rPr kumimoji="0" sz="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for online learning and 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stochastic </a:t>
            </a:r>
            <a:r>
              <a:rPr kumimoji="0" sz="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optimization”, 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JMLR</a:t>
            </a:r>
            <a:r>
              <a:rPr kumimoji="0" sz="800" b="0" i="0" u="none" strike="noStrike" kern="1200" cap="none" spc="-8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2011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937D9E-FF7D-4E6B-9343-74E0EA204168}"/>
              </a:ext>
            </a:extLst>
          </p:cNvPr>
          <p:cNvSpPr txBox="1"/>
          <p:nvPr/>
        </p:nvSpPr>
        <p:spPr>
          <a:xfrm>
            <a:off x="0" y="6604084"/>
            <a:ext cx="32832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, Justin Johnson, Serena Yeung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5049" y="1715861"/>
            <a:ext cx="6207162" cy="1360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3236" y="3133108"/>
            <a:ext cx="8200708" cy="16553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2223" y="4889447"/>
            <a:ext cx="44907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Q: What happens with</a:t>
            </a:r>
            <a:r>
              <a:rPr kumimoji="0" sz="2400" b="0" i="0" u="none" strike="noStrike" kern="1200" cap="none" spc="-9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AdaGrad?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17219" y="2749447"/>
            <a:ext cx="3113405" cy="240665"/>
          </a:xfrm>
          <a:custGeom>
            <a:avLst/>
            <a:gdLst/>
            <a:ahLst/>
            <a:cxnLst/>
            <a:rect l="l" t="t" r="r" b="b"/>
            <a:pathLst>
              <a:path w="3113404" h="240664">
                <a:moveTo>
                  <a:pt x="0" y="0"/>
                </a:moveTo>
                <a:lnTo>
                  <a:pt x="3112793" y="0"/>
                </a:lnTo>
                <a:lnTo>
                  <a:pt x="3112793" y="240599"/>
                </a:lnTo>
                <a:lnTo>
                  <a:pt x="0" y="2405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7925" y="5574843"/>
            <a:ext cx="8875395" cy="273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253355" algn="l"/>
                <a:tab pos="7310755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Fei-Fei Li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&amp; Justin Johnson &amp;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Serena Yeung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 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7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April 24,</a:t>
            </a:r>
            <a:r>
              <a:rPr kumimoji="0" sz="3000" b="0" i="0" u="none" strike="noStrike" kern="1200" cap="none" spc="-142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2018</a:t>
            </a:r>
            <a:endParaRPr kumimoji="0" sz="3000" b="0" i="0" u="none" strike="noStrike" kern="1200" cap="none" spc="0" normalizeH="0" baseline="-4166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7456513" y="4704893"/>
            <a:ext cx="159004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April 24,</a:t>
            </a:r>
            <a:r>
              <a:rPr kumimoji="0" lang="en-US" sz="2000" b="0" i="0" u="none" strike="noStrike" kern="1200" cap="none" spc="-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2018</a:t>
            </a:r>
            <a:endParaRPr kumimoji="0" sz="2000" b="0" i="0" u="none" strike="noStrike" kern="1200" cap="none" spc="-5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14" name="Title 10">
            <a:extLst>
              <a:ext uri="{FF2B5EF4-FFF2-40B4-BE49-F238E27FC236}">
                <a16:creationId xmlns:a16="http://schemas.microsoft.com/office/drawing/2014/main" id="{F4BC57CE-1E5F-44FE-B5F4-82FE3A6C5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pc="-5" dirty="0" err="1"/>
              <a:t>AdaGrad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C589BA-928E-47CA-ADD0-16BC04DB8090}"/>
              </a:ext>
            </a:extLst>
          </p:cNvPr>
          <p:cNvSpPr txBox="1"/>
          <p:nvPr/>
        </p:nvSpPr>
        <p:spPr>
          <a:xfrm>
            <a:off x="0" y="6604084"/>
            <a:ext cx="32832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, Justin Johnson, Serena Yeung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5049" y="1715861"/>
            <a:ext cx="6207162" cy="1360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3236" y="3133108"/>
            <a:ext cx="8200708" cy="16553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2223" y="4889447"/>
            <a:ext cx="44907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Q: What happens with</a:t>
            </a:r>
            <a:r>
              <a:rPr kumimoji="0" sz="2400" b="0" i="0" u="none" strike="noStrike" kern="1200" cap="none" spc="-9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AdaGrad?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17219" y="2749447"/>
            <a:ext cx="3113405" cy="240665"/>
          </a:xfrm>
          <a:custGeom>
            <a:avLst/>
            <a:gdLst/>
            <a:ahLst/>
            <a:cxnLst/>
            <a:rect l="l" t="t" r="r" b="b"/>
            <a:pathLst>
              <a:path w="3113404" h="240664">
                <a:moveTo>
                  <a:pt x="0" y="0"/>
                </a:moveTo>
                <a:lnTo>
                  <a:pt x="3112793" y="0"/>
                </a:lnTo>
                <a:lnTo>
                  <a:pt x="3112793" y="240599"/>
                </a:lnTo>
                <a:lnTo>
                  <a:pt x="0" y="2405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65287" y="4914444"/>
            <a:ext cx="3561079" cy="452881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1650"/>
              </a:lnSpc>
              <a:spcBef>
                <a:spcPts val="1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Progress along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“steep” 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directions is damped;  progress along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“flat” 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directions is</a:t>
            </a:r>
            <a:r>
              <a:rPr kumimoji="0" sz="1400" b="0" i="0" u="none" strike="noStrike" kern="1200" cap="none" spc="-8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accelerated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7925" y="5574843"/>
            <a:ext cx="8875395" cy="273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253355" algn="l"/>
                <a:tab pos="7310755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Fei-Fei Li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&amp; Justin Johnson &amp;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Serena Yeung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 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7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April 24,</a:t>
            </a:r>
            <a:r>
              <a:rPr kumimoji="0" sz="3000" b="0" i="0" u="none" strike="noStrike" kern="1200" cap="none" spc="-142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2018</a:t>
            </a:r>
            <a:endParaRPr kumimoji="0" sz="3000" b="0" i="0" u="none" strike="noStrike" kern="1200" cap="none" spc="0" normalizeH="0" baseline="-4166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7456513" y="4704893"/>
            <a:ext cx="159004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April 24,</a:t>
            </a:r>
            <a:r>
              <a:rPr kumimoji="0" lang="en-US" sz="2000" b="0" i="0" u="none" strike="noStrike" kern="1200" cap="none" spc="-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2018</a:t>
            </a:r>
            <a:endParaRPr kumimoji="0" sz="2000" b="0" i="0" u="none" strike="noStrike" kern="1200" cap="none" spc="-5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14" name="Title 10">
            <a:extLst>
              <a:ext uri="{FF2B5EF4-FFF2-40B4-BE49-F238E27FC236}">
                <a16:creationId xmlns:a16="http://schemas.microsoft.com/office/drawing/2014/main" id="{F4BC57CE-1E5F-44FE-B5F4-82FE3A6C5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pc="-5" dirty="0" err="1"/>
              <a:t>AdaGrad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C589BA-928E-47CA-ADD0-16BC04DB8090}"/>
              </a:ext>
            </a:extLst>
          </p:cNvPr>
          <p:cNvSpPr txBox="1"/>
          <p:nvPr/>
        </p:nvSpPr>
        <p:spPr>
          <a:xfrm>
            <a:off x="0" y="6604084"/>
            <a:ext cx="32832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, Justin Johnson, Serena Yeung</a:t>
            </a:r>
          </a:p>
        </p:txBody>
      </p:sp>
    </p:spTree>
    <p:extLst>
      <p:ext uri="{BB962C8B-B14F-4D97-AF65-F5344CB8AC3E}">
        <p14:creationId xmlns:p14="http://schemas.microsoft.com/office/powerpoint/2010/main" val="42553212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760559" y="3817920"/>
            <a:ext cx="6291162" cy="11601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60560" y="1885648"/>
            <a:ext cx="5622863" cy="12328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9340" y="2233558"/>
            <a:ext cx="1243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AdaGrad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263" y="4188075"/>
            <a:ext cx="13462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RMSProp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31993" y="3223546"/>
            <a:ext cx="0" cy="301625"/>
          </a:xfrm>
          <a:custGeom>
            <a:avLst/>
            <a:gdLst/>
            <a:ahLst/>
            <a:cxnLst/>
            <a:rect l="l" t="t" r="r" b="b"/>
            <a:pathLst>
              <a:path h="301625">
                <a:moveTo>
                  <a:pt x="0" y="0"/>
                </a:moveTo>
                <a:lnTo>
                  <a:pt x="0" y="301499"/>
                </a:lnTo>
              </a:path>
            </a:pathLst>
          </a:custGeom>
          <a:ln w="3809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50019" y="3505995"/>
            <a:ext cx="163949" cy="2109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90396" y="4445842"/>
            <a:ext cx="5987415" cy="223520"/>
          </a:xfrm>
          <a:custGeom>
            <a:avLst/>
            <a:gdLst/>
            <a:ahLst/>
            <a:cxnLst/>
            <a:rect l="l" t="t" r="r" b="b"/>
            <a:pathLst>
              <a:path w="5987415" h="223520">
                <a:moveTo>
                  <a:pt x="0" y="0"/>
                </a:moveTo>
                <a:lnTo>
                  <a:pt x="5987387" y="0"/>
                </a:lnTo>
                <a:lnTo>
                  <a:pt x="5987387" y="222899"/>
                </a:lnTo>
                <a:lnTo>
                  <a:pt x="0" y="2228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912463" y="2566646"/>
            <a:ext cx="2400300" cy="223520"/>
          </a:xfrm>
          <a:custGeom>
            <a:avLst/>
            <a:gdLst/>
            <a:ahLst/>
            <a:cxnLst/>
            <a:rect l="l" t="t" r="r" b="b"/>
            <a:pathLst>
              <a:path w="2400300" h="223519">
                <a:moveTo>
                  <a:pt x="0" y="0"/>
                </a:moveTo>
                <a:lnTo>
                  <a:pt x="2400302" y="0"/>
                </a:lnTo>
                <a:lnTo>
                  <a:pt x="2400302" y="222899"/>
                </a:lnTo>
                <a:lnTo>
                  <a:pt x="0" y="2228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025" y="5300454"/>
            <a:ext cx="124396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Tieleman and Hinton,</a:t>
            </a:r>
            <a:r>
              <a:rPr kumimoji="0" sz="800" b="0" i="0" u="none" strike="noStrike" kern="1200" cap="none" spc="-7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2012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7925" y="5574843"/>
            <a:ext cx="8875395" cy="273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253355" algn="l"/>
                <a:tab pos="7310755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Fei-Fei Li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&amp; Justin Johnson &amp;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Serena Yeung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 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7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April 24,</a:t>
            </a:r>
            <a:r>
              <a:rPr kumimoji="0" sz="3000" b="0" i="0" u="none" strike="noStrike" kern="1200" cap="none" spc="-142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2018</a:t>
            </a:r>
            <a:endParaRPr kumimoji="0" sz="3000" b="0" i="0" u="none" strike="noStrike" kern="1200" cap="none" spc="0" normalizeH="0" baseline="-4166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5AACAC4D-3664-4BAE-8659-19F533393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spc="-5" dirty="0" err="1"/>
              <a:t>RMSProp</a:t>
            </a:r>
            <a:r>
              <a:rPr lang="en-US" sz="3600" spc="-5" dirty="0"/>
              <a:t> (Root Mean Squared Propagation)</a:t>
            </a:r>
            <a:endParaRPr lang="en-US" sz="3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DD80AC-91CF-4D00-B05E-555E95D2933C}"/>
              </a:ext>
            </a:extLst>
          </p:cNvPr>
          <p:cNvSpPr txBox="1"/>
          <p:nvPr/>
        </p:nvSpPr>
        <p:spPr>
          <a:xfrm>
            <a:off x="0" y="6604084"/>
            <a:ext cx="32832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, Justin Johnson, Serena Yeung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974" y="1854823"/>
            <a:ext cx="6612436" cy="22020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7925" y="5574843"/>
            <a:ext cx="8875395" cy="273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253355" algn="l"/>
                <a:tab pos="7310755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Fei-Fei Li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&amp; Justin Johnson &amp;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Serena Yeung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 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7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April 24,</a:t>
            </a:r>
            <a:r>
              <a:rPr kumimoji="0" sz="3000" b="0" i="0" u="none" strike="noStrike" kern="1200" cap="none" spc="-142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2018</a:t>
            </a:r>
            <a:endParaRPr kumimoji="0" sz="3000" b="0" i="0" u="none" strike="noStrike" kern="1200" cap="none" spc="0" normalizeH="0" baseline="-4166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5399118" y="4704893"/>
            <a:ext cx="1592579" cy="318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23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-7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Lecture </a:t>
            </a:r>
            <a:r>
              <a:rPr kumimoji="0" lang="en-US" sz="3000" b="0" i="0" u="none" strike="noStrike" kern="1200" cap="none" spc="0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7 -</a:t>
            </a:r>
            <a:r>
              <a:rPr kumimoji="0" lang="en-US" sz="3000" b="0" i="0" u="none" strike="noStrike" kern="1200" cap="none" spc="-277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fld id="{81D60167-4931-47E6-BA6A-407CBD079E47}" type="slidenum">
              <a:rPr kumimoji="0" sz="2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pPr marL="12700" marR="0" lvl="0" indent="0" algn="l" defTabSz="914400" rtl="0" eaLnBrk="1" fontAlgn="auto" latinLnBrk="0" hangingPunct="1">
                <a:lnSpc>
                  <a:spcPts val="23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7456513" y="4704893"/>
            <a:ext cx="159004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April 24,</a:t>
            </a:r>
            <a:r>
              <a:rPr kumimoji="0" lang="en-US" sz="2000" b="0" i="0" u="none" strike="noStrike" kern="1200" cap="none" spc="-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2018</a:t>
            </a:r>
            <a:endParaRPr kumimoji="0" sz="2000" b="0" i="0" u="none" strike="noStrike" kern="1200" cap="none" spc="-5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145224" y="4709647"/>
            <a:ext cx="451485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20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Fei-Fei Li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&amp; Justin Johnson &amp; </a:t>
            </a: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Serena</a:t>
            </a:r>
            <a:r>
              <a:rPr kumimoji="0" lang="en-US" sz="1800" b="0" i="0" u="none" strike="noStrike" kern="1200" cap="none" spc="-1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lang="en-US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Yeung</a:t>
            </a:r>
            <a:endParaRPr kumimoji="0" sz="1800" b="0" i="0" u="none" strike="noStrike" kern="1200" cap="none" spc="-5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024" y="5300454"/>
            <a:ext cx="3335654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Kingma and Ba, 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“Adam: A method </a:t>
            </a:r>
            <a:r>
              <a:rPr kumimoji="0" sz="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for 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stochastic </a:t>
            </a:r>
            <a:r>
              <a:rPr kumimoji="0" sz="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optimization”, ICLR</a:t>
            </a:r>
            <a:r>
              <a:rPr kumimoji="0" sz="800" b="0" i="0" u="none" strike="noStrike" kern="1200" cap="none" spc="-9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2015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25550" y="2785796"/>
          <a:ext cx="6612890" cy="11487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12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90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6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0000FF"/>
                      </a:solidFill>
                      <a:prstDash val="solid"/>
                    </a:lnT>
                    <a:lnB w="19050">
                      <a:solidFill>
                        <a:srgbClr val="38751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7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38751C"/>
                      </a:solidFill>
                      <a:prstDash val="solid"/>
                    </a:lnL>
                    <a:lnR w="19050">
                      <a:solidFill>
                        <a:srgbClr val="38751C"/>
                      </a:solidFill>
                      <a:prstDash val="solid"/>
                    </a:lnR>
                    <a:lnT w="19050">
                      <a:solidFill>
                        <a:srgbClr val="38751C"/>
                      </a:solidFill>
                      <a:prstDash val="solid"/>
                    </a:lnT>
                    <a:lnB w="19050">
                      <a:solidFill>
                        <a:srgbClr val="38751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FF"/>
                      </a:solidFill>
                      <a:prstDash val="solid"/>
                    </a:lnL>
                    <a:lnR w="19050">
                      <a:solidFill>
                        <a:srgbClr val="0000FF"/>
                      </a:solidFill>
                      <a:prstDash val="solid"/>
                    </a:lnR>
                    <a:lnT w="19050">
                      <a:solidFill>
                        <a:srgbClr val="38751C"/>
                      </a:solidFill>
                      <a:prstDash val="solid"/>
                    </a:lnT>
                    <a:lnB w="19050">
                      <a:solidFill>
                        <a:srgbClr val="0000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7022566" y="2547530"/>
            <a:ext cx="1169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Momentum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20941" y="3365726"/>
            <a:ext cx="2117725" cy="740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3995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Bias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38751C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correction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3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AdaGrad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/</a:t>
            </a:r>
            <a:r>
              <a:rPr kumimoji="0" sz="1800" b="0" i="0" u="none" strike="noStrike" kern="1200" cap="none" spc="-9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RMSProp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8000" y="4365913"/>
            <a:ext cx="2774315" cy="76454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1600"/>
              </a:lnSpc>
              <a:spcBef>
                <a:spcPts val="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Bias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correction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for the fact</a:t>
            </a:r>
            <a:r>
              <a:rPr kumimoji="0" sz="1600" b="0" i="0" u="none" strike="noStrike" kern="1200" cap="none" spc="-9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that  first and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second moment 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estimates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start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at</a:t>
            </a:r>
            <a:r>
              <a:rPr kumimoji="0" sz="1600" b="0" i="0" u="none" strike="noStrike" kern="12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zero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69668" y="4417424"/>
            <a:ext cx="4302760" cy="764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Adam with beta1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</a:t>
            </a:r>
            <a:r>
              <a:rPr kumimoji="0" sz="16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0.9,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2700" marR="5080" lvl="0" indent="0" algn="l" defTabSz="914400" rtl="0" eaLnBrk="1" fontAlgn="auto" latinLnBrk="0" hangingPunct="1">
              <a:lnSpc>
                <a:spcPct val="10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beta2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0.999, and learning_rate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1e-3 or 5e-4  is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great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starting </a:t>
            </a:r>
            <a:r>
              <a:rPr kumimoji="0" sz="16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point for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many</a:t>
            </a:r>
            <a:r>
              <a:rPr kumimoji="0" sz="1600" b="0" i="0" u="none" strike="noStrike" kern="120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models!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36B77886-A300-4FA6-8545-234C7BF22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0" dirty="0"/>
              <a:t>Adam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E972D7-3C11-4E97-B010-C5438B5F82C3}"/>
              </a:ext>
            </a:extLst>
          </p:cNvPr>
          <p:cNvSpPr txBox="1"/>
          <p:nvPr/>
        </p:nvSpPr>
        <p:spPr>
          <a:xfrm>
            <a:off x="0" y="6604084"/>
            <a:ext cx="32832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, Justin Johnson, Serena Yeung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C80A5-E778-4458-BA64-9644B2AA5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Optimizers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225F6-F2FA-4AE9-B5C0-66127E065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34874F-2ADC-42A7-A72E-6BF0A2D515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291" t="24432" r="50968" b="26631"/>
          <a:stretch/>
        </p:blipFill>
        <p:spPr>
          <a:xfrm>
            <a:off x="457200" y="1600200"/>
            <a:ext cx="4459876" cy="44253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195F34-B3B4-4237-A9B4-18333B41A0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159" t="29068" r="26808" b="34216"/>
          <a:stretch/>
        </p:blipFill>
        <p:spPr>
          <a:xfrm>
            <a:off x="4917076" y="2203106"/>
            <a:ext cx="3381350" cy="33201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55A72B-98CD-442B-AAA1-4550C2147522}"/>
              </a:ext>
            </a:extLst>
          </p:cNvPr>
          <p:cNvSpPr txBox="1"/>
          <p:nvPr/>
        </p:nvSpPr>
        <p:spPr>
          <a:xfrm>
            <a:off x="0" y="6604084"/>
            <a:ext cx="32832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, Justin Johnson, Serena Yeung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931B80-D6B8-422D-830E-2B41D33625FE}"/>
              </a:ext>
            </a:extLst>
          </p:cNvPr>
          <p:cNvSpPr txBox="1"/>
          <p:nvPr/>
        </p:nvSpPr>
        <p:spPr>
          <a:xfrm>
            <a:off x="5999662" y="575682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Garamond" panose="02020404030301010803" pitchFamily="18" charset="0"/>
                <a:hlinkClick r:id="rId3"/>
              </a:rPr>
              <a:t>https://imgur.com/a/Hqolp</a:t>
            </a:r>
            <a:r>
              <a:rPr lang="en-US" dirty="0"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098225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B1484-8C36-4357-8A03-CE3231A21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ACE7D-3B93-46C8-9661-4045F3A94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400" dirty="0">
                <a:hlinkClick r:id="rId2"/>
              </a:rPr>
              <a:t>https://www.deeplearning.ai/ai-notes/optimization/</a:t>
            </a:r>
            <a:r>
              <a:rPr lang="en-US" sz="2400" dirty="0"/>
              <a:t> </a:t>
            </a:r>
          </a:p>
          <a:p>
            <a:pPr marL="0" indent="0" algn="ctr">
              <a:buNone/>
            </a:pPr>
            <a:r>
              <a:rPr lang="en-US" sz="2400" dirty="0"/>
              <a:t>(bottom of page)</a:t>
            </a:r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“In this visualization, you can compare optimizers applied to different cost functions and initialization. For a given cost landscape (</a:t>
            </a:r>
            <a:r>
              <a:rPr lang="en-US" sz="2400" b="1" dirty="0"/>
              <a:t>1</a:t>
            </a:r>
            <a:r>
              <a:rPr lang="en-US" sz="2400" dirty="0"/>
              <a:t>) and initialization (</a:t>
            </a:r>
            <a:r>
              <a:rPr lang="en-US" sz="2400" b="1" dirty="0"/>
              <a:t>2</a:t>
            </a:r>
            <a:r>
              <a:rPr lang="en-US" sz="2400" dirty="0"/>
              <a:t>), you can choose optimizers, their learning rate and decay (</a:t>
            </a:r>
            <a:r>
              <a:rPr lang="en-US" sz="2400" b="1" dirty="0"/>
              <a:t>3</a:t>
            </a:r>
            <a:r>
              <a:rPr lang="en-US" sz="2400" dirty="0"/>
              <a:t>). Then, press the play button to see the optimization process (</a:t>
            </a:r>
            <a:r>
              <a:rPr lang="en-US" sz="2400" b="1" dirty="0"/>
              <a:t>4</a:t>
            </a:r>
            <a:r>
              <a:rPr lang="en-US" sz="2400" dirty="0"/>
              <a:t>). There's no explicit model, but you can assume that finding the cost function's minimum is equivalent to finding the best model for your task.”</a:t>
            </a:r>
          </a:p>
        </p:txBody>
      </p:sp>
    </p:spTree>
    <p:extLst>
      <p:ext uri="{BB962C8B-B14F-4D97-AF65-F5344CB8AC3E}">
        <p14:creationId xmlns:p14="http://schemas.microsoft.com/office/powerpoint/2010/main" val="7547666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9650" y="1157407"/>
            <a:ext cx="8110855" cy="753110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 algn="l">
              <a:lnSpc>
                <a:spcPts val="2865"/>
              </a:lnSpc>
              <a:spcBef>
                <a:spcPts val="100"/>
              </a:spcBef>
            </a:pPr>
            <a:r>
              <a:rPr sz="2400" spc="-5" dirty="0"/>
              <a:t>SGD, SGD+Momentum, Adagrad, RMSProp, Adam all</a:t>
            </a:r>
            <a:r>
              <a:rPr sz="2400" spc="-95" dirty="0"/>
              <a:t> </a:t>
            </a:r>
            <a:r>
              <a:rPr sz="2400" spc="-5" dirty="0"/>
              <a:t>have</a:t>
            </a:r>
            <a:endParaRPr sz="2400" dirty="0"/>
          </a:p>
          <a:p>
            <a:pPr marL="12700" algn="l">
              <a:lnSpc>
                <a:spcPts val="2865"/>
              </a:lnSpc>
            </a:pPr>
            <a:r>
              <a:rPr sz="2400" b="1" spc="-5" dirty="0">
                <a:cs typeface="Arial"/>
              </a:rPr>
              <a:t>learning rate </a:t>
            </a:r>
            <a:r>
              <a:rPr sz="2400" spc="-5" dirty="0"/>
              <a:t>as </a:t>
            </a:r>
            <a:r>
              <a:rPr sz="2400" dirty="0"/>
              <a:t>a</a:t>
            </a:r>
            <a:r>
              <a:rPr sz="2400" spc="20" dirty="0"/>
              <a:t> </a:t>
            </a:r>
            <a:r>
              <a:rPr sz="2400" spc="-5" dirty="0"/>
              <a:t>hyperparameter.</a:t>
            </a:r>
            <a:endParaRPr sz="2400" dirty="0"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4590" y="2072322"/>
            <a:ext cx="3356076" cy="30807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0296" y="2067561"/>
            <a:ext cx="3425190" cy="3090545"/>
          </a:xfrm>
          <a:custGeom>
            <a:avLst/>
            <a:gdLst/>
            <a:ahLst/>
            <a:cxnLst/>
            <a:rect l="l" t="t" r="r" b="b"/>
            <a:pathLst>
              <a:path w="3425190" h="3090545">
                <a:moveTo>
                  <a:pt x="0" y="0"/>
                </a:moveTo>
                <a:lnTo>
                  <a:pt x="3425145" y="0"/>
                </a:lnTo>
                <a:lnTo>
                  <a:pt x="3425145" y="3090281"/>
                </a:lnTo>
                <a:lnTo>
                  <a:pt x="0" y="3090281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23166" y="2315827"/>
            <a:ext cx="4002404" cy="15901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=&gt; Learning rate decay over</a:t>
            </a:r>
            <a:r>
              <a:rPr kumimoji="0" sz="1800" b="1" i="0" u="none" strike="noStrike" kern="1200" cap="none" spc="-4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time!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78740" marR="0" lvl="0" indent="0" algn="l" defTabSz="914400" rtl="0" eaLnBrk="1" fontAlgn="auto" latinLnBrk="0" hangingPunct="1">
              <a:lnSpc>
                <a:spcPts val="1664"/>
              </a:lnSpc>
              <a:spcBef>
                <a:spcPts val="16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step</a:t>
            </a:r>
            <a:r>
              <a:rPr kumimoji="0" sz="1400" b="1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decay: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78740" marR="0" lvl="0" indent="0" algn="l" defTabSz="914400" rtl="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e.g. decay learning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rate 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by half every few</a:t>
            </a:r>
            <a:r>
              <a:rPr kumimoji="0" sz="1400" b="0" i="0" u="none" strike="noStrike" kern="1200" cap="none" spc="-7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epochs.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7874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exponential</a:t>
            </a:r>
            <a:r>
              <a:rPr kumimoji="0" sz="1400" b="1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decay: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89593" y="4472932"/>
            <a:ext cx="84455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1/t</a:t>
            </a:r>
            <a:r>
              <a:rPr kumimoji="0" sz="1400" b="1" i="0" u="none" strike="noStrike" kern="1200" cap="none" spc="-8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decay: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873241" y="3931093"/>
            <a:ext cx="1362047" cy="3143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73240" y="4760393"/>
            <a:ext cx="1933546" cy="3428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7925" y="5574843"/>
            <a:ext cx="8875395" cy="273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253355" algn="l"/>
                <a:tab pos="7310755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Fei-Fei Li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&amp; Justin Johnson &amp;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Serena Yeung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 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7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April 24,</a:t>
            </a:r>
            <a:r>
              <a:rPr kumimoji="0" sz="3000" b="0" i="0" u="none" strike="noStrike" kern="1200" cap="none" spc="-142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2018</a:t>
            </a:r>
            <a:endParaRPr kumimoji="0" sz="3000" b="0" i="0" u="none" strike="noStrike" kern="1200" cap="none" spc="0" normalizeH="0" baseline="-4166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7456513" y="4704893"/>
            <a:ext cx="159004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April 24,</a:t>
            </a:r>
            <a:r>
              <a:rPr kumimoji="0" lang="en-US" sz="2000" b="0" i="0" u="none" strike="noStrike" kern="1200" cap="none" spc="-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2018</a:t>
            </a:r>
            <a:endParaRPr kumimoji="0" sz="2000" b="0" i="0" u="none" strike="noStrike" kern="1200" cap="none" spc="-5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F58FB1-D0D4-4E06-92DB-76468BDCD180}"/>
              </a:ext>
            </a:extLst>
          </p:cNvPr>
          <p:cNvSpPr txBox="1"/>
          <p:nvPr/>
        </p:nvSpPr>
        <p:spPr>
          <a:xfrm>
            <a:off x="0" y="6604084"/>
            <a:ext cx="32832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, Justin Johnson, Serena Yeung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5535" y="2062797"/>
            <a:ext cx="3434715" cy="3100070"/>
            <a:chOff x="465534" y="1205547"/>
            <a:chExt cx="3434715" cy="3100070"/>
          </a:xfrm>
        </p:grpSpPr>
        <p:sp>
          <p:nvSpPr>
            <p:cNvPr id="3" name="object 3"/>
            <p:cNvSpPr/>
            <p:nvPr/>
          </p:nvSpPr>
          <p:spPr>
            <a:xfrm>
              <a:off x="534590" y="1215072"/>
              <a:ext cx="3356076" cy="30807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70296" y="1210310"/>
              <a:ext cx="3425190" cy="3090545"/>
            </a:xfrm>
            <a:custGeom>
              <a:avLst/>
              <a:gdLst/>
              <a:ahLst/>
              <a:cxnLst/>
              <a:rect l="l" t="t" r="r" b="b"/>
              <a:pathLst>
                <a:path w="3425190" h="3090545">
                  <a:moveTo>
                    <a:pt x="0" y="0"/>
                  </a:moveTo>
                  <a:lnTo>
                    <a:pt x="3425145" y="0"/>
                  </a:lnTo>
                  <a:lnTo>
                    <a:pt x="3425145" y="3090281"/>
                  </a:lnTo>
                  <a:lnTo>
                    <a:pt x="0" y="309028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19649" y="1157407"/>
            <a:ext cx="8425180" cy="21273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65"/>
              </a:lnSpc>
              <a:spcBef>
                <a:spcPts val="100"/>
              </a:spcBef>
            </a:pPr>
            <a:r>
              <a:rPr sz="2400" spc="-5" dirty="0">
                <a:latin typeface="Garamond" panose="02020404030301010803" pitchFamily="18" charset="0"/>
                <a:cs typeface="Arial"/>
              </a:rPr>
              <a:t>SGD, SGD+Momentum, Adagrad, RMSProp, Adam all</a:t>
            </a:r>
            <a:r>
              <a:rPr sz="2400" spc="-325" dirty="0"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have</a:t>
            </a:r>
            <a:endParaRPr sz="2400" dirty="0">
              <a:latin typeface="Garamond" panose="02020404030301010803" pitchFamily="18" charset="0"/>
              <a:cs typeface="Arial"/>
            </a:endParaRPr>
          </a:p>
          <a:p>
            <a:pPr marL="12700">
              <a:lnSpc>
                <a:spcPts val="2865"/>
              </a:lnSpc>
            </a:pPr>
            <a:r>
              <a:rPr sz="2400" b="1" spc="-5" dirty="0">
                <a:latin typeface="Garamond" panose="02020404030301010803" pitchFamily="18" charset="0"/>
                <a:cs typeface="Arial"/>
              </a:rPr>
              <a:t>learning rate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as </a:t>
            </a:r>
            <a:r>
              <a:rPr sz="2400" dirty="0">
                <a:latin typeface="Garamond" panose="02020404030301010803" pitchFamily="18" charset="0"/>
                <a:cs typeface="Arial"/>
              </a:rPr>
              <a:t>a</a:t>
            </a:r>
            <a:r>
              <a:rPr sz="2400" spc="20" dirty="0">
                <a:latin typeface="Garamond" panose="02020404030301010803" pitchFamily="18" charset="0"/>
                <a:cs typeface="Arial"/>
              </a:rPr>
              <a:t> </a:t>
            </a:r>
            <a:r>
              <a:rPr sz="2400" spc="-15" dirty="0">
                <a:latin typeface="Garamond" panose="02020404030301010803" pitchFamily="18" charset="0"/>
                <a:cs typeface="Arial"/>
              </a:rPr>
              <a:t>hyperparameter.</a:t>
            </a:r>
            <a:endParaRPr sz="2400" dirty="0">
              <a:latin typeface="Garamond" panose="02020404030301010803" pitchFamily="18" charset="0"/>
              <a:cs typeface="Arial"/>
            </a:endParaRPr>
          </a:p>
          <a:p>
            <a:pPr>
              <a:lnSpc>
                <a:spcPct val="100000"/>
              </a:lnSpc>
            </a:pPr>
            <a:endParaRPr sz="2700" dirty="0">
              <a:latin typeface="Garamond" panose="02020404030301010803" pitchFamily="18" charset="0"/>
              <a:cs typeface="Arial"/>
            </a:endParaRPr>
          </a:p>
          <a:p>
            <a:pPr marL="3892550" marR="347980">
              <a:lnSpc>
                <a:spcPts val="2850"/>
              </a:lnSpc>
              <a:spcBef>
                <a:spcPts val="1664"/>
              </a:spcBef>
            </a:pPr>
            <a:r>
              <a:rPr sz="24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Q: Which one of these</a:t>
            </a:r>
            <a:r>
              <a:rPr sz="2400" spc="-9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learning  </a:t>
            </a:r>
            <a:r>
              <a:rPr sz="2400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rates </a:t>
            </a:r>
            <a:r>
              <a:rPr sz="24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is best to</a:t>
            </a:r>
            <a:r>
              <a:rPr sz="2400" spc="-3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use?</a:t>
            </a:r>
            <a:endParaRPr sz="24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7925" y="5574843"/>
            <a:ext cx="8875395" cy="273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  <a:tabLst>
                <a:tab pos="5253355" algn="l"/>
                <a:tab pos="7310755" algn="l"/>
              </a:tabLst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Fei-Fei Li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&amp; Justin Johnson &amp;</a:t>
            </a:r>
            <a:r>
              <a:rPr spc="-1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Serena</a:t>
            </a:r>
            <a:r>
              <a:rPr spc="-3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4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Yeung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April 24,</a:t>
            </a:r>
            <a:r>
              <a:rPr sz="3000" spc="-142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2018</a:t>
            </a:r>
            <a:endParaRPr sz="3000" baseline="-4166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99119" y="5562144"/>
            <a:ext cx="123888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2000" spc="-9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7456513" y="4704893"/>
            <a:ext cx="159004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310"/>
              </a:lnSpc>
            </a:pPr>
            <a:r>
              <a:rPr lang="en-US" spc="-5" dirty="0">
                <a:latin typeface="Garamond" panose="02020404030301010803" pitchFamily="18" charset="0"/>
              </a:rPr>
              <a:t>April 25,</a:t>
            </a:r>
            <a:r>
              <a:rPr lang="en-US" spc="-90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6831154" y="4713440"/>
            <a:ext cx="42481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3505">
              <a:lnSpc>
                <a:spcPts val="2310"/>
              </a:lnSpc>
            </a:pPr>
            <a:fld id="{81D60167-4931-47E6-BA6A-407CBD079E47}" type="slidenum">
              <a:rPr lang="en-US" smtClean="0">
                <a:latin typeface="Garamond" panose="02020404030301010803" pitchFamily="18" charset="0"/>
              </a:rPr>
              <a:pPr marL="103505">
                <a:lnSpc>
                  <a:spcPts val="2310"/>
                </a:lnSpc>
              </a:pPr>
              <a:t>28</a:t>
            </a:fld>
            <a:endParaRPr dirty="0">
              <a:latin typeface="Garamond" panose="020204040303010108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5E762E-2B92-4EA6-9518-48389D70DB0B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  <p:extLst>
      <p:ext uri="{BB962C8B-B14F-4D97-AF65-F5344CB8AC3E}">
        <p14:creationId xmlns:p14="http://schemas.microsoft.com/office/powerpoint/2010/main" val="29222916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5535" y="2062797"/>
            <a:ext cx="3434715" cy="3100070"/>
            <a:chOff x="465534" y="1205547"/>
            <a:chExt cx="3434715" cy="3100070"/>
          </a:xfrm>
        </p:grpSpPr>
        <p:sp>
          <p:nvSpPr>
            <p:cNvPr id="3" name="object 3"/>
            <p:cNvSpPr/>
            <p:nvPr/>
          </p:nvSpPr>
          <p:spPr>
            <a:xfrm>
              <a:off x="534590" y="1215072"/>
              <a:ext cx="3356076" cy="30807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70296" y="1210310"/>
              <a:ext cx="3425190" cy="3090545"/>
            </a:xfrm>
            <a:custGeom>
              <a:avLst/>
              <a:gdLst/>
              <a:ahLst/>
              <a:cxnLst/>
              <a:rect l="l" t="t" r="r" b="b"/>
              <a:pathLst>
                <a:path w="3425190" h="3090545">
                  <a:moveTo>
                    <a:pt x="0" y="0"/>
                  </a:moveTo>
                  <a:lnTo>
                    <a:pt x="3425145" y="0"/>
                  </a:lnTo>
                  <a:lnTo>
                    <a:pt x="3425145" y="3090281"/>
                  </a:lnTo>
                  <a:lnTo>
                    <a:pt x="0" y="309028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19649" y="1157407"/>
            <a:ext cx="8425180" cy="32317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65"/>
              </a:lnSpc>
              <a:spcBef>
                <a:spcPts val="100"/>
              </a:spcBef>
            </a:pPr>
            <a:r>
              <a:rPr sz="2400" spc="-5" dirty="0">
                <a:latin typeface="Garamond" panose="02020404030301010803" pitchFamily="18" charset="0"/>
                <a:cs typeface="Arial"/>
              </a:rPr>
              <a:t>SGD, SGD+Momentum, Adagrad, RMSProp, Adam all</a:t>
            </a:r>
            <a:r>
              <a:rPr sz="2400" spc="-325" dirty="0"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have</a:t>
            </a:r>
            <a:endParaRPr sz="2400" dirty="0">
              <a:latin typeface="Garamond" panose="02020404030301010803" pitchFamily="18" charset="0"/>
              <a:cs typeface="Arial"/>
            </a:endParaRPr>
          </a:p>
          <a:p>
            <a:pPr marL="12700">
              <a:lnSpc>
                <a:spcPts val="2865"/>
              </a:lnSpc>
            </a:pPr>
            <a:r>
              <a:rPr sz="2400" b="1" spc="-5" dirty="0">
                <a:latin typeface="Garamond" panose="02020404030301010803" pitchFamily="18" charset="0"/>
                <a:cs typeface="Arial"/>
              </a:rPr>
              <a:t>learning rate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as </a:t>
            </a:r>
            <a:r>
              <a:rPr sz="2400" dirty="0">
                <a:latin typeface="Garamond" panose="02020404030301010803" pitchFamily="18" charset="0"/>
                <a:cs typeface="Arial"/>
              </a:rPr>
              <a:t>a</a:t>
            </a:r>
            <a:r>
              <a:rPr sz="2400" spc="20" dirty="0">
                <a:latin typeface="Garamond" panose="02020404030301010803" pitchFamily="18" charset="0"/>
                <a:cs typeface="Arial"/>
              </a:rPr>
              <a:t> </a:t>
            </a:r>
            <a:r>
              <a:rPr sz="2400" spc="-15" dirty="0">
                <a:latin typeface="Garamond" panose="02020404030301010803" pitchFamily="18" charset="0"/>
                <a:cs typeface="Arial"/>
              </a:rPr>
              <a:t>hyperparameter.</a:t>
            </a:r>
            <a:endParaRPr sz="2400" dirty="0">
              <a:latin typeface="Garamond" panose="02020404030301010803" pitchFamily="18" charset="0"/>
              <a:cs typeface="Arial"/>
            </a:endParaRPr>
          </a:p>
          <a:p>
            <a:pPr>
              <a:lnSpc>
                <a:spcPct val="100000"/>
              </a:lnSpc>
            </a:pPr>
            <a:endParaRPr sz="2700" dirty="0">
              <a:latin typeface="Garamond" panose="02020404030301010803" pitchFamily="18" charset="0"/>
              <a:cs typeface="Arial"/>
            </a:endParaRPr>
          </a:p>
          <a:p>
            <a:pPr marL="3892550" marR="347980">
              <a:lnSpc>
                <a:spcPts val="2850"/>
              </a:lnSpc>
              <a:spcBef>
                <a:spcPts val="1664"/>
              </a:spcBef>
            </a:pPr>
            <a:r>
              <a:rPr sz="24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Q: Which one of these</a:t>
            </a:r>
            <a:r>
              <a:rPr sz="2400" spc="-9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learning  </a:t>
            </a:r>
            <a:r>
              <a:rPr sz="2400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rates </a:t>
            </a:r>
            <a:r>
              <a:rPr sz="24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is best to</a:t>
            </a:r>
            <a:r>
              <a:rPr sz="2400" spc="-3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use?</a:t>
            </a:r>
            <a:endParaRPr sz="2400" dirty="0">
              <a:latin typeface="Garamond" panose="02020404030301010803" pitchFamily="18" charset="0"/>
              <a:cs typeface="Arial"/>
            </a:endParaRPr>
          </a:p>
          <a:p>
            <a:pPr>
              <a:spcBef>
                <a:spcPts val="30"/>
              </a:spcBef>
            </a:pPr>
            <a:endParaRPr sz="2450" dirty="0">
              <a:latin typeface="Garamond" panose="02020404030301010803" pitchFamily="18" charset="0"/>
              <a:cs typeface="Arial"/>
            </a:endParaRPr>
          </a:p>
          <a:p>
            <a:pPr marL="3892550" marR="508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A: All of them! Start with large  learning </a:t>
            </a:r>
            <a:r>
              <a:rPr sz="2400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rate </a:t>
            </a:r>
            <a:r>
              <a:rPr sz="24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and decay over</a:t>
            </a:r>
            <a:r>
              <a:rPr sz="2400" spc="-90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time</a:t>
            </a:r>
            <a:endParaRPr sz="24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7925" y="5574843"/>
            <a:ext cx="8875395" cy="273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  <a:tabLst>
                <a:tab pos="5253355" algn="l"/>
                <a:tab pos="7310755" algn="l"/>
              </a:tabLst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Fei-Fei Li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&amp; Justin Johnson &amp;</a:t>
            </a:r>
            <a:r>
              <a:rPr spc="-1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Serena</a:t>
            </a:r>
            <a:r>
              <a:rPr spc="-3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4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Yeung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April 24,</a:t>
            </a:r>
            <a:r>
              <a:rPr sz="3000" spc="-142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2018</a:t>
            </a:r>
            <a:endParaRPr sz="3000" baseline="-4166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99119" y="5562144"/>
            <a:ext cx="123888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2000" spc="-9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7456513" y="4704893"/>
            <a:ext cx="159004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310"/>
              </a:lnSpc>
            </a:pPr>
            <a:r>
              <a:rPr lang="en-US" spc="-5" dirty="0">
                <a:latin typeface="Garamond" panose="02020404030301010803" pitchFamily="18" charset="0"/>
              </a:rPr>
              <a:t>April 25,</a:t>
            </a:r>
            <a:r>
              <a:rPr lang="en-US" spc="-90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6831154" y="4713440"/>
            <a:ext cx="42481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3505">
              <a:lnSpc>
                <a:spcPts val="2310"/>
              </a:lnSpc>
            </a:pPr>
            <a:fld id="{81D60167-4931-47E6-BA6A-407CBD079E47}" type="slidenum">
              <a:rPr lang="en-US" smtClean="0">
                <a:latin typeface="Garamond" panose="02020404030301010803" pitchFamily="18" charset="0"/>
              </a:rPr>
              <a:pPr marL="103505">
                <a:lnSpc>
                  <a:spcPts val="2310"/>
                </a:lnSpc>
              </a:pPr>
              <a:t>29</a:t>
            </a:fld>
            <a:endParaRPr dirty="0">
              <a:latin typeface="Garamond" panose="020204040303010108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5E762E-2B92-4EA6-9518-48389D70DB0B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9650" y="1157407"/>
            <a:ext cx="8110855" cy="753110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 algn="l">
              <a:lnSpc>
                <a:spcPts val="2865"/>
              </a:lnSpc>
              <a:spcBef>
                <a:spcPts val="100"/>
              </a:spcBef>
            </a:pPr>
            <a:r>
              <a:rPr sz="2400" spc="-5" dirty="0"/>
              <a:t>SGD, SGD+Momentum, Adagrad, RMSProp, Adam all</a:t>
            </a:r>
            <a:r>
              <a:rPr sz="2400" spc="-95" dirty="0"/>
              <a:t> </a:t>
            </a:r>
            <a:r>
              <a:rPr sz="2400" spc="-5" dirty="0"/>
              <a:t>have</a:t>
            </a:r>
            <a:endParaRPr sz="2400" dirty="0"/>
          </a:p>
          <a:p>
            <a:pPr marL="12700" algn="l">
              <a:lnSpc>
                <a:spcPts val="2865"/>
              </a:lnSpc>
            </a:pPr>
            <a:r>
              <a:rPr sz="2400" b="1" spc="-5" dirty="0">
                <a:cs typeface="Arial"/>
              </a:rPr>
              <a:t>learning rate </a:t>
            </a:r>
            <a:r>
              <a:rPr sz="2400" spc="-5" dirty="0"/>
              <a:t>as </a:t>
            </a:r>
            <a:r>
              <a:rPr sz="2400" dirty="0"/>
              <a:t>a</a:t>
            </a:r>
            <a:r>
              <a:rPr sz="2400" spc="20" dirty="0"/>
              <a:t> </a:t>
            </a:r>
            <a:r>
              <a:rPr sz="2400" spc="-5" dirty="0"/>
              <a:t>hyperparameter.</a:t>
            </a:r>
            <a:endParaRPr sz="2400" dirty="0"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4590" y="2072322"/>
            <a:ext cx="3356076" cy="30807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0296" y="2067561"/>
            <a:ext cx="3425190" cy="3090545"/>
          </a:xfrm>
          <a:custGeom>
            <a:avLst/>
            <a:gdLst/>
            <a:ahLst/>
            <a:cxnLst/>
            <a:rect l="l" t="t" r="r" b="b"/>
            <a:pathLst>
              <a:path w="3425190" h="3090545">
                <a:moveTo>
                  <a:pt x="0" y="0"/>
                </a:moveTo>
                <a:lnTo>
                  <a:pt x="3425145" y="0"/>
                </a:lnTo>
                <a:lnTo>
                  <a:pt x="3425145" y="3090281"/>
                </a:lnTo>
                <a:lnTo>
                  <a:pt x="0" y="3090281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74041" y="2541172"/>
            <a:ext cx="1388745" cy="716915"/>
          </a:xfrm>
          <a:custGeom>
            <a:avLst/>
            <a:gdLst/>
            <a:ahLst/>
            <a:cxnLst/>
            <a:rect l="l" t="t" r="r" b="b"/>
            <a:pathLst>
              <a:path w="1388745" h="716914">
                <a:moveTo>
                  <a:pt x="0" y="0"/>
                </a:moveTo>
                <a:lnTo>
                  <a:pt x="8918" y="33433"/>
                </a:lnTo>
                <a:lnTo>
                  <a:pt x="19911" y="80448"/>
                </a:lnTo>
                <a:lnTo>
                  <a:pt x="33599" y="135757"/>
                </a:lnTo>
                <a:lnTo>
                  <a:pt x="50605" y="194072"/>
                </a:lnTo>
                <a:lnTo>
                  <a:pt x="71548" y="250107"/>
                </a:lnTo>
                <a:lnTo>
                  <a:pt x="97049" y="298574"/>
                </a:lnTo>
                <a:lnTo>
                  <a:pt x="126402" y="340182"/>
                </a:lnTo>
                <a:lnTo>
                  <a:pt x="158968" y="379302"/>
                </a:lnTo>
                <a:lnTo>
                  <a:pt x="195474" y="416141"/>
                </a:lnTo>
                <a:lnTo>
                  <a:pt x="236647" y="450907"/>
                </a:lnTo>
                <a:lnTo>
                  <a:pt x="283213" y="483807"/>
                </a:lnTo>
                <a:lnTo>
                  <a:pt x="335899" y="515048"/>
                </a:lnTo>
                <a:lnTo>
                  <a:pt x="374462" y="535118"/>
                </a:lnTo>
                <a:lnTo>
                  <a:pt x="415482" y="554605"/>
                </a:lnTo>
                <a:lnTo>
                  <a:pt x="458928" y="573385"/>
                </a:lnTo>
                <a:lnTo>
                  <a:pt x="504770" y="591336"/>
                </a:lnTo>
                <a:lnTo>
                  <a:pt x="552977" y="608335"/>
                </a:lnTo>
                <a:lnTo>
                  <a:pt x="603519" y="624258"/>
                </a:lnTo>
                <a:lnTo>
                  <a:pt x="656365" y="638983"/>
                </a:lnTo>
                <a:lnTo>
                  <a:pt x="711485" y="652388"/>
                </a:lnTo>
                <a:lnTo>
                  <a:pt x="768848" y="664348"/>
                </a:lnTo>
                <a:lnTo>
                  <a:pt x="815918" y="672267"/>
                </a:lnTo>
                <a:lnTo>
                  <a:pt x="868482" y="679278"/>
                </a:lnTo>
                <a:lnTo>
                  <a:pt x="925140" y="685460"/>
                </a:lnTo>
                <a:lnTo>
                  <a:pt x="984494" y="690889"/>
                </a:lnTo>
                <a:lnTo>
                  <a:pt x="1045143" y="695645"/>
                </a:lnTo>
                <a:lnTo>
                  <a:pt x="1105688" y="699805"/>
                </a:lnTo>
                <a:lnTo>
                  <a:pt x="1164729" y="703446"/>
                </a:lnTo>
                <a:lnTo>
                  <a:pt x="1220867" y="706647"/>
                </a:lnTo>
                <a:lnTo>
                  <a:pt x="1272703" y="709484"/>
                </a:lnTo>
                <a:lnTo>
                  <a:pt x="1318836" y="712037"/>
                </a:lnTo>
                <a:lnTo>
                  <a:pt x="1357867" y="714382"/>
                </a:lnTo>
                <a:lnTo>
                  <a:pt x="1388397" y="716598"/>
                </a:lnTo>
              </a:path>
            </a:pathLst>
          </a:custGeom>
          <a:ln w="3809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854839" y="3257771"/>
            <a:ext cx="1388745" cy="716915"/>
          </a:xfrm>
          <a:custGeom>
            <a:avLst/>
            <a:gdLst/>
            <a:ahLst/>
            <a:cxnLst/>
            <a:rect l="l" t="t" r="r" b="b"/>
            <a:pathLst>
              <a:path w="1388745" h="716914">
                <a:moveTo>
                  <a:pt x="0" y="0"/>
                </a:moveTo>
                <a:lnTo>
                  <a:pt x="8918" y="33433"/>
                </a:lnTo>
                <a:lnTo>
                  <a:pt x="19911" y="80447"/>
                </a:lnTo>
                <a:lnTo>
                  <a:pt x="33599" y="135754"/>
                </a:lnTo>
                <a:lnTo>
                  <a:pt x="50605" y="194069"/>
                </a:lnTo>
                <a:lnTo>
                  <a:pt x="71548" y="250104"/>
                </a:lnTo>
                <a:lnTo>
                  <a:pt x="97049" y="298574"/>
                </a:lnTo>
                <a:lnTo>
                  <a:pt x="126402" y="340185"/>
                </a:lnTo>
                <a:lnTo>
                  <a:pt x="158968" y="379308"/>
                </a:lnTo>
                <a:lnTo>
                  <a:pt x="195474" y="416149"/>
                </a:lnTo>
                <a:lnTo>
                  <a:pt x="236647" y="450914"/>
                </a:lnTo>
                <a:lnTo>
                  <a:pt x="283213" y="483812"/>
                </a:lnTo>
                <a:lnTo>
                  <a:pt x="335899" y="515048"/>
                </a:lnTo>
                <a:lnTo>
                  <a:pt x="374462" y="535122"/>
                </a:lnTo>
                <a:lnTo>
                  <a:pt x="415482" y="554609"/>
                </a:lnTo>
                <a:lnTo>
                  <a:pt x="458928" y="573389"/>
                </a:lnTo>
                <a:lnTo>
                  <a:pt x="504770" y="591339"/>
                </a:lnTo>
                <a:lnTo>
                  <a:pt x="552977" y="608336"/>
                </a:lnTo>
                <a:lnTo>
                  <a:pt x="603519" y="624258"/>
                </a:lnTo>
                <a:lnTo>
                  <a:pt x="656365" y="638982"/>
                </a:lnTo>
                <a:lnTo>
                  <a:pt x="711485" y="652386"/>
                </a:lnTo>
                <a:lnTo>
                  <a:pt x="768848" y="664348"/>
                </a:lnTo>
                <a:lnTo>
                  <a:pt x="815918" y="672268"/>
                </a:lnTo>
                <a:lnTo>
                  <a:pt x="868482" y="679281"/>
                </a:lnTo>
                <a:lnTo>
                  <a:pt x="925140" y="685464"/>
                </a:lnTo>
                <a:lnTo>
                  <a:pt x="984494" y="690894"/>
                </a:lnTo>
                <a:lnTo>
                  <a:pt x="1045143" y="695651"/>
                </a:lnTo>
                <a:lnTo>
                  <a:pt x="1105688" y="699811"/>
                </a:lnTo>
                <a:lnTo>
                  <a:pt x="1164729" y="703452"/>
                </a:lnTo>
                <a:lnTo>
                  <a:pt x="1220867" y="706652"/>
                </a:lnTo>
                <a:lnTo>
                  <a:pt x="1272703" y="709489"/>
                </a:lnTo>
                <a:lnTo>
                  <a:pt x="1318836" y="712040"/>
                </a:lnTo>
                <a:lnTo>
                  <a:pt x="1357867" y="714384"/>
                </a:lnTo>
                <a:lnTo>
                  <a:pt x="1388397" y="716598"/>
                </a:lnTo>
              </a:path>
            </a:pathLst>
          </a:custGeom>
          <a:ln w="3809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243236" y="3974369"/>
            <a:ext cx="1388745" cy="716915"/>
          </a:xfrm>
          <a:custGeom>
            <a:avLst/>
            <a:gdLst/>
            <a:ahLst/>
            <a:cxnLst/>
            <a:rect l="l" t="t" r="r" b="b"/>
            <a:pathLst>
              <a:path w="1388745" h="716914">
                <a:moveTo>
                  <a:pt x="0" y="0"/>
                </a:moveTo>
                <a:lnTo>
                  <a:pt x="8918" y="33437"/>
                </a:lnTo>
                <a:lnTo>
                  <a:pt x="19911" y="80452"/>
                </a:lnTo>
                <a:lnTo>
                  <a:pt x="33599" y="135759"/>
                </a:lnTo>
                <a:lnTo>
                  <a:pt x="50605" y="194071"/>
                </a:lnTo>
                <a:lnTo>
                  <a:pt x="71548" y="250105"/>
                </a:lnTo>
                <a:lnTo>
                  <a:pt x="97049" y="298574"/>
                </a:lnTo>
                <a:lnTo>
                  <a:pt x="126402" y="340185"/>
                </a:lnTo>
                <a:lnTo>
                  <a:pt x="158968" y="379308"/>
                </a:lnTo>
                <a:lnTo>
                  <a:pt x="195474" y="416149"/>
                </a:lnTo>
                <a:lnTo>
                  <a:pt x="236647" y="450914"/>
                </a:lnTo>
                <a:lnTo>
                  <a:pt x="283213" y="483812"/>
                </a:lnTo>
                <a:lnTo>
                  <a:pt x="335899" y="515048"/>
                </a:lnTo>
                <a:lnTo>
                  <a:pt x="374462" y="535122"/>
                </a:lnTo>
                <a:lnTo>
                  <a:pt x="415482" y="554609"/>
                </a:lnTo>
                <a:lnTo>
                  <a:pt x="458928" y="573389"/>
                </a:lnTo>
                <a:lnTo>
                  <a:pt x="504770" y="591339"/>
                </a:lnTo>
                <a:lnTo>
                  <a:pt x="552977" y="608336"/>
                </a:lnTo>
                <a:lnTo>
                  <a:pt x="603519" y="624258"/>
                </a:lnTo>
                <a:lnTo>
                  <a:pt x="656365" y="638982"/>
                </a:lnTo>
                <a:lnTo>
                  <a:pt x="711485" y="652386"/>
                </a:lnTo>
                <a:lnTo>
                  <a:pt x="768848" y="664348"/>
                </a:lnTo>
                <a:lnTo>
                  <a:pt x="815918" y="672268"/>
                </a:lnTo>
                <a:lnTo>
                  <a:pt x="868482" y="679281"/>
                </a:lnTo>
                <a:lnTo>
                  <a:pt x="925140" y="685464"/>
                </a:lnTo>
                <a:lnTo>
                  <a:pt x="984494" y="690894"/>
                </a:lnTo>
                <a:lnTo>
                  <a:pt x="1045143" y="695651"/>
                </a:lnTo>
                <a:lnTo>
                  <a:pt x="1105688" y="699811"/>
                </a:lnTo>
                <a:lnTo>
                  <a:pt x="1164729" y="703452"/>
                </a:lnTo>
                <a:lnTo>
                  <a:pt x="1220867" y="706652"/>
                </a:lnTo>
                <a:lnTo>
                  <a:pt x="1272703" y="709489"/>
                </a:lnTo>
                <a:lnTo>
                  <a:pt x="1318836" y="712040"/>
                </a:lnTo>
                <a:lnTo>
                  <a:pt x="1357867" y="714384"/>
                </a:lnTo>
                <a:lnTo>
                  <a:pt x="1388397" y="716598"/>
                </a:lnTo>
              </a:path>
            </a:pathLst>
          </a:custGeom>
          <a:ln w="3809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358967" y="5016566"/>
            <a:ext cx="4200525" cy="0"/>
          </a:xfrm>
          <a:custGeom>
            <a:avLst/>
            <a:gdLst/>
            <a:ahLst/>
            <a:cxnLst/>
            <a:rect l="l" t="t" r="r" b="b"/>
            <a:pathLst>
              <a:path w="4200525">
                <a:moveTo>
                  <a:pt x="0" y="0"/>
                </a:moveTo>
                <a:lnTo>
                  <a:pt x="4200291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549733" y="4975567"/>
            <a:ext cx="105499" cy="81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358966" y="2313573"/>
            <a:ext cx="0" cy="2703195"/>
          </a:xfrm>
          <a:custGeom>
            <a:avLst/>
            <a:gdLst/>
            <a:ahLst/>
            <a:cxnLst/>
            <a:rect l="l" t="t" r="r" b="b"/>
            <a:pathLst>
              <a:path h="2703195">
                <a:moveTo>
                  <a:pt x="0" y="2702994"/>
                </a:moveTo>
                <a:lnTo>
                  <a:pt x="0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317967" y="2217598"/>
            <a:ext cx="81999" cy="1054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839738" y="2701046"/>
            <a:ext cx="0" cy="375920"/>
          </a:xfrm>
          <a:custGeom>
            <a:avLst/>
            <a:gdLst/>
            <a:ahLst/>
            <a:cxnLst/>
            <a:rect l="l" t="t" r="r" b="b"/>
            <a:pathLst>
              <a:path h="375919">
                <a:moveTo>
                  <a:pt x="0" y="0"/>
                </a:moveTo>
                <a:lnTo>
                  <a:pt x="0" y="375749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24013" y="3076796"/>
            <a:ext cx="31750" cy="43815"/>
          </a:xfrm>
          <a:custGeom>
            <a:avLst/>
            <a:gdLst/>
            <a:ahLst/>
            <a:cxnLst/>
            <a:rect l="l" t="t" r="r" b="b"/>
            <a:pathLst>
              <a:path w="31750" h="43814">
                <a:moveTo>
                  <a:pt x="15724" y="43224"/>
                </a:moveTo>
                <a:lnTo>
                  <a:pt x="0" y="0"/>
                </a:lnTo>
                <a:lnTo>
                  <a:pt x="31449" y="0"/>
                </a:lnTo>
                <a:lnTo>
                  <a:pt x="15724" y="43224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824013" y="3076796"/>
            <a:ext cx="31750" cy="43815"/>
          </a:xfrm>
          <a:custGeom>
            <a:avLst/>
            <a:gdLst/>
            <a:ahLst/>
            <a:cxnLst/>
            <a:rect l="l" t="t" r="r" b="b"/>
            <a:pathLst>
              <a:path w="31750" h="43814">
                <a:moveTo>
                  <a:pt x="0" y="0"/>
                </a:moveTo>
                <a:lnTo>
                  <a:pt x="15724" y="43224"/>
                </a:lnTo>
                <a:lnTo>
                  <a:pt x="31449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243235" y="2730896"/>
            <a:ext cx="0" cy="1145540"/>
          </a:xfrm>
          <a:custGeom>
            <a:avLst/>
            <a:gdLst/>
            <a:ahLst/>
            <a:cxnLst/>
            <a:rect l="l" t="t" r="r" b="b"/>
            <a:pathLst>
              <a:path h="1145539">
                <a:moveTo>
                  <a:pt x="0" y="0"/>
                </a:moveTo>
                <a:lnTo>
                  <a:pt x="0" y="1144947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227510" y="3875845"/>
            <a:ext cx="31750" cy="43815"/>
          </a:xfrm>
          <a:custGeom>
            <a:avLst/>
            <a:gdLst/>
            <a:ahLst/>
            <a:cxnLst/>
            <a:rect l="l" t="t" r="r" b="b"/>
            <a:pathLst>
              <a:path w="31750" h="43814">
                <a:moveTo>
                  <a:pt x="15724" y="43224"/>
                </a:moveTo>
                <a:lnTo>
                  <a:pt x="0" y="0"/>
                </a:lnTo>
                <a:lnTo>
                  <a:pt x="31449" y="0"/>
                </a:lnTo>
                <a:lnTo>
                  <a:pt x="15724" y="43224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227510" y="3875844"/>
            <a:ext cx="31750" cy="43815"/>
          </a:xfrm>
          <a:custGeom>
            <a:avLst/>
            <a:gdLst/>
            <a:ahLst/>
            <a:cxnLst/>
            <a:rect l="l" t="t" r="r" b="b"/>
            <a:pathLst>
              <a:path w="31750" h="43814">
                <a:moveTo>
                  <a:pt x="0" y="0"/>
                </a:moveTo>
                <a:lnTo>
                  <a:pt x="15724" y="43224"/>
                </a:lnTo>
                <a:lnTo>
                  <a:pt x="31449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47070" y="2207112"/>
            <a:ext cx="2828290" cy="3998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45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Loss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  <a:p>
            <a:pPr marL="1195070" marR="0" lvl="0" indent="0" algn="l" defTabSz="914400" rtl="0" eaLnBrk="1" fontAlgn="auto" latinLnBrk="0" hangingPunct="1">
              <a:lnSpc>
                <a:spcPts val="1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Learning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rate</a:t>
            </a:r>
            <a:r>
              <a:rPr kumimoji="0" sz="1400" b="0" i="0" u="none" strike="noStrike" kern="1200" cap="none" spc="-8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decay!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7925" y="5574843"/>
            <a:ext cx="8875395" cy="273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253355" algn="l"/>
                <a:tab pos="7310755" algn="l"/>
              </a:tabLst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Fei-Fei Li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&amp; Justin Johnson &amp;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Serena Yeung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Lecture 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7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0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-	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April 24,</a:t>
            </a:r>
            <a:r>
              <a:rPr kumimoji="0" sz="3000" b="0" i="0" u="none" strike="noStrike" kern="1200" cap="none" spc="-142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 </a:t>
            </a:r>
            <a:r>
              <a:rPr kumimoji="0" sz="3000" b="0" i="0" u="none" strike="noStrike" kern="1200" cap="none" spc="-7" normalizeH="0" baseline="-4166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2018</a:t>
            </a:r>
            <a:endParaRPr kumimoji="0" sz="3000" b="0" i="0" u="none" strike="noStrike" kern="1200" cap="none" spc="0" normalizeH="0" baseline="-4166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31582" y="5160600"/>
            <a:ext cx="528955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6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Arial"/>
              </a:rPr>
              <a:t>Epoch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xfrm>
            <a:off x="5399118" y="4704893"/>
            <a:ext cx="1592579" cy="318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23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-7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Lecture </a:t>
            </a:r>
            <a:r>
              <a:rPr kumimoji="0" lang="en-US" sz="3000" b="0" i="0" u="none" strike="noStrike" kern="1200" cap="none" spc="0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7 -</a:t>
            </a:r>
            <a:r>
              <a:rPr kumimoji="0" lang="en-US" sz="3000" b="0" i="0" u="none" strike="noStrike" kern="1200" cap="none" spc="-277" normalizeH="0" baseline="1388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fld id="{81D60167-4931-47E6-BA6A-407CBD079E47}" type="slidenum">
              <a:rPr kumimoji="0" sz="2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pPr marL="12700" marR="0" lvl="0" indent="0" algn="l" defTabSz="914400" rtl="0" eaLnBrk="1" fontAlgn="auto" latinLnBrk="0" hangingPunct="1">
                <a:lnSpc>
                  <a:spcPts val="23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xfrm>
            <a:off x="7456513" y="4704893"/>
            <a:ext cx="159004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April 24,</a:t>
            </a:r>
            <a:r>
              <a:rPr kumimoji="0" lang="en-US" sz="2000" b="0" i="0" u="none" strike="noStrike" kern="1200" cap="none" spc="-9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 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</a:rPr>
              <a:t>2018</a:t>
            </a:r>
            <a:endParaRPr kumimoji="0" sz="2000" b="0" i="0" u="none" strike="noStrike" kern="1200" cap="none" spc="-5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18383C-D7A2-48CC-97ED-4A08AAF23B8F}"/>
              </a:ext>
            </a:extLst>
          </p:cNvPr>
          <p:cNvSpPr txBox="1"/>
          <p:nvPr/>
        </p:nvSpPr>
        <p:spPr>
          <a:xfrm>
            <a:off x="0" y="6604084"/>
            <a:ext cx="404630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Adapted from Fei-Fei Li, 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Karpathy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, Justin Johnson, Serena Yeung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AA1674-6F30-4EF2-97FF-A6E77810944F}"/>
              </a:ext>
            </a:extLst>
          </p:cNvPr>
          <p:cNvSpPr txBox="1"/>
          <p:nvPr/>
        </p:nvSpPr>
        <p:spPr>
          <a:xfrm>
            <a:off x="4646055" y="5927680"/>
            <a:ext cx="78073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Garamond" panose="02020404030301010803" pitchFamily="18" charset="0"/>
              </a:rPr>
              <a:t>Also see </a:t>
            </a:r>
            <a:r>
              <a:rPr lang="en-US" sz="1200" dirty="0">
                <a:latin typeface="Garamond" panose="02020404030301010803" pitchFamily="18" charset="0"/>
                <a:hlinkClick r:id="rId5"/>
              </a:rPr>
              <a:t>https://openreview.net/pdf?id=r1eOnh4YPB</a:t>
            </a:r>
            <a:r>
              <a:rPr lang="en-US" sz="1200" dirty="0">
                <a:latin typeface="Garamond" panose="02020404030301010803" pitchFamily="18" charset="0"/>
              </a:rPr>
              <a:t> 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15206" y="1136925"/>
            <a:ext cx="5002530" cy="3213735"/>
            <a:chOff x="1615206" y="279674"/>
            <a:chExt cx="5002530" cy="3213735"/>
          </a:xfrm>
        </p:grpSpPr>
        <p:sp>
          <p:nvSpPr>
            <p:cNvPr id="3" name="object 3"/>
            <p:cNvSpPr/>
            <p:nvPr/>
          </p:nvSpPr>
          <p:spPr>
            <a:xfrm>
              <a:off x="1656196" y="375649"/>
              <a:ext cx="0" cy="3076575"/>
            </a:xfrm>
            <a:custGeom>
              <a:avLst/>
              <a:gdLst/>
              <a:ahLst/>
              <a:cxnLst/>
              <a:rect l="l" t="t" r="r" b="b"/>
              <a:pathLst>
                <a:path h="3076575">
                  <a:moveTo>
                    <a:pt x="0" y="3076193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615206" y="279674"/>
              <a:ext cx="81979" cy="1054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656196" y="3451843"/>
              <a:ext cx="4558030" cy="0"/>
            </a:xfrm>
            <a:custGeom>
              <a:avLst/>
              <a:gdLst/>
              <a:ahLst/>
              <a:cxnLst/>
              <a:rect l="l" t="t" r="r" b="b"/>
              <a:pathLst>
                <a:path w="4558030">
                  <a:moveTo>
                    <a:pt x="0" y="0"/>
                  </a:moveTo>
                  <a:lnTo>
                    <a:pt x="455789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6204562" y="3410843"/>
              <a:ext cx="105499" cy="8199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664921" y="1323652"/>
              <a:ext cx="4933950" cy="1946910"/>
            </a:xfrm>
            <a:custGeom>
              <a:avLst/>
              <a:gdLst/>
              <a:ahLst/>
              <a:cxnLst/>
              <a:rect l="l" t="t" r="r" b="b"/>
              <a:pathLst>
                <a:path w="4933950" h="1946910">
                  <a:moveTo>
                    <a:pt x="0" y="1289"/>
                  </a:moveTo>
                  <a:lnTo>
                    <a:pt x="29313" y="1234"/>
                  </a:lnTo>
                  <a:lnTo>
                    <a:pt x="66346" y="1088"/>
                  </a:lnTo>
                  <a:lnTo>
                    <a:pt x="109916" y="881"/>
                  </a:lnTo>
                  <a:lnTo>
                    <a:pt x="158843" y="644"/>
                  </a:lnTo>
                  <a:lnTo>
                    <a:pt x="211948" y="408"/>
                  </a:lnTo>
                  <a:lnTo>
                    <a:pt x="268049" y="201"/>
                  </a:lnTo>
                  <a:lnTo>
                    <a:pt x="325966" y="55"/>
                  </a:lnTo>
                  <a:lnTo>
                    <a:pt x="384518" y="0"/>
                  </a:lnTo>
                  <a:lnTo>
                    <a:pt x="442525" y="65"/>
                  </a:lnTo>
                  <a:lnTo>
                    <a:pt x="498807" y="282"/>
                  </a:lnTo>
                  <a:lnTo>
                    <a:pt x="552184" y="680"/>
                  </a:lnTo>
                  <a:lnTo>
                    <a:pt x="601473" y="1289"/>
                  </a:lnTo>
                  <a:lnTo>
                    <a:pt x="656285" y="2405"/>
                  </a:lnTo>
                  <a:lnTo>
                    <a:pt x="708725" y="3939"/>
                  </a:lnTo>
                  <a:lnTo>
                    <a:pt x="759474" y="5786"/>
                  </a:lnTo>
                  <a:lnTo>
                    <a:pt x="809212" y="7842"/>
                  </a:lnTo>
                  <a:lnTo>
                    <a:pt x="858618" y="10003"/>
                  </a:lnTo>
                  <a:lnTo>
                    <a:pt x="908373" y="12164"/>
                  </a:lnTo>
                  <a:lnTo>
                    <a:pt x="959156" y="14220"/>
                  </a:lnTo>
                  <a:lnTo>
                    <a:pt x="1011646" y="16067"/>
                  </a:lnTo>
                  <a:lnTo>
                    <a:pt x="1066525" y="17600"/>
                  </a:lnTo>
                  <a:lnTo>
                    <a:pt x="1124472" y="18714"/>
                  </a:lnTo>
                  <a:lnTo>
                    <a:pt x="1172458" y="19143"/>
                  </a:lnTo>
                  <a:lnTo>
                    <a:pt x="1224020" y="19151"/>
                  </a:lnTo>
                  <a:lnTo>
                    <a:pt x="1278347" y="18833"/>
                  </a:lnTo>
                  <a:lnTo>
                    <a:pt x="1334631" y="18286"/>
                  </a:lnTo>
                  <a:lnTo>
                    <a:pt x="1392061" y="17604"/>
                  </a:lnTo>
                  <a:lnTo>
                    <a:pt x="1449829" y="16882"/>
                  </a:lnTo>
                  <a:lnTo>
                    <a:pt x="1507126" y="16215"/>
                  </a:lnTo>
                  <a:lnTo>
                    <a:pt x="1563141" y="15700"/>
                  </a:lnTo>
                  <a:lnTo>
                    <a:pt x="1617066" y="15430"/>
                  </a:lnTo>
                  <a:lnTo>
                    <a:pt x="1668091" y="15501"/>
                  </a:lnTo>
                  <a:lnTo>
                    <a:pt x="1715406" y="16009"/>
                  </a:lnTo>
                  <a:lnTo>
                    <a:pt x="1758202" y="17048"/>
                  </a:lnTo>
                  <a:lnTo>
                    <a:pt x="1795671" y="18714"/>
                  </a:lnTo>
                  <a:lnTo>
                    <a:pt x="1857965" y="21580"/>
                  </a:lnTo>
                  <a:lnTo>
                    <a:pt x="1900282" y="23234"/>
                  </a:lnTo>
                  <a:lnTo>
                    <a:pt x="1955493" y="33565"/>
                  </a:lnTo>
                  <a:lnTo>
                    <a:pt x="2022320" y="71014"/>
                  </a:lnTo>
                  <a:lnTo>
                    <a:pt x="2055393" y="92227"/>
                  </a:lnTo>
                  <a:lnTo>
                    <a:pt x="2091909" y="116954"/>
                  </a:lnTo>
                  <a:lnTo>
                    <a:pt x="2130793" y="144947"/>
                  </a:lnTo>
                  <a:lnTo>
                    <a:pt x="2170969" y="175952"/>
                  </a:lnTo>
                  <a:lnTo>
                    <a:pt x="2211359" y="209720"/>
                  </a:lnTo>
                  <a:lnTo>
                    <a:pt x="2250888" y="245998"/>
                  </a:lnTo>
                  <a:lnTo>
                    <a:pt x="2288480" y="284537"/>
                  </a:lnTo>
                  <a:lnTo>
                    <a:pt x="2323058" y="325084"/>
                  </a:lnTo>
                  <a:lnTo>
                    <a:pt x="2353545" y="367389"/>
                  </a:lnTo>
                  <a:lnTo>
                    <a:pt x="2377331" y="407957"/>
                  </a:lnTo>
                  <a:lnTo>
                    <a:pt x="2398451" y="451698"/>
                  </a:lnTo>
                  <a:lnTo>
                    <a:pt x="2417378" y="498036"/>
                  </a:lnTo>
                  <a:lnTo>
                    <a:pt x="2434579" y="546397"/>
                  </a:lnTo>
                  <a:lnTo>
                    <a:pt x="2450526" y="596204"/>
                  </a:lnTo>
                  <a:lnTo>
                    <a:pt x="2465688" y="646884"/>
                  </a:lnTo>
                  <a:lnTo>
                    <a:pt x="2480536" y="697859"/>
                  </a:lnTo>
                  <a:lnTo>
                    <a:pt x="2495540" y="748556"/>
                  </a:lnTo>
                  <a:lnTo>
                    <a:pt x="2511169" y="798399"/>
                  </a:lnTo>
                  <a:lnTo>
                    <a:pt x="2527894" y="846813"/>
                  </a:lnTo>
                  <a:lnTo>
                    <a:pt x="2544664" y="894356"/>
                  </a:lnTo>
                  <a:lnTo>
                    <a:pt x="2560395" y="941934"/>
                  </a:lnTo>
                  <a:lnTo>
                    <a:pt x="2575532" y="989495"/>
                  </a:lnTo>
                  <a:lnTo>
                    <a:pt x="2590520" y="1036986"/>
                  </a:lnTo>
                  <a:lnTo>
                    <a:pt x="2605804" y="1084356"/>
                  </a:lnTo>
                  <a:lnTo>
                    <a:pt x="2621827" y="1131551"/>
                  </a:lnTo>
                  <a:lnTo>
                    <a:pt x="2639036" y="1178520"/>
                  </a:lnTo>
                  <a:lnTo>
                    <a:pt x="2657874" y="1225209"/>
                  </a:lnTo>
                  <a:lnTo>
                    <a:pt x="2678787" y="1271568"/>
                  </a:lnTo>
                  <a:lnTo>
                    <a:pt x="2702219" y="1317542"/>
                  </a:lnTo>
                  <a:lnTo>
                    <a:pt x="2724726" y="1359987"/>
                  </a:lnTo>
                  <a:lnTo>
                    <a:pt x="2747358" y="1403735"/>
                  </a:lnTo>
                  <a:lnTo>
                    <a:pt x="2770527" y="1448216"/>
                  </a:lnTo>
                  <a:lnTo>
                    <a:pt x="2794646" y="1492859"/>
                  </a:lnTo>
                  <a:lnTo>
                    <a:pt x="2820128" y="1537097"/>
                  </a:lnTo>
                  <a:lnTo>
                    <a:pt x="2847386" y="1580358"/>
                  </a:lnTo>
                  <a:lnTo>
                    <a:pt x="2876831" y="1622074"/>
                  </a:lnTo>
                  <a:lnTo>
                    <a:pt x="2908877" y="1661675"/>
                  </a:lnTo>
                  <a:lnTo>
                    <a:pt x="2943936" y="1698591"/>
                  </a:lnTo>
                  <a:lnTo>
                    <a:pt x="2982421" y="1732253"/>
                  </a:lnTo>
                  <a:lnTo>
                    <a:pt x="3024743" y="1762091"/>
                  </a:lnTo>
                  <a:lnTo>
                    <a:pt x="3060602" y="1782863"/>
                  </a:lnTo>
                  <a:lnTo>
                    <a:pt x="3098396" y="1801687"/>
                  </a:lnTo>
                  <a:lnTo>
                    <a:pt x="3138057" y="1818707"/>
                  </a:lnTo>
                  <a:lnTo>
                    <a:pt x="3179520" y="1834066"/>
                  </a:lnTo>
                  <a:lnTo>
                    <a:pt x="3222717" y="1847906"/>
                  </a:lnTo>
                  <a:lnTo>
                    <a:pt x="3267581" y="1860371"/>
                  </a:lnTo>
                  <a:lnTo>
                    <a:pt x="3314046" y="1871603"/>
                  </a:lnTo>
                  <a:lnTo>
                    <a:pt x="3362045" y="1881746"/>
                  </a:lnTo>
                  <a:lnTo>
                    <a:pt x="3411511" y="1890941"/>
                  </a:lnTo>
                  <a:lnTo>
                    <a:pt x="3462378" y="1899332"/>
                  </a:lnTo>
                  <a:lnTo>
                    <a:pt x="3514579" y="1907063"/>
                  </a:lnTo>
                  <a:lnTo>
                    <a:pt x="3568047" y="1914275"/>
                  </a:lnTo>
                  <a:lnTo>
                    <a:pt x="3622715" y="1921111"/>
                  </a:lnTo>
                  <a:lnTo>
                    <a:pt x="3678517" y="1927716"/>
                  </a:lnTo>
                  <a:lnTo>
                    <a:pt x="3724017" y="1932380"/>
                  </a:lnTo>
                  <a:lnTo>
                    <a:pt x="3772571" y="1936251"/>
                  </a:lnTo>
                  <a:lnTo>
                    <a:pt x="3823736" y="1939395"/>
                  </a:lnTo>
                  <a:lnTo>
                    <a:pt x="3877066" y="1941881"/>
                  </a:lnTo>
                  <a:lnTo>
                    <a:pt x="3932119" y="1943775"/>
                  </a:lnTo>
                  <a:lnTo>
                    <a:pt x="3988450" y="1945144"/>
                  </a:lnTo>
                  <a:lnTo>
                    <a:pt x="4045615" y="1946056"/>
                  </a:lnTo>
                  <a:lnTo>
                    <a:pt x="4103171" y="1946579"/>
                  </a:lnTo>
                  <a:lnTo>
                    <a:pt x="4160672" y="1946778"/>
                  </a:lnTo>
                  <a:lnTo>
                    <a:pt x="4217676" y="1946722"/>
                  </a:lnTo>
                  <a:lnTo>
                    <a:pt x="4273739" y="1946477"/>
                  </a:lnTo>
                  <a:lnTo>
                    <a:pt x="4328416" y="1946112"/>
                  </a:lnTo>
                  <a:lnTo>
                    <a:pt x="4381263" y="1945692"/>
                  </a:lnTo>
                  <a:lnTo>
                    <a:pt x="4431837" y="1945286"/>
                  </a:lnTo>
                  <a:lnTo>
                    <a:pt x="4479693" y="1944961"/>
                  </a:lnTo>
                  <a:lnTo>
                    <a:pt x="4524387" y="1944783"/>
                  </a:lnTo>
                  <a:lnTo>
                    <a:pt x="4565476" y="1944821"/>
                  </a:lnTo>
                  <a:lnTo>
                    <a:pt x="4602515" y="1945141"/>
                  </a:lnTo>
                  <a:lnTo>
                    <a:pt x="4683837" y="1946054"/>
                  </a:lnTo>
                  <a:lnTo>
                    <a:pt x="4750011" y="1946409"/>
                  </a:lnTo>
                  <a:lnTo>
                    <a:pt x="4803327" y="1946358"/>
                  </a:lnTo>
                  <a:lnTo>
                    <a:pt x="4846070" y="1946054"/>
                  </a:lnTo>
                  <a:lnTo>
                    <a:pt x="4880529" y="1945648"/>
                  </a:lnTo>
                  <a:lnTo>
                    <a:pt x="4908990" y="1945293"/>
                  </a:lnTo>
                  <a:lnTo>
                    <a:pt x="4933740" y="1945141"/>
                  </a:lnTo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3711117" y="987923"/>
              <a:ext cx="714375" cy="246379"/>
            </a:xfrm>
            <a:custGeom>
              <a:avLst/>
              <a:gdLst/>
              <a:ahLst/>
              <a:cxnLst/>
              <a:rect l="l" t="t" r="r" b="b"/>
              <a:pathLst>
                <a:path w="714375" h="246380">
                  <a:moveTo>
                    <a:pt x="714273" y="0"/>
                  </a:moveTo>
                  <a:lnTo>
                    <a:pt x="0" y="245989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670267" y="1219037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4" h="29844">
                  <a:moveTo>
                    <a:pt x="45974" y="29749"/>
                  </a:moveTo>
                  <a:lnTo>
                    <a:pt x="0" y="28949"/>
                  </a:lnTo>
                  <a:lnTo>
                    <a:pt x="35724" y="0"/>
                  </a:lnTo>
                  <a:lnTo>
                    <a:pt x="45974" y="2974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670267" y="1219037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4" h="29844">
                  <a:moveTo>
                    <a:pt x="35724" y="0"/>
                  </a:moveTo>
                  <a:lnTo>
                    <a:pt x="0" y="28949"/>
                  </a:lnTo>
                  <a:lnTo>
                    <a:pt x="45974" y="29749"/>
                  </a:lnTo>
                  <a:lnTo>
                    <a:pt x="35724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40122" y="1234955"/>
            <a:ext cx="5086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Loss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7925" y="5574843"/>
            <a:ext cx="8875395" cy="273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  <a:tabLst>
                <a:tab pos="5253355" algn="l"/>
                <a:tab pos="7310755" algn="l"/>
              </a:tabLst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Fei-Fei Li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&amp; Justin Johnson &amp;</a:t>
            </a:r>
            <a:r>
              <a:rPr spc="-1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Serena</a:t>
            </a:r>
            <a:r>
              <a:rPr spc="-3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4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Yeung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April 24,</a:t>
            </a:r>
            <a:r>
              <a:rPr sz="3000" spc="-142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2018</a:t>
            </a:r>
            <a:endParaRPr sz="3000" baseline="-4166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99119" y="5562144"/>
            <a:ext cx="123888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2000" spc="-9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xfrm>
            <a:off x="7456513" y="4704893"/>
            <a:ext cx="159004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310"/>
              </a:lnSpc>
            </a:pPr>
            <a:r>
              <a:rPr lang="en-US" spc="-5" dirty="0">
                <a:latin typeface="Garamond" panose="02020404030301010803" pitchFamily="18" charset="0"/>
              </a:rPr>
              <a:t>April 25,</a:t>
            </a:r>
            <a:r>
              <a:rPr lang="en-US" spc="-90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xfrm>
            <a:off x="145224" y="4709647"/>
            <a:ext cx="44907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Fei-Fei Li </a:t>
            </a:r>
            <a:r>
              <a:rPr lang="en-US" dirty="0">
                <a:latin typeface="Garamond" panose="02020404030301010803" pitchFamily="18" charset="0"/>
              </a:rPr>
              <a:t>&amp; Justin Johnson &amp; </a:t>
            </a:r>
            <a:r>
              <a:rPr lang="en-US" spc="-5" dirty="0">
                <a:latin typeface="Garamond" panose="02020404030301010803" pitchFamily="18" charset="0"/>
              </a:rPr>
              <a:t>Serena</a:t>
            </a:r>
            <a:r>
              <a:rPr lang="en-US" spc="-145" dirty="0">
                <a:latin typeface="Garamond" panose="02020404030301010803" pitchFamily="18" charset="0"/>
              </a:rPr>
              <a:t> </a:t>
            </a:r>
            <a:r>
              <a:rPr lang="en-US" spc="-40" dirty="0">
                <a:latin typeface="Garamond" panose="02020404030301010803" pitchFamily="18" charset="0"/>
              </a:rPr>
              <a:t>Yeung</a:t>
            </a:r>
            <a:endParaRPr spc="-40" dirty="0">
              <a:latin typeface="Garamond" panose="02020404030301010803" pitchFamily="18" charset="0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xfrm>
            <a:off x="6831154" y="4713440"/>
            <a:ext cx="42481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3505">
              <a:lnSpc>
                <a:spcPts val="2310"/>
              </a:lnSpc>
            </a:pPr>
            <a:fld id="{81D60167-4931-47E6-BA6A-407CBD079E47}" type="slidenum">
              <a:rPr lang="en-US" smtClean="0">
                <a:latin typeface="Garamond" panose="02020404030301010803" pitchFamily="18" charset="0"/>
              </a:rPr>
              <a:pPr marL="103505">
                <a:lnSpc>
                  <a:spcPts val="2310"/>
                </a:lnSpc>
              </a:pPr>
              <a:t>31</a:t>
            </a:fld>
            <a:endParaRPr dirty="0">
              <a:latin typeface="Garamond" panose="02020404030301010803" pitchFamily="18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28790" y="4460175"/>
            <a:ext cx="456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Garamond" panose="02020404030301010803" pitchFamily="18" charset="0"/>
                <a:cs typeface="Arial"/>
              </a:rPr>
              <a:t>time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98417" y="1628554"/>
            <a:ext cx="3350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Garamond" panose="02020404030301010803" pitchFamily="18" charset="0"/>
                <a:cs typeface="Arial"/>
              </a:rPr>
              <a:t>Bad initialization </a:t>
            </a:r>
            <a:r>
              <a:rPr dirty="0">
                <a:latin typeface="Garamond" panose="02020404030301010803" pitchFamily="18" charset="0"/>
                <a:cs typeface="Arial"/>
              </a:rPr>
              <a:t>a </a:t>
            </a:r>
            <a:r>
              <a:rPr spc="-5" dirty="0">
                <a:latin typeface="Garamond" panose="02020404030301010803" pitchFamily="18" charset="0"/>
                <a:cs typeface="Arial"/>
              </a:rPr>
              <a:t>prime</a:t>
            </a:r>
            <a:r>
              <a:rPr spc="-95" dirty="0">
                <a:latin typeface="Garamond" panose="02020404030301010803" pitchFamily="18" charset="0"/>
                <a:cs typeface="Arial"/>
              </a:rPr>
              <a:t> </a:t>
            </a:r>
            <a:r>
              <a:rPr dirty="0">
                <a:latin typeface="Garamond" panose="02020404030301010803" pitchFamily="18" charset="0"/>
                <a:cs typeface="Arial"/>
              </a:rPr>
              <a:t>suspect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8A12FB-EF68-45DF-9007-1B53751C4E17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15206" y="1136925"/>
            <a:ext cx="5130800" cy="3213735"/>
            <a:chOff x="1615206" y="279674"/>
            <a:chExt cx="5130800" cy="3213735"/>
          </a:xfrm>
        </p:grpSpPr>
        <p:sp>
          <p:nvSpPr>
            <p:cNvPr id="3" name="object 3"/>
            <p:cNvSpPr/>
            <p:nvPr/>
          </p:nvSpPr>
          <p:spPr>
            <a:xfrm>
              <a:off x="1656196" y="375649"/>
              <a:ext cx="0" cy="3076575"/>
            </a:xfrm>
            <a:custGeom>
              <a:avLst/>
              <a:gdLst/>
              <a:ahLst/>
              <a:cxnLst/>
              <a:rect l="l" t="t" r="r" b="b"/>
              <a:pathLst>
                <a:path h="3076575">
                  <a:moveTo>
                    <a:pt x="0" y="3076193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615206" y="279674"/>
              <a:ext cx="81979" cy="1054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656196" y="3451843"/>
              <a:ext cx="4558030" cy="0"/>
            </a:xfrm>
            <a:custGeom>
              <a:avLst/>
              <a:gdLst/>
              <a:ahLst/>
              <a:cxnLst/>
              <a:rect l="l" t="t" r="r" b="b"/>
              <a:pathLst>
                <a:path w="4558030">
                  <a:moveTo>
                    <a:pt x="0" y="0"/>
                  </a:moveTo>
                  <a:lnTo>
                    <a:pt x="455789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6204562" y="3410843"/>
              <a:ext cx="105499" cy="8199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664921" y="1324947"/>
              <a:ext cx="5062220" cy="1401445"/>
            </a:xfrm>
            <a:custGeom>
              <a:avLst/>
              <a:gdLst/>
              <a:ahLst/>
              <a:cxnLst/>
              <a:rect l="l" t="t" r="r" b="b"/>
              <a:pathLst>
                <a:path w="5062220" h="1401445">
                  <a:moveTo>
                    <a:pt x="0" y="0"/>
                  </a:moveTo>
                  <a:lnTo>
                    <a:pt x="11457" y="24261"/>
                  </a:lnTo>
                  <a:lnTo>
                    <a:pt x="24480" y="54522"/>
                  </a:lnTo>
                  <a:lnTo>
                    <a:pt x="41311" y="92006"/>
                  </a:lnTo>
                  <a:lnTo>
                    <a:pt x="64188" y="137935"/>
                  </a:lnTo>
                  <a:lnTo>
                    <a:pt x="95354" y="193534"/>
                  </a:lnTo>
                  <a:lnTo>
                    <a:pt x="137049" y="260024"/>
                  </a:lnTo>
                  <a:lnTo>
                    <a:pt x="157273" y="291095"/>
                  </a:lnTo>
                  <a:lnTo>
                    <a:pt x="179644" y="326046"/>
                  </a:lnTo>
                  <a:lnTo>
                    <a:pt x="203957" y="364292"/>
                  </a:lnTo>
                  <a:lnTo>
                    <a:pt x="230006" y="405251"/>
                  </a:lnTo>
                  <a:lnTo>
                    <a:pt x="257586" y="448340"/>
                  </a:lnTo>
                  <a:lnTo>
                    <a:pt x="286492" y="492977"/>
                  </a:lnTo>
                  <a:lnTo>
                    <a:pt x="316519" y="538577"/>
                  </a:lnTo>
                  <a:lnTo>
                    <a:pt x="347462" y="584558"/>
                  </a:lnTo>
                  <a:lnTo>
                    <a:pt x="379116" y="630337"/>
                  </a:lnTo>
                  <a:lnTo>
                    <a:pt x="411275" y="675331"/>
                  </a:lnTo>
                  <a:lnTo>
                    <a:pt x="443735" y="718958"/>
                  </a:lnTo>
                  <a:lnTo>
                    <a:pt x="476289" y="760633"/>
                  </a:lnTo>
                  <a:lnTo>
                    <a:pt x="508734" y="799774"/>
                  </a:lnTo>
                  <a:lnTo>
                    <a:pt x="540864" y="835798"/>
                  </a:lnTo>
                  <a:lnTo>
                    <a:pt x="572473" y="868123"/>
                  </a:lnTo>
                  <a:lnTo>
                    <a:pt x="611546" y="904450"/>
                  </a:lnTo>
                  <a:lnTo>
                    <a:pt x="650658" y="937897"/>
                  </a:lnTo>
                  <a:lnTo>
                    <a:pt x="689952" y="968711"/>
                  </a:lnTo>
                  <a:lnTo>
                    <a:pt x="729572" y="997140"/>
                  </a:lnTo>
                  <a:lnTo>
                    <a:pt x="769661" y="1023432"/>
                  </a:lnTo>
                  <a:lnTo>
                    <a:pt x="810362" y="1047834"/>
                  </a:lnTo>
                  <a:lnTo>
                    <a:pt x="851820" y="1070593"/>
                  </a:lnTo>
                  <a:lnTo>
                    <a:pt x="894178" y="1091958"/>
                  </a:lnTo>
                  <a:lnTo>
                    <a:pt x="937578" y="1112176"/>
                  </a:lnTo>
                  <a:lnTo>
                    <a:pt x="982165" y="1131494"/>
                  </a:lnTo>
                  <a:lnTo>
                    <a:pt x="1028082" y="1150160"/>
                  </a:lnTo>
                  <a:lnTo>
                    <a:pt x="1075472" y="1168422"/>
                  </a:lnTo>
                  <a:lnTo>
                    <a:pt x="1121185" y="1184517"/>
                  </a:lnTo>
                  <a:lnTo>
                    <a:pt x="1169118" y="1199361"/>
                  </a:lnTo>
                  <a:lnTo>
                    <a:pt x="1218872" y="1213036"/>
                  </a:lnTo>
                  <a:lnTo>
                    <a:pt x="1270047" y="1225625"/>
                  </a:lnTo>
                  <a:lnTo>
                    <a:pt x="1322243" y="1237208"/>
                  </a:lnTo>
                  <a:lnTo>
                    <a:pt x="1375061" y="1247868"/>
                  </a:lnTo>
                  <a:lnTo>
                    <a:pt x="1428101" y="1257688"/>
                  </a:lnTo>
                  <a:lnTo>
                    <a:pt x="1480963" y="1266749"/>
                  </a:lnTo>
                  <a:lnTo>
                    <a:pt x="1533248" y="1275134"/>
                  </a:lnTo>
                  <a:lnTo>
                    <a:pt x="1584556" y="1282924"/>
                  </a:lnTo>
                  <a:lnTo>
                    <a:pt x="1634487" y="1290201"/>
                  </a:lnTo>
                  <a:lnTo>
                    <a:pt x="1682642" y="1297048"/>
                  </a:lnTo>
                  <a:lnTo>
                    <a:pt x="1728621" y="1303547"/>
                  </a:lnTo>
                  <a:lnTo>
                    <a:pt x="1785856" y="1310907"/>
                  </a:lnTo>
                  <a:lnTo>
                    <a:pt x="1841295" y="1316639"/>
                  </a:lnTo>
                  <a:lnTo>
                    <a:pt x="1895097" y="1320990"/>
                  </a:lnTo>
                  <a:lnTo>
                    <a:pt x="1947420" y="1324206"/>
                  </a:lnTo>
                  <a:lnTo>
                    <a:pt x="1998420" y="1326537"/>
                  </a:lnTo>
                  <a:lnTo>
                    <a:pt x="2048257" y="1328230"/>
                  </a:lnTo>
                  <a:lnTo>
                    <a:pt x="2097088" y="1329532"/>
                  </a:lnTo>
                  <a:lnTo>
                    <a:pt x="2145070" y="1330692"/>
                  </a:lnTo>
                  <a:lnTo>
                    <a:pt x="2192361" y="1331956"/>
                  </a:lnTo>
                  <a:lnTo>
                    <a:pt x="2239120" y="1333572"/>
                  </a:lnTo>
                  <a:lnTo>
                    <a:pt x="2296290" y="1335689"/>
                  </a:lnTo>
                  <a:lnTo>
                    <a:pt x="2351615" y="1337380"/>
                  </a:lnTo>
                  <a:lnTo>
                    <a:pt x="2405356" y="1338691"/>
                  </a:lnTo>
                  <a:lnTo>
                    <a:pt x="2457779" y="1339666"/>
                  </a:lnTo>
                  <a:lnTo>
                    <a:pt x="2509146" y="1340347"/>
                  </a:lnTo>
                  <a:lnTo>
                    <a:pt x="2559720" y="1340779"/>
                  </a:lnTo>
                  <a:lnTo>
                    <a:pt x="2609765" y="1341006"/>
                  </a:lnTo>
                  <a:lnTo>
                    <a:pt x="2659544" y="1341072"/>
                  </a:lnTo>
                  <a:lnTo>
                    <a:pt x="2714609" y="1340722"/>
                  </a:lnTo>
                  <a:lnTo>
                    <a:pt x="2767003" y="1339804"/>
                  </a:lnTo>
                  <a:lnTo>
                    <a:pt x="2818040" y="1338513"/>
                  </a:lnTo>
                  <a:lnTo>
                    <a:pt x="2869033" y="1337048"/>
                  </a:lnTo>
                  <a:lnTo>
                    <a:pt x="2921297" y="1335605"/>
                  </a:lnTo>
                  <a:lnTo>
                    <a:pt x="2976145" y="1334381"/>
                  </a:lnTo>
                  <a:lnTo>
                    <a:pt x="3034893" y="1333572"/>
                  </a:lnTo>
                  <a:lnTo>
                    <a:pt x="3083868" y="1333119"/>
                  </a:lnTo>
                  <a:lnTo>
                    <a:pt x="3135315" y="1332636"/>
                  </a:lnTo>
                  <a:lnTo>
                    <a:pt x="3188650" y="1332183"/>
                  </a:lnTo>
                  <a:lnTo>
                    <a:pt x="3243282" y="1331823"/>
                  </a:lnTo>
                  <a:lnTo>
                    <a:pt x="3298627" y="1331617"/>
                  </a:lnTo>
                  <a:lnTo>
                    <a:pt x="3354095" y="1331627"/>
                  </a:lnTo>
                  <a:lnTo>
                    <a:pt x="3409099" y="1331915"/>
                  </a:lnTo>
                  <a:lnTo>
                    <a:pt x="3463052" y="1332543"/>
                  </a:lnTo>
                  <a:lnTo>
                    <a:pt x="3515367" y="1333572"/>
                  </a:lnTo>
                  <a:lnTo>
                    <a:pt x="3565530" y="1335044"/>
                  </a:lnTo>
                  <a:lnTo>
                    <a:pt x="3613870" y="1336919"/>
                  </a:lnTo>
                  <a:lnTo>
                    <a:pt x="3661067" y="1339134"/>
                  </a:lnTo>
                  <a:lnTo>
                    <a:pt x="3707802" y="1341627"/>
                  </a:lnTo>
                  <a:lnTo>
                    <a:pt x="3754753" y="1344337"/>
                  </a:lnTo>
                  <a:lnTo>
                    <a:pt x="3802600" y="1347201"/>
                  </a:lnTo>
                  <a:lnTo>
                    <a:pt x="3852024" y="1350157"/>
                  </a:lnTo>
                  <a:lnTo>
                    <a:pt x="3903702" y="1353143"/>
                  </a:lnTo>
                  <a:lnTo>
                    <a:pt x="3958317" y="1356097"/>
                  </a:lnTo>
                  <a:lnTo>
                    <a:pt x="4005534" y="1358599"/>
                  </a:lnTo>
                  <a:lnTo>
                    <a:pt x="4054798" y="1361300"/>
                  </a:lnTo>
                  <a:lnTo>
                    <a:pt x="4105737" y="1364148"/>
                  </a:lnTo>
                  <a:lnTo>
                    <a:pt x="4157977" y="1367092"/>
                  </a:lnTo>
                  <a:lnTo>
                    <a:pt x="4211148" y="1370082"/>
                  </a:lnTo>
                  <a:lnTo>
                    <a:pt x="4264877" y="1373066"/>
                  </a:lnTo>
                  <a:lnTo>
                    <a:pt x="4318791" y="1375994"/>
                  </a:lnTo>
                  <a:lnTo>
                    <a:pt x="4372520" y="1378814"/>
                  </a:lnTo>
                  <a:lnTo>
                    <a:pt x="4425689" y="1381476"/>
                  </a:lnTo>
                  <a:lnTo>
                    <a:pt x="4477929" y="1383929"/>
                  </a:lnTo>
                  <a:lnTo>
                    <a:pt x="4528865" y="1386122"/>
                  </a:lnTo>
                  <a:lnTo>
                    <a:pt x="4586085" y="1388297"/>
                  </a:lnTo>
                  <a:lnTo>
                    <a:pt x="4646397" y="1390324"/>
                  </a:lnTo>
                  <a:lnTo>
                    <a:pt x="4708317" y="1392202"/>
                  </a:lnTo>
                  <a:lnTo>
                    <a:pt x="4770356" y="1393930"/>
                  </a:lnTo>
                  <a:lnTo>
                    <a:pt x="4831030" y="1395509"/>
                  </a:lnTo>
                  <a:lnTo>
                    <a:pt x="4888852" y="1396938"/>
                  </a:lnTo>
                  <a:lnTo>
                    <a:pt x="4942335" y="1398216"/>
                  </a:lnTo>
                  <a:lnTo>
                    <a:pt x="4989993" y="1399344"/>
                  </a:lnTo>
                  <a:lnTo>
                    <a:pt x="5030340" y="1400321"/>
                  </a:lnTo>
                  <a:lnTo>
                    <a:pt x="5061889" y="1401147"/>
                  </a:lnTo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40122" y="1234955"/>
            <a:ext cx="5086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Loss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28790" y="4460175"/>
            <a:ext cx="456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Garamond" panose="02020404030301010803" pitchFamily="18" charset="0"/>
                <a:cs typeface="Arial"/>
              </a:rPr>
              <a:t>time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98417" y="1628554"/>
            <a:ext cx="1969135" cy="562526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pc="-5" dirty="0">
                <a:latin typeface="Garamond" panose="02020404030301010803" pitchFamily="18" charset="0"/>
                <a:cs typeface="Arial"/>
              </a:rPr>
              <a:t>Loss plateaus: </a:t>
            </a:r>
            <a:r>
              <a:rPr spc="-25" dirty="0">
                <a:latin typeface="Garamond" panose="02020404030301010803" pitchFamily="18" charset="0"/>
                <a:cs typeface="Arial"/>
              </a:rPr>
              <a:t>Try  </a:t>
            </a:r>
            <a:r>
              <a:rPr spc="-5" dirty="0">
                <a:latin typeface="Garamond" panose="02020404030301010803" pitchFamily="18" charset="0"/>
                <a:cs typeface="Arial"/>
              </a:rPr>
              <a:t>learning </a:t>
            </a:r>
            <a:r>
              <a:rPr dirty="0">
                <a:latin typeface="Garamond" panose="02020404030301010803" pitchFamily="18" charset="0"/>
                <a:cs typeface="Arial"/>
              </a:rPr>
              <a:t>rate</a:t>
            </a:r>
            <a:r>
              <a:rPr spc="-95" dirty="0">
                <a:latin typeface="Garamond" panose="02020404030301010803" pitchFamily="18" charset="0"/>
                <a:cs typeface="Arial"/>
              </a:rPr>
              <a:t> </a:t>
            </a:r>
            <a:r>
              <a:rPr spc="-5" dirty="0">
                <a:latin typeface="Garamond" panose="02020404030301010803" pitchFamily="18" charset="0"/>
                <a:cs typeface="Arial"/>
              </a:rPr>
              <a:t>decay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553606" y="2047060"/>
            <a:ext cx="723265" cy="1376680"/>
            <a:chOff x="3553605" y="1189810"/>
            <a:chExt cx="723265" cy="1376680"/>
          </a:xfrm>
        </p:grpSpPr>
        <p:sp>
          <p:nvSpPr>
            <p:cNvPr id="12" name="object 12"/>
            <p:cNvSpPr/>
            <p:nvPr/>
          </p:nvSpPr>
          <p:spPr>
            <a:xfrm>
              <a:off x="3578367" y="1194572"/>
              <a:ext cx="694055" cy="1329055"/>
            </a:xfrm>
            <a:custGeom>
              <a:avLst/>
              <a:gdLst/>
              <a:ahLst/>
              <a:cxnLst/>
              <a:rect l="l" t="t" r="r" b="b"/>
              <a:pathLst>
                <a:path w="694054" h="1329055">
                  <a:moveTo>
                    <a:pt x="693548" y="0"/>
                  </a:moveTo>
                  <a:lnTo>
                    <a:pt x="0" y="1328722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558367" y="2516019"/>
              <a:ext cx="34290" cy="45720"/>
            </a:xfrm>
            <a:custGeom>
              <a:avLst/>
              <a:gdLst/>
              <a:ahLst/>
              <a:cxnLst/>
              <a:rect l="l" t="t" r="r" b="b"/>
              <a:pathLst>
                <a:path w="34289" h="45719">
                  <a:moveTo>
                    <a:pt x="0" y="45599"/>
                  </a:moveTo>
                  <a:lnTo>
                    <a:pt x="6049" y="0"/>
                  </a:lnTo>
                  <a:lnTo>
                    <a:pt x="33949" y="14574"/>
                  </a:lnTo>
                  <a:lnTo>
                    <a:pt x="0" y="4559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558367" y="2516019"/>
              <a:ext cx="34290" cy="45720"/>
            </a:xfrm>
            <a:custGeom>
              <a:avLst/>
              <a:gdLst/>
              <a:ahLst/>
              <a:cxnLst/>
              <a:rect l="l" t="t" r="r" b="b"/>
              <a:pathLst>
                <a:path w="34289" h="45719">
                  <a:moveTo>
                    <a:pt x="6049" y="0"/>
                  </a:moveTo>
                  <a:lnTo>
                    <a:pt x="0" y="45599"/>
                  </a:lnTo>
                  <a:lnTo>
                    <a:pt x="33949" y="14574"/>
                  </a:lnTo>
                  <a:lnTo>
                    <a:pt x="6049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57925" y="5574843"/>
            <a:ext cx="8875395" cy="273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  <a:tabLst>
                <a:tab pos="5253355" algn="l"/>
                <a:tab pos="7310755" algn="l"/>
              </a:tabLst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Fei-Fei Li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&amp; Justin Johnson &amp;</a:t>
            </a:r>
            <a:r>
              <a:rPr spc="-1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Serena</a:t>
            </a:r>
            <a:r>
              <a:rPr spc="-3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4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Yeung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April 25,</a:t>
            </a:r>
            <a:r>
              <a:rPr sz="3000" spc="-142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2019</a:t>
            </a:r>
            <a:endParaRPr sz="3000" baseline="-4166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99119" y="5562144"/>
            <a:ext cx="123888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2000" spc="-9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xfrm>
            <a:off x="7456513" y="4704893"/>
            <a:ext cx="159004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310"/>
              </a:lnSpc>
            </a:pPr>
            <a:r>
              <a:rPr lang="en-US" spc="-5" dirty="0">
                <a:latin typeface="Garamond" panose="02020404030301010803" pitchFamily="18" charset="0"/>
              </a:rPr>
              <a:t>April 25,</a:t>
            </a:r>
            <a:r>
              <a:rPr lang="en-US" spc="-90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xfrm>
            <a:off x="145224" y="4709647"/>
            <a:ext cx="44907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Fei-Fei Li </a:t>
            </a:r>
            <a:r>
              <a:rPr lang="en-US" dirty="0">
                <a:latin typeface="Garamond" panose="02020404030301010803" pitchFamily="18" charset="0"/>
              </a:rPr>
              <a:t>&amp; Justin Johnson &amp; </a:t>
            </a:r>
            <a:r>
              <a:rPr lang="en-US" spc="-5" dirty="0">
                <a:latin typeface="Garamond" panose="02020404030301010803" pitchFamily="18" charset="0"/>
              </a:rPr>
              <a:t>Serena</a:t>
            </a:r>
            <a:r>
              <a:rPr lang="en-US" spc="-145" dirty="0">
                <a:latin typeface="Garamond" panose="02020404030301010803" pitchFamily="18" charset="0"/>
              </a:rPr>
              <a:t> </a:t>
            </a:r>
            <a:r>
              <a:rPr lang="en-US" spc="-40" dirty="0">
                <a:latin typeface="Garamond" panose="02020404030301010803" pitchFamily="18" charset="0"/>
              </a:rPr>
              <a:t>Yeung</a:t>
            </a:r>
            <a:endParaRPr spc="-40" dirty="0">
              <a:latin typeface="Garamond" panose="02020404030301010803" pitchFamily="18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89947" y="5570691"/>
            <a:ext cx="56642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pPr marL="38100">
                <a:lnSpc>
                  <a:spcPts val="2310"/>
                </a:lnSpc>
              </a:pPr>
              <a:t>32</a:t>
            </a:fld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CAA4F7-A6EC-4CD6-9FF0-4DD8FCA70CFC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15206" y="1136925"/>
            <a:ext cx="5130800" cy="3213735"/>
            <a:chOff x="1615206" y="279674"/>
            <a:chExt cx="5130800" cy="3213735"/>
          </a:xfrm>
        </p:grpSpPr>
        <p:sp>
          <p:nvSpPr>
            <p:cNvPr id="3" name="object 3"/>
            <p:cNvSpPr/>
            <p:nvPr/>
          </p:nvSpPr>
          <p:spPr>
            <a:xfrm>
              <a:off x="1656196" y="375649"/>
              <a:ext cx="0" cy="3076575"/>
            </a:xfrm>
            <a:custGeom>
              <a:avLst/>
              <a:gdLst/>
              <a:ahLst/>
              <a:cxnLst/>
              <a:rect l="l" t="t" r="r" b="b"/>
              <a:pathLst>
                <a:path h="3076575">
                  <a:moveTo>
                    <a:pt x="0" y="3076193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615206" y="279674"/>
              <a:ext cx="81979" cy="1054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656196" y="3451843"/>
              <a:ext cx="4558030" cy="0"/>
            </a:xfrm>
            <a:custGeom>
              <a:avLst/>
              <a:gdLst/>
              <a:ahLst/>
              <a:cxnLst/>
              <a:rect l="l" t="t" r="r" b="b"/>
              <a:pathLst>
                <a:path w="4558030">
                  <a:moveTo>
                    <a:pt x="0" y="0"/>
                  </a:moveTo>
                  <a:lnTo>
                    <a:pt x="455789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6204562" y="3410843"/>
              <a:ext cx="105499" cy="8199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664921" y="1324947"/>
              <a:ext cx="5062220" cy="1454150"/>
            </a:xfrm>
            <a:custGeom>
              <a:avLst/>
              <a:gdLst/>
              <a:ahLst/>
              <a:cxnLst/>
              <a:rect l="l" t="t" r="r" b="b"/>
              <a:pathLst>
                <a:path w="5062220" h="1454150">
                  <a:moveTo>
                    <a:pt x="0" y="0"/>
                  </a:moveTo>
                  <a:lnTo>
                    <a:pt x="12673" y="25564"/>
                  </a:lnTo>
                  <a:lnTo>
                    <a:pt x="28373" y="58693"/>
                  </a:lnTo>
                  <a:lnTo>
                    <a:pt x="47880" y="99044"/>
                  </a:lnTo>
                  <a:lnTo>
                    <a:pt x="71974" y="146278"/>
                  </a:lnTo>
                  <a:lnTo>
                    <a:pt x="101437" y="200051"/>
                  </a:lnTo>
                  <a:lnTo>
                    <a:pt x="137049" y="260024"/>
                  </a:lnTo>
                  <a:lnTo>
                    <a:pt x="157499" y="293644"/>
                  </a:lnTo>
                  <a:lnTo>
                    <a:pt x="179788" y="331063"/>
                  </a:lnTo>
                  <a:lnTo>
                    <a:pt x="203753" y="371560"/>
                  </a:lnTo>
                  <a:lnTo>
                    <a:pt x="229226" y="414414"/>
                  </a:lnTo>
                  <a:lnTo>
                    <a:pt x="256040" y="458903"/>
                  </a:lnTo>
                  <a:lnTo>
                    <a:pt x="284031" y="504305"/>
                  </a:lnTo>
                  <a:lnTo>
                    <a:pt x="313032" y="549900"/>
                  </a:lnTo>
                  <a:lnTo>
                    <a:pt x="342877" y="594965"/>
                  </a:lnTo>
                  <a:lnTo>
                    <a:pt x="373400" y="638778"/>
                  </a:lnTo>
                  <a:lnTo>
                    <a:pt x="404434" y="680620"/>
                  </a:lnTo>
                  <a:lnTo>
                    <a:pt x="435814" y="719767"/>
                  </a:lnTo>
                  <a:lnTo>
                    <a:pt x="467374" y="755498"/>
                  </a:lnTo>
                  <a:lnTo>
                    <a:pt x="502581" y="791354"/>
                  </a:lnTo>
                  <a:lnTo>
                    <a:pt x="539137" y="825316"/>
                  </a:lnTo>
                  <a:lnTo>
                    <a:pt x="576838" y="857535"/>
                  </a:lnTo>
                  <a:lnTo>
                    <a:pt x="615480" y="888164"/>
                  </a:lnTo>
                  <a:lnTo>
                    <a:pt x="654862" y="917355"/>
                  </a:lnTo>
                  <a:lnTo>
                    <a:pt x="694780" y="945259"/>
                  </a:lnTo>
                  <a:lnTo>
                    <a:pt x="735030" y="972031"/>
                  </a:lnTo>
                  <a:lnTo>
                    <a:pt x="775410" y="997820"/>
                  </a:lnTo>
                  <a:lnTo>
                    <a:pt x="815717" y="1022781"/>
                  </a:lnTo>
                  <a:lnTo>
                    <a:pt x="855747" y="1047064"/>
                  </a:lnTo>
                  <a:lnTo>
                    <a:pt x="895298" y="1070822"/>
                  </a:lnTo>
                  <a:lnTo>
                    <a:pt x="939822" y="1095924"/>
                  </a:lnTo>
                  <a:lnTo>
                    <a:pt x="986470" y="1119532"/>
                  </a:lnTo>
                  <a:lnTo>
                    <a:pt x="1034363" y="1141803"/>
                  </a:lnTo>
                  <a:lnTo>
                    <a:pt x="1082623" y="1162896"/>
                  </a:lnTo>
                  <a:lnTo>
                    <a:pt x="1130372" y="1182967"/>
                  </a:lnTo>
                  <a:lnTo>
                    <a:pt x="1176733" y="1202175"/>
                  </a:lnTo>
                  <a:lnTo>
                    <a:pt x="1220826" y="1220677"/>
                  </a:lnTo>
                  <a:lnTo>
                    <a:pt x="1261774" y="1238630"/>
                  </a:lnTo>
                  <a:lnTo>
                    <a:pt x="1298698" y="1256193"/>
                  </a:lnTo>
                  <a:lnTo>
                    <a:pt x="1362548" y="1298033"/>
                  </a:lnTo>
                  <a:lnTo>
                    <a:pt x="1387460" y="1344758"/>
                  </a:lnTo>
                  <a:lnTo>
                    <a:pt x="1394728" y="1366052"/>
                  </a:lnTo>
                  <a:lnTo>
                    <a:pt x="1407991" y="1385354"/>
                  </a:lnTo>
                  <a:lnTo>
                    <a:pt x="1480872" y="1416147"/>
                  </a:lnTo>
                  <a:lnTo>
                    <a:pt x="1553845" y="1427195"/>
                  </a:lnTo>
                  <a:lnTo>
                    <a:pt x="1596760" y="1431228"/>
                  </a:lnTo>
                  <a:lnTo>
                    <a:pt x="1643374" y="1434433"/>
                  </a:lnTo>
                  <a:lnTo>
                    <a:pt x="1693244" y="1436930"/>
                  </a:lnTo>
                  <a:lnTo>
                    <a:pt x="1745931" y="1438843"/>
                  </a:lnTo>
                  <a:lnTo>
                    <a:pt x="1800993" y="1440294"/>
                  </a:lnTo>
                  <a:lnTo>
                    <a:pt x="1857989" y="1441408"/>
                  </a:lnTo>
                  <a:lnTo>
                    <a:pt x="1916478" y="1442305"/>
                  </a:lnTo>
                  <a:lnTo>
                    <a:pt x="1976019" y="1443110"/>
                  </a:lnTo>
                  <a:lnTo>
                    <a:pt x="2036171" y="1443945"/>
                  </a:lnTo>
                  <a:lnTo>
                    <a:pt x="2096494" y="1444933"/>
                  </a:lnTo>
                  <a:lnTo>
                    <a:pt x="2156545" y="1446197"/>
                  </a:lnTo>
                  <a:lnTo>
                    <a:pt x="2203555" y="1447261"/>
                  </a:lnTo>
                  <a:lnTo>
                    <a:pt x="2252935" y="1448247"/>
                  </a:lnTo>
                  <a:lnTo>
                    <a:pt x="2304327" y="1449155"/>
                  </a:lnTo>
                  <a:lnTo>
                    <a:pt x="2357374" y="1449986"/>
                  </a:lnTo>
                  <a:lnTo>
                    <a:pt x="2411719" y="1450738"/>
                  </a:lnTo>
                  <a:lnTo>
                    <a:pt x="2467003" y="1451413"/>
                  </a:lnTo>
                  <a:lnTo>
                    <a:pt x="2522870" y="1452010"/>
                  </a:lnTo>
                  <a:lnTo>
                    <a:pt x="2578961" y="1452529"/>
                  </a:lnTo>
                  <a:lnTo>
                    <a:pt x="2634919" y="1452970"/>
                  </a:lnTo>
                  <a:lnTo>
                    <a:pt x="2690386" y="1453333"/>
                  </a:lnTo>
                  <a:lnTo>
                    <a:pt x="2745006" y="1453619"/>
                  </a:lnTo>
                  <a:lnTo>
                    <a:pt x="2798420" y="1453826"/>
                  </a:lnTo>
                  <a:lnTo>
                    <a:pt x="2850271" y="1453956"/>
                  </a:lnTo>
                  <a:lnTo>
                    <a:pt x="2900202" y="1454008"/>
                  </a:lnTo>
                  <a:lnTo>
                    <a:pt x="2947854" y="1453982"/>
                  </a:lnTo>
                  <a:lnTo>
                    <a:pt x="2992870" y="1453878"/>
                  </a:lnTo>
                  <a:lnTo>
                    <a:pt x="3034893" y="1453697"/>
                  </a:lnTo>
                  <a:lnTo>
                    <a:pt x="3100287" y="1453040"/>
                  </a:lnTo>
                  <a:lnTo>
                    <a:pt x="3159697" y="1451894"/>
                  </a:lnTo>
                  <a:lnTo>
                    <a:pt x="3214048" y="1450372"/>
                  </a:lnTo>
                  <a:lnTo>
                    <a:pt x="3264263" y="1448588"/>
                  </a:lnTo>
                  <a:lnTo>
                    <a:pt x="3311265" y="1446653"/>
                  </a:lnTo>
                  <a:lnTo>
                    <a:pt x="3355977" y="1444680"/>
                  </a:lnTo>
                  <a:lnTo>
                    <a:pt x="3399322" y="1442783"/>
                  </a:lnTo>
                  <a:lnTo>
                    <a:pt x="3442225" y="1441074"/>
                  </a:lnTo>
                  <a:lnTo>
                    <a:pt x="3485607" y="1439666"/>
                  </a:lnTo>
                  <a:lnTo>
                    <a:pt x="3530392" y="1438672"/>
                  </a:lnTo>
                  <a:lnTo>
                    <a:pt x="3585304" y="1437903"/>
                  </a:lnTo>
                  <a:lnTo>
                    <a:pt x="3636548" y="1437441"/>
                  </a:lnTo>
                  <a:lnTo>
                    <a:pt x="3685621" y="1437243"/>
                  </a:lnTo>
                  <a:lnTo>
                    <a:pt x="3734020" y="1437265"/>
                  </a:lnTo>
                  <a:lnTo>
                    <a:pt x="3783240" y="1437463"/>
                  </a:lnTo>
                  <a:lnTo>
                    <a:pt x="3834778" y="1437793"/>
                  </a:lnTo>
                  <a:lnTo>
                    <a:pt x="3890130" y="1438210"/>
                  </a:lnTo>
                  <a:lnTo>
                    <a:pt x="3950792" y="1438672"/>
                  </a:lnTo>
                  <a:lnTo>
                    <a:pt x="3994821" y="1439058"/>
                  </a:lnTo>
                  <a:lnTo>
                    <a:pt x="4041509" y="1439576"/>
                  </a:lnTo>
                  <a:lnTo>
                    <a:pt x="4090387" y="1440199"/>
                  </a:lnTo>
                  <a:lnTo>
                    <a:pt x="4140986" y="1440900"/>
                  </a:lnTo>
                  <a:lnTo>
                    <a:pt x="4192835" y="1441654"/>
                  </a:lnTo>
                  <a:lnTo>
                    <a:pt x="4245466" y="1442434"/>
                  </a:lnTo>
                  <a:lnTo>
                    <a:pt x="4298410" y="1443214"/>
                  </a:lnTo>
                  <a:lnTo>
                    <a:pt x="4351196" y="1443968"/>
                  </a:lnTo>
                  <a:lnTo>
                    <a:pt x="4403357" y="1444669"/>
                  </a:lnTo>
                  <a:lnTo>
                    <a:pt x="4454422" y="1445292"/>
                  </a:lnTo>
                  <a:lnTo>
                    <a:pt x="4503923" y="1445810"/>
                  </a:lnTo>
                  <a:lnTo>
                    <a:pt x="4551390" y="1446197"/>
                  </a:lnTo>
                  <a:lnTo>
                    <a:pt x="4608385" y="1446500"/>
                  </a:lnTo>
                  <a:lnTo>
                    <a:pt x="4667422" y="1446677"/>
                  </a:lnTo>
                  <a:lnTo>
                    <a:pt x="4727241" y="1446748"/>
                  </a:lnTo>
                  <a:lnTo>
                    <a:pt x="4786580" y="1446737"/>
                  </a:lnTo>
                  <a:lnTo>
                    <a:pt x="4844177" y="1446665"/>
                  </a:lnTo>
                  <a:lnTo>
                    <a:pt x="4898772" y="1446557"/>
                  </a:lnTo>
                  <a:lnTo>
                    <a:pt x="4949102" y="1446433"/>
                  </a:lnTo>
                  <a:lnTo>
                    <a:pt x="4993905" y="1446317"/>
                  </a:lnTo>
                  <a:lnTo>
                    <a:pt x="5031922" y="1446230"/>
                  </a:lnTo>
                  <a:lnTo>
                    <a:pt x="5061889" y="1446197"/>
                  </a:lnTo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3108993" y="1284672"/>
              <a:ext cx="0" cy="1204595"/>
            </a:xfrm>
            <a:custGeom>
              <a:avLst/>
              <a:gdLst/>
              <a:ahLst/>
              <a:cxnLst/>
              <a:rect l="l" t="t" r="r" b="b"/>
              <a:pathLst>
                <a:path h="1204595">
                  <a:moveTo>
                    <a:pt x="0" y="0"/>
                  </a:moveTo>
                  <a:lnTo>
                    <a:pt x="0" y="1204347"/>
                  </a:lnTo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093268" y="248901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24" y="43224"/>
                  </a:moveTo>
                  <a:lnTo>
                    <a:pt x="0" y="0"/>
                  </a:lnTo>
                  <a:lnTo>
                    <a:pt x="31449" y="0"/>
                  </a:lnTo>
                  <a:lnTo>
                    <a:pt x="15724" y="43224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093268" y="248901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24" y="43224"/>
                  </a:lnTo>
                  <a:lnTo>
                    <a:pt x="31449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840122" y="1234955"/>
            <a:ext cx="508634" cy="299720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5" dirty="0">
                <a:solidFill>
                  <a:srgbClr val="0000FF"/>
                </a:solidFill>
              </a:rPr>
              <a:t>Loss</a:t>
            </a:r>
            <a:endParaRPr sz="1800" dirty="0"/>
          </a:p>
        </p:txBody>
      </p:sp>
      <p:sp>
        <p:nvSpPr>
          <p:cNvPr id="15" name="object 15"/>
          <p:cNvSpPr txBox="1"/>
          <p:nvPr/>
        </p:nvSpPr>
        <p:spPr>
          <a:xfrm>
            <a:off x="157925" y="5574843"/>
            <a:ext cx="8875395" cy="273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  <a:tabLst>
                <a:tab pos="5253355" algn="l"/>
                <a:tab pos="7310755" algn="l"/>
              </a:tabLst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Fei-Fei Li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&amp; Justin Johnson &amp;</a:t>
            </a:r>
            <a:r>
              <a:rPr spc="-1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Serena</a:t>
            </a:r>
            <a:r>
              <a:rPr spc="-3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4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Yeung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April 25,</a:t>
            </a:r>
            <a:r>
              <a:rPr sz="3000" spc="-142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2019</a:t>
            </a:r>
            <a:endParaRPr sz="3000" baseline="-4166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99119" y="5562144"/>
            <a:ext cx="123888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2000" spc="-9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xfrm>
            <a:off x="3124200" y="7959725"/>
            <a:ext cx="2895600" cy="294953"/>
          </a:xfrm>
          <a:prstGeom prst="rect">
            <a:avLst/>
          </a:prstGeom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latin typeface="Garamond" panose="02020404030301010803" pitchFamily="18" charset="0"/>
              </a:rPr>
              <a:t>April 25,</a:t>
            </a:r>
            <a:r>
              <a:rPr spc="-90" dirty="0">
                <a:latin typeface="Garamond" panose="02020404030301010803" pitchFamily="18" charset="0"/>
              </a:rPr>
              <a:t> </a:t>
            </a:r>
            <a:r>
              <a:rPr spc="-5" dirty="0">
                <a:latin typeface="Garamond" panose="02020404030301010803" pitchFamily="18" charset="0"/>
              </a:rPr>
              <a:t>2019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xfrm>
            <a:off x="457200" y="7959725"/>
            <a:ext cx="2133600" cy="807913"/>
          </a:xfrm>
          <a:prstGeom prst="rect">
            <a:avLst/>
          </a:prstGeom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latin typeface="Garamond" panose="02020404030301010803" pitchFamily="18" charset="0"/>
              </a:rPr>
              <a:t>Fei-Fei Li </a:t>
            </a:r>
            <a:r>
              <a:rPr dirty="0">
                <a:latin typeface="Garamond" panose="02020404030301010803" pitchFamily="18" charset="0"/>
              </a:rPr>
              <a:t>&amp; Justin Johnson &amp; </a:t>
            </a:r>
            <a:r>
              <a:rPr spc="-5" dirty="0">
                <a:latin typeface="Garamond" panose="02020404030301010803" pitchFamily="18" charset="0"/>
              </a:rPr>
              <a:t>Serena</a:t>
            </a:r>
            <a:r>
              <a:rPr spc="-145" dirty="0">
                <a:latin typeface="Garamond" panose="02020404030301010803" pitchFamily="18" charset="0"/>
              </a:rPr>
              <a:t> </a:t>
            </a:r>
            <a:r>
              <a:rPr spc="-40" dirty="0">
                <a:latin typeface="Garamond" panose="02020404030301010803" pitchFamily="18" charset="0"/>
              </a:rPr>
              <a:t>Yeung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689947" y="5570691"/>
            <a:ext cx="56642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pPr marL="38100">
                <a:lnSpc>
                  <a:spcPts val="2310"/>
                </a:lnSpc>
              </a:pPr>
              <a:t>33</a:t>
            </a:fld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28790" y="4460175"/>
            <a:ext cx="456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Garamond" panose="02020404030301010803" pitchFamily="18" charset="0"/>
                <a:cs typeface="Arial"/>
              </a:rPr>
              <a:t>time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62998" y="1656816"/>
            <a:ext cx="254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Garamond" panose="02020404030301010803" pitchFamily="18" charset="0"/>
                <a:cs typeface="Arial"/>
              </a:rPr>
              <a:t>Learning </a:t>
            </a:r>
            <a:r>
              <a:rPr dirty="0">
                <a:latin typeface="Garamond" panose="02020404030301010803" pitchFamily="18" charset="0"/>
                <a:cs typeface="Arial"/>
              </a:rPr>
              <a:t>rate step</a:t>
            </a:r>
            <a:r>
              <a:rPr spc="-100" dirty="0">
                <a:latin typeface="Garamond" panose="02020404030301010803" pitchFamily="18" charset="0"/>
                <a:cs typeface="Arial"/>
              </a:rPr>
              <a:t> </a:t>
            </a:r>
            <a:r>
              <a:rPr spc="-5" dirty="0">
                <a:latin typeface="Garamond" panose="02020404030301010803" pitchFamily="18" charset="0"/>
                <a:cs typeface="Arial"/>
              </a:rPr>
              <a:t>decay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91260" y="1685104"/>
            <a:ext cx="2870200" cy="85216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pc="-5" dirty="0">
                <a:latin typeface="Garamond" panose="02020404030301010803" pitchFamily="18" charset="0"/>
                <a:cs typeface="Arial"/>
              </a:rPr>
              <a:t>Loss was </a:t>
            </a:r>
            <a:r>
              <a:rPr dirty="0">
                <a:latin typeface="Garamond" panose="02020404030301010803" pitchFamily="18" charset="0"/>
                <a:cs typeface="Arial"/>
              </a:rPr>
              <a:t>still </a:t>
            </a:r>
            <a:r>
              <a:rPr spc="-5" dirty="0">
                <a:latin typeface="Garamond" panose="02020404030301010803" pitchFamily="18" charset="0"/>
                <a:cs typeface="Arial"/>
              </a:rPr>
              <a:t>going down  when learning </a:t>
            </a:r>
            <a:r>
              <a:rPr dirty="0">
                <a:latin typeface="Garamond" panose="02020404030301010803" pitchFamily="18" charset="0"/>
                <a:cs typeface="Arial"/>
              </a:rPr>
              <a:t>rate</a:t>
            </a:r>
            <a:r>
              <a:rPr spc="-90" dirty="0">
                <a:latin typeface="Garamond" panose="02020404030301010803" pitchFamily="18" charset="0"/>
                <a:cs typeface="Arial"/>
              </a:rPr>
              <a:t> </a:t>
            </a:r>
            <a:r>
              <a:rPr spc="-5" dirty="0">
                <a:latin typeface="Garamond" panose="02020404030301010803" pitchFamily="18" charset="0"/>
                <a:cs typeface="Arial"/>
              </a:rPr>
              <a:t>dropped,  </a:t>
            </a:r>
            <a:r>
              <a:rPr dirty="0">
                <a:latin typeface="Garamond" panose="02020404030301010803" pitchFamily="18" charset="0"/>
                <a:cs typeface="Arial"/>
              </a:rPr>
              <a:t>you </a:t>
            </a:r>
            <a:r>
              <a:rPr spc="-5" dirty="0">
                <a:latin typeface="Garamond" panose="02020404030301010803" pitchFamily="18" charset="0"/>
                <a:cs typeface="Arial"/>
              </a:rPr>
              <a:t>decayed too</a:t>
            </a:r>
            <a:r>
              <a:rPr spc="-35" dirty="0">
                <a:latin typeface="Garamond" panose="02020404030301010803" pitchFamily="18" charset="0"/>
                <a:cs typeface="Arial"/>
              </a:rPr>
              <a:t> </a:t>
            </a:r>
            <a:r>
              <a:rPr spc="-5" dirty="0">
                <a:latin typeface="Garamond" panose="02020404030301010803" pitchFamily="18" charset="0"/>
                <a:cs typeface="Arial"/>
              </a:rPr>
              <a:t>early!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5FEE5A-3E68-4D14-8498-67CBBFCA29C6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57925" y="5574843"/>
            <a:ext cx="8875395" cy="273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  <a:tabLst>
                <a:tab pos="5253355" algn="l"/>
                <a:tab pos="7310755" algn="l"/>
              </a:tabLst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Fei-Fei Li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&amp; Justin Johnson &amp;</a:t>
            </a:r>
            <a:r>
              <a:rPr spc="-1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Serena</a:t>
            </a:r>
            <a:r>
              <a:rPr spc="-3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4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Yeung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April 24,</a:t>
            </a:r>
            <a:r>
              <a:rPr sz="3000" spc="-142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2018</a:t>
            </a:r>
            <a:endParaRPr sz="3000" baseline="-4166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99119" y="5562144"/>
            <a:ext cx="123888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2000" spc="-9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7456513" y="4704893"/>
            <a:ext cx="159004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310"/>
              </a:lnSpc>
            </a:pPr>
            <a:r>
              <a:rPr lang="en-US" spc="-5" dirty="0">
                <a:latin typeface="Garamond" panose="02020404030301010803" pitchFamily="18" charset="0"/>
              </a:rPr>
              <a:t>April 25,</a:t>
            </a:r>
            <a:r>
              <a:rPr lang="en-US" spc="-90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145224" y="4709647"/>
            <a:ext cx="44907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Fei-Fei Li </a:t>
            </a:r>
            <a:r>
              <a:rPr lang="en-US" dirty="0">
                <a:latin typeface="Garamond" panose="02020404030301010803" pitchFamily="18" charset="0"/>
              </a:rPr>
              <a:t>&amp; Justin Johnson &amp; </a:t>
            </a:r>
            <a:r>
              <a:rPr lang="en-US" spc="-5" dirty="0">
                <a:latin typeface="Garamond" panose="02020404030301010803" pitchFamily="18" charset="0"/>
              </a:rPr>
              <a:t>Serena</a:t>
            </a:r>
            <a:r>
              <a:rPr lang="en-US" spc="-145" dirty="0">
                <a:latin typeface="Garamond" panose="02020404030301010803" pitchFamily="18" charset="0"/>
              </a:rPr>
              <a:t> </a:t>
            </a:r>
            <a:r>
              <a:rPr lang="en-US" spc="-40" dirty="0">
                <a:latin typeface="Garamond" panose="02020404030301010803" pitchFamily="18" charset="0"/>
              </a:rPr>
              <a:t>Yeung</a:t>
            </a:r>
            <a:endParaRPr spc="-40" dirty="0">
              <a:latin typeface="Garamond" panose="02020404030301010803" pitchFamily="18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6831154" y="4713440"/>
            <a:ext cx="424815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3505">
              <a:lnSpc>
                <a:spcPts val="2310"/>
              </a:lnSpc>
            </a:pPr>
            <a:fld id="{81D60167-4931-47E6-BA6A-407CBD079E47}" type="slidenum">
              <a:rPr lang="en-US" smtClean="0">
                <a:latin typeface="Garamond" panose="02020404030301010803" pitchFamily="18" charset="0"/>
              </a:rPr>
              <a:pPr marL="103505">
                <a:lnSpc>
                  <a:spcPts val="2310"/>
                </a:lnSpc>
              </a:pPr>
              <a:t>34</a:t>
            </a:fld>
            <a:endParaRPr dirty="0">
              <a:latin typeface="Garamond" panose="02020404030301010803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3749" y="1984128"/>
            <a:ext cx="7367270" cy="18519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5" dirty="0">
                <a:latin typeface="Garamond" panose="02020404030301010803" pitchFamily="18" charset="0"/>
                <a:cs typeface="Arial"/>
              </a:rPr>
              <a:t>Step </a:t>
            </a:r>
            <a:r>
              <a:rPr sz="2400" b="1" spc="10" dirty="0">
                <a:latin typeface="Garamond" panose="02020404030301010803" pitchFamily="18" charset="0"/>
                <a:cs typeface="Arial"/>
              </a:rPr>
              <a:t>1</a:t>
            </a:r>
            <a:r>
              <a:rPr sz="2400" spc="10" dirty="0">
                <a:latin typeface="Garamond" panose="02020404030301010803" pitchFamily="18" charset="0"/>
                <a:cs typeface="Arial"/>
              </a:rPr>
              <a:t>: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Check initial</a:t>
            </a:r>
            <a:r>
              <a:rPr sz="2400" spc="-30" dirty="0"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loss</a:t>
            </a:r>
            <a:endParaRPr sz="2400" dirty="0">
              <a:latin typeface="Garamond" panose="02020404030301010803" pitchFamily="18" charset="0"/>
              <a:cs typeface="Arial"/>
            </a:endParaRPr>
          </a:p>
          <a:p>
            <a:pPr>
              <a:lnSpc>
                <a:spcPct val="100000"/>
              </a:lnSpc>
            </a:pPr>
            <a:endParaRPr sz="2450" dirty="0">
              <a:latin typeface="Garamond" panose="02020404030301010803" pitchFamily="18" charset="0"/>
              <a:cs typeface="Arial"/>
            </a:endParaRPr>
          </a:p>
          <a:p>
            <a:pPr marL="12700">
              <a:lnSpc>
                <a:spcPts val="2865"/>
              </a:lnSpc>
            </a:pPr>
            <a:r>
              <a:rPr lang="en-US" sz="2400" spc="-30" dirty="0">
                <a:latin typeface="Garamond" panose="02020404030301010803" pitchFamily="18" charset="0"/>
                <a:cs typeface="Arial"/>
              </a:rPr>
              <a:t>Without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weight </a:t>
            </a:r>
            <a:r>
              <a:rPr sz="2400" spc="-35" dirty="0">
                <a:latin typeface="Garamond" panose="02020404030301010803" pitchFamily="18" charset="0"/>
                <a:cs typeface="Arial"/>
              </a:rPr>
              <a:t>decay</a:t>
            </a:r>
            <a:r>
              <a:rPr lang="en-US" sz="2400" spc="-35" dirty="0">
                <a:latin typeface="Garamond" panose="02020404030301010803" pitchFamily="18" charset="0"/>
                <a:cs typeface="Arial"/>
              </a:rPr>
              <a:t> (regularization)</a:t>
            </a:r>
            <a:r>
              <a:rPr sz="2400" spc="-35" dirty="0">
                <a:latin typeface="Garamond" panose="02020404030301010803" pitchFamily="18" charset="0"/>
                <a:cs typeface="Arial"/>
              </a:rPr>
              <a:t>, </a:t>
            </a:r>
            <a:r>
              <a:rPr sz="2400" dirty="0">
                <a:latin typeface="Garamond" panose="02020404030301010803" pitchFamily="18" charset="0"/>
                <a:cs typeface="Arial"/>
              </a:rPr>
              <a:t>sanity check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loss at initialization</a:t>
            </a:r>
            <a:endParaRPr sz="2400" dirty="0">
              <a:latin typeface="Garamond" panose="02020404030301010803" pitchFamily="18" charset="0"/>
              <a:cs typeface="Arial"/>
            </a:endParaRPr>
          </a:p>
          <a:p>
            <a:pPr marL="12700">
              <a:lnSpc>
                <a:spcPts val="2865"/>
              </a:lnSpc>
            </a:pPr>
            <a:r>
              <a:rPr sz="2400" spc="-5" dirty="0">
                <a:latin typeface="Garamond" panose="02020404030301010803" pitchFamily="18" charset="0"/>
                <a:cs typeface="Arial"/>
              </a:rPr>
              <a:t>e.g. log(C) for </a:t>
            </a:r>
            <a:r>
              <a:rPr sz="2400" dirty="0">
                <a:latin typeface="Garamond" panose="02020404030301010803" pitchFamily="18" charset="0"/>
                <a:cs typeface="Arial"/>
              </a:rPr>
              <a:t>softmax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with </a:t>
            </a:r>
            <a:r>
              <a:rPr sz="2400" dirty="0">
                <a:latin typeface="Garamond" panose="02020404030301010803" pitchFamily="18" charset="0"/>
                <a:cs typeface="Arial"/>
              </a:rPr>
              <a:t>C</a:t>
            </a:r>
            <a:r>
              <a:rPr sz="2400" spc="-30" dirty="0">
                <a:latin typeface="Garamond" panose="02020404030301010803" pitchFamily="18" charset="0"/>
                <a:cs typeface="Arial"/>
              </a:rPr>
              <a:t> </a:t>
            </a:r>
            <a:r>
              <a:rPr sz="2400" dirty="0">
                <a:latin typeface="Garamond" panose="02020404030301010803" pitchFamily="18" charset="0"/>
                <a:cs typeface="Arial"/>
              </a:rPr>
              <a:t>classes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5768B2C0-782D-43A7-9BB5-58D677154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Choosing</a:t>
            </a:r>
            <a:r>
              <a:rPr lang="en-US" spc="-85" dirty="0"/>
              <a:t> </a:t>
            </a:r>
            <a:r>
              <a:rPr lang="en-US" spc="-5" dirty="0"/>
              <a:t>Hyperparameters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FA56F8-2798-4241-AAB8-F52050DB5CC5}"/>
              </a:ext>
            </a:extLst>
          </p:cNvPr>
          <p:cNvSpPr txBox="1"/>
          <p:nvPr/>
        </p:nvSpPr>
        <p:spPr>
          <a:xfrm>
            <a:off x="0" y="6604084"/>
            <a:ext cx="31245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Adapted from Fei-Fei Li, Justin Johnson, Serena Yeung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57925" y="5574843"/>
            <a:ext cx="8875395" cy="273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  <a:tabLst>
                <a:tab pos="5253355" algn="l"/>
                <a:tab pos="7310755" algn="l"/>
              </a:tabLst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Fei-Fei Li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&amp; Justin Johnson &amp;</a:t>
            </a:r>
            <a:r>
              <a:rPr spc="-1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Serena</a:t>
            </a:r>
            <a:r>
              <a:rPr spc="-3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4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Yeung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April 24,</a:t>
            </a:r>
            <a:r>
              <a:rPr sz="3000" spc="-142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2018</a:t>
            </a:r>
            <a:endParaRPr sz="3000" baseline="-4166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99119" y="5562144"/>
            <a:ext cx="123888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2000" spc="-9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7456513" y="4704893"/>
            <a:ext cx="159004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310"/>
              </a:lnSpc>
            </a:pPr>
            <a:r>
              <a:rPr lang="en-US" spc="-5" dirty="0">
                <a:latin typeface="Garamond" panose="02020404030301010803" pitchFamily="18" charset="0"/>
              </a:rPr>
              <a:t>April 25,</a:t>
            </a:r>
            <a:r>
              <a:rPr lang="en-US" spc="-90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145224" y="4709647"/>
            <a:ext cx="44907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Fei-Fei Li </a:t>
            </a:r>
            <a:r>
              <a:rPr lang="en-US" dirty="0">
                <a:latin typeface="Garamond" panose="02020404030301010803" pitchFamily="18" charset="0"/>
              </a:rPr>
              <a:t>&amp; Justin Johnson &amp; </a:t>
            </a:r>
            <a:r>
              <a:rPr lang="en-US" spc="-5" dirty="0">
                <a:latin typeface="Garamond" panose="02020404030301010803" pitchFamily="18" charset="0"/>
              </a:rPr>
              <a:t>Serena</a:t>
            </a:r>
            <a:r>
              <a:rPr lang="en-US" spc="-145" dirty="0">
                <a:latin typeface="Garamond" panose="02020404030301010803" pitchFamily="18" charset="0"/>
              </a:rPr>
              <a:t> </a:t>
            </a:r>
            <a:r>
              <a:rPr lang="en-US" spc="-40" dirty="0">
                <a:latin typeface="Garamond" panose="02020404030301010803" pitchFamily="18" charset="0"/>
              </a:rPr>
              <a:t>Yeung</a:t>
            </a:r>
            <a:endParaRPr spc="-40" dirty="0">
              <a:latin typeface="Garamond" panose="02020404030301010803" pitchFamily="18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6831154" y="4713440"/>
            <a:ext cx="424815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3505">
              <a:lnSpc>
                <a:spcPts val="2310"/>
              </a:lnSpc>
            </a:pPr>
            <a:fld id="{81D60167-4931-47E6-BA6A-407CBD079E47}" type="slidenum">
              <a:rPr lang="en-US" smtClean="0">
                <a:latin typeface="Garamond" panose="02020404030301010803" pitchFamily="18" charset="0"/>
              </a:rPr>
              <a:pPr marL="103505">
                <a:lnSpc>
                  <a:spcPts val="2310"/>
                </a:lnSpc>
              </a:pPr>
              <a:t>35</a:t>
            </a:fld>
            <a:endParaRPr dirty="0">
              <a:latin typeface="Garamond" panose="02020404030301010803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3750" y="1984128"/>
            <a:ext cx="7929245" cy="33471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65"/>
              </a:lnSpc>
              <a:spcBef>
                <a:spcPts val="100"/>
              </a:spcBef>
            </a:pPr>
            <a:r>
              <a:rPr sz="2400" b="1" spc="-5" dirty="0">
                <a:latin typeface="Garamond" panose="02020404030301010803" pitchFamily="18" charset="0"/>
                <a:cs typeface="Arial"/>
              </a:rPr>
              <a:t>Step </a:t>
            </a:r>
            <a:r>
              <a:rPr sz="2400" b="1" spc="10" dirty="0">
                <a:latin typeface="Garamond" panose="02020404030301010803" pitchFamily="18" charset="0"/>
                <a:cs typeface="Arial"/>
              </a:rPr>
              <a:t>1</a:t>
            </a:r>
            <a:r>
              <a:rPr sz="2400" spc="10" dirty="0">
                <a:latin typeface="Garamond" panose="02020404030301010803" pitchFamily="18" charset="0"/>
                <a:cs typeface="Arial"/>
              </a:rPr>
              <a:t>: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Check initial</a:t>
            </a:r>
            <a:r>
              <a:rPr sz="2400" spc="-30" dirty="0"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loss</a:t>
            </a:r>
            <a:endParaRPr sz="2400" dirty="0">
              <a:latin typeface="Garamond" panose="02020404030301010803" pitchFamily="18" charset="0"/>
              <a:cs typeface="Arial"/>
            </a:endParaRPr>
          </a:p>
          <a:p>
            <a:pPr marL="12700">
              <a:lnSpc>
                <a:spcPts val="2865"/>
              </a:lnSpc>
            </a:pPr>
            <a:r>
              <a:rPr sz="2400" b="1" spc="-5" dirty="0">
                <a:latin typeface="Garamond" panose="02020404030301010803" pitchFamily="18" charset="0"/>
                <a:cs typeface="Arial"/>
              </a:rPr>
              <a:t>Step </a:t>
            </a:r>
            <a:r>
              <a:rPr sz="2400" b="1" spc="10" dirty="0">
                <a:latin typeface="Garamond" panose="02020404030301010803" pitchFamily="18" charset="0"/>
                <a:cs typeface="Arial"/>
              </a:rPr>
              <a:t>2</a:t>
            </a:r>
            <a:r>
              <a:rPr sz="2400" spc="10" dirty="0">
                <a:latin typeface="Garamond" panose="02020404030301010803" pitchFamily="18" charset="0"/>
                <a:cs typeface="Arial"/>
              </a:rPr>
              <a:t>: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Overfit </a:t>
            </a:r>
            <a:r>
              <a:rPr sz="2400" dirty="0">
                <a:latin typeface="Garamond" panose="02020404030301010803" pitchFamily="18" charset="0"/>
                <a:cs typeface="Arial"/>
              </a:rPr>
              <a:t>a small</a:t>
            </a:r>
            <a:r>
              <a:rPr sz="2400" spc="-50" dirty="0">
                <a:latin typeface="Garamond" panose="02020404030301010803" pitchFamily="18" charset="0"/>
                <a:cs typeface="Arial"/>
              </a:rPr>
              <a:t> </a:t>
            </a:r>
            <a:r>
              <a:rPr sz="2400" dirty="0">
                <a:latin typeface="Garamond" panose="02020404030301010803" pitchFamily="18" charset="0"/>
                <a:cs typeface="Arial"/>
              </a:rPr>
              <a:t>sample</a:t>
            </a:r>
          </a:p>
          <a:p>
            <a:pPr>
              <a:spcBef>
                <a:spcPts val="5"/>
              </a:spcBef>
            </a:pPr>
            <a:endParaRPr sz="2550" dirty="0">
              <a:latin typeface="Garamond" panose="02020404030301010803" pitchFamily="18" charset="0"/>
              <a:cs typeface="Arial"/>
            </a:endParaRPr>
          </a:p>
          <a:p>
            <a:pPr marL="12700" marR="5080">
              <a:lnSpc>
                <a:spcPts val="2850"/>
              </a:lnSpc>
            </a:pPr>
            <a:r>
              <a:rPr sz="2400" spc="-35" dirty="0">
                <a:latin typeface="Garamond" panose="02020404030301010803" pitchFamily="18" charset="0"/>
                <a:cs typeface="Arial"/>
              </a:rPr>
              <a:t>Try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to train to 100% training accuracy on </a:t>
            </a:r>
            <a:r>
              <a:rPr sz="2400" dirty="0">
                <a:latin typeface="Garamond" panose="02020404030301010803" pitchFamily="18" charset="0"/>
                <a:cs typeface="Arial"/>
              </a:rPr>
              <a:t>a small sample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of  training data </a:t>
            </a:r>
            <a:r>
              <a:rPr sz="2400" dirty="0">
                <a:latin typeface="Garamond" panose="02020404030301010803" pitchFamily="18" charset="0"/>
                <a:cs typeface="Arial"/>
              </a:rPr>
              <a:t>(~5-10 minibatches);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fiddle with architecture,  learning </a:t>
            </a:r>
            <a:r>
              <a:rPr sz="2400" dirty="0">
                <a:latin typeface="Garamond" panose="02020404030301010803" pitchFamily="18" charset="0"/>
                <a:cs typeface="Arial"/>
              </a:rPr>
              <a:t>rate,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weight</a:t>
            </a:r>
            <a:r>
              <a:rPr sz="2400" spc="-20" dirty="0"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initialization</a:t>
            </a:r>
            <a:endParaRPr sz="2400" dirty="0">
              <a:latin typeface="Garamond" panose="02020404030301010803" pitchFamily="18" charset="0"/>
              <a:cs typeface="Arial"/>
            </a:endParaRPr>
          </a:p>
          <a:p>
            <a:pPr>
              <a:spcBef>
                <a:spcPts val="30"/>
              </a:spcBef>
            </a:pPr>
            <a:endParaRPr sz="2350" dirty="0">
              <a:latin typeface="Garamond" panose="02020404030301010803" pitchFamily="18" charset="0"/>
              <a:cs typeface="Arial"/>
            </a:endParaRPr>
          </a:p>
          <a:p>
            <a:pPr marL="12700">
              <a:lnSpc>
                <a:spcPts val="2865"/>
              </a:lnSpc>
            </a:pPr>
            <a:r>
              <a:rPr sz="2400" spc="-5" dirty="0">
                <a:latin typeface="Garamond" panose="02020404030301010803" pitchFamily="18" charset="0"/>
                <a:cs typeface="Arial"/>
              </a:rPr>
              <a:t>Loss not going down? LR too </a:t>
            </a:r>
            <a:r>
              <a:rPr sz="2400" spc="-40" dirty="0">
                <a:latin typeface="Garamond" panose="02020404030301010803" pitchFamily="18" charset="0"/>
                <a:cs typeface="Arial"/>
              </a:rPr>
              <a:t>low,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bad</a:t>
            </a:r>
            <a:r>
              <a:rPr sz="2400" dirty="0"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initialization</a:t>
            </a:r>
            <a:endParaRPr sz="2400" dirty="0">
              <a:latin typeface="Garamond" panose="02020404030301010803" pitchFamily="18" charset="0"/>
              <a:cs typeface="Arial"/>
            </a:endParaRPr>
          </a:p>
          <a:p>
            <a:pPr marL="12700">
              <a:lnSpc>
                <a:spcPts val="2865"/>
              </a:lnSpc>
            </a:pPr>
            <a:r>
              <a:rPr sz="2400" spc="-5" dirty="0">
                <a:latin typeface="Garamond" panose="02020404030301010803" pitchFamily="18" charset="0"/>
                <a:cs typeface="Arial"/>
              </a:rPr>
              <a:t>Loss explodes to Inf or NaN? LR too high, bad</a:t>
            </a:r>
            <a:r>
              <a:rPr sz="2400" spc="-70" dirty="0"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initialization</a:t>
            </a:r>
            <a:endParaRPr sz="24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A7C31F2-B5EC-46D7-A278-0AEF7AA10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Choosing</a:t>
            </a:r>
            <a:r>
              <a:rPr lang="en-US" spc="-85" dirty="0"/>
              <a:t> </a:t>
            </a:r>
            <a:r>
              <a:rPr lang="en-US" spc="-5" dirty="0"/>
              <a:t>Hyperparameters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19DC58-C230-40B8-94C1-C51DEC599093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57925" y="5574843"/>
            <a:ext cx="8875395" cy="273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  <a:tabLst>
                <a:tab pos="5253355" algn="l"/>
                <a:tab pos="7310755" algn="l"/>
              </a:tabLst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Fei-Fei Li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&amp; Justin Johnson &amp;</a:t>
            </a:r>
            <a:r>
              <a:rPr spc="-1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Serena</a:t>
            </a:r>
            <a:r>
              <a:rPr spc="-3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4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Yeung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April 24,</a:t>
            </a:r>
            <a:r>
              <a:rPr sz="3000" spc="-142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2018</a:t>
            </a:r>
            <a:endParaRPr sz="3000" baseline="-4166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99119" y="5562144"/>
            <a:ext cx="123888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2000" spc="-9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7456513" y="4704893"/>
            <a:ext cx="159004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310"/>
              </a:lnSpc>
            </a:pPr>
            <a:r>
              <a:rPr lang="en-US" spc="-5" dirty="0">
                <a:latin typeface="Garamond" panose="02020404030301010803" pitchFamily="18" charset="0"/>
              </a:rPr>
              <a:t>April 25,</a:t>
            </a:r>
            <a:r>
              <a:rPr lang="en-US" spc="-90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145224" y="4709647"/>
            <a:ext cx="44907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Fei-Fei Li </a:t>
            </a:r>
            <a:r>
              <a:rPr lang="en-US" dirty="0">
                <a:latin typeface="Garamond" panose="02020404030301010803" pitchFamily="18" charset="0"/>
              </a:rPr>
              <a:t>&amp; Justin Johnson &amp; </a:t>
            </a:r>
            <a:r>
              <a:rPr lang="en-US" spc="-5" dirty="0">
                <a:latin typeface="Garamond" panose="02020404030301010803" pitchFamily="18" charset="0"/>
              </a:rPr>
              <a:t>Serena</a:t>
            </a:r>
            <a:r>
              <a:rPr lang="en-US" spc="-145" dirty="0">
                <a:latin typeface="Garamond" panose="02020404030301010803" pitchFamily="18" charset="0"/>
              </a:rPr>
              <a:t> </a:t>
            </a:r>
            <a:r>
              <a:rPr lang="en-US" spc="-40" dirty="0">
                <a:latin typeface="Garamond" panose="02020404030301010803" pitchFamily="18" charset="0"/>
              </a:rPr>
              <a:t>Yeung</a:t>
            </a:r>
            <a:endParaRPr spc="-40" dirty="0">
              <a:latin typeface="Garamond" panose="02020404030301010803" pitchFamily="18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6831154" y="4713440"/>
            <a:ext cx="424815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3505">
              <a:lnSpc>
                <a:spcPts val="2310"/>
              </a:lnSpc>
            </a:pPr>
            <a:fld id="{81D60167-4931-47E6-BA6A-407CBD079E47}" type="slidenum">
              <a:rPr lang="en-US" smtClean="0">
                <a:latin typeface="Garamond" panose="02020404030301010803" pitchFamily="18" charset="0"/>
              </a:rPr>
              <a:pPr marL="103505">
                <a:lnSpc>
                  <a:spcPts val="2310"/>
                </a:lnSpc>
              </a:pPr>
              <a:t>36</a:t>
            </a:fld>
            <a:endParaRPr dirty="0">
              <a:latin typeface="Garamond" panose="02020404030301010803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3749" y="1984129"/>
            <a:ext cx="7974330" cy="41062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65"/>
              </a:lnSpc>
              <a:spcBef>
                <a:spcPts val="100"/>
              </a:spcBef>
            </a:pPr>
            <a:r>
              <a:rPr sz="2400" b="1" spc="-5" dirty="0">
                <a:latin typeface="Garamond" panose="02020404030301010803" pitchFamily="18" charset="0"/>
                <a:cs typeface="Arial"/>
              </a:rPr>
              <a:t>Step </a:t>
            </a:r>
            <a:r>
              <a:rPr sz="2400" b="1" spc="10" dirty="0">
                <a:latin typeface="Garamond" panose="02020404030301010803" pitchFamily="18" charset="0"/>
                <a:cs typeface="Arial"/>
              </a:rPr>
              <a:t>1</a:t>
            </a:r>
            <a:r>
              <a:rPr sz="2400" spc="10" dirty="0">
                <a:latin typeface="Garamond" panose="02020404030301010803" pitchFamily="18" charset="0"/>
                <a:cs typeface="Arial"/>
              </a:rPr>
              <a:t>: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Check initial</a:t>
            </a:r>
            <a:r>
              <a:rPr sz="2400" spc="-30" dirty="0"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loss</a:t>
            </a:r>
            <a:endParaRPr sz="2400" dirty="0">
              <a:latin typeface="Garamond" panose="02020404030301010803" pitchFamily="18" charset="0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b="1" spc="-5" dirty="0">
                <a:latin typeface="Garamond" panose="02020404030301010803" pitchFamily="18" charset="0"/>
                <a:cs typeface="Arial"/>
              </a:rPr>
              <a:t>Step </a:t>
            </a:r>
            <a:r>
              <a:rPr sz="2400" b="1" spc="10" dirty="0">
                <a:latin typeface="Garamond" panose="02020404030301010803" pitchFamily="18" charset="0"/>
                <a:cs typeface="Arial"/>
              </a:rPr>
              <a:t>2</a:t>
            </a:r>
            <a:r>
              <a:rPr sz="2400" spc="10" dirty="0">
                <a:latin typeface="Garamond" panose="02020404030301010803" pitchFamily="18" charset="0"/>
                <a:cs typeface="Arial"/>
              </a:rPr>
              <a:t>: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Overfit </a:t>
            </a:r>
            <a:r>
              <a:rPr sz="2400" dirty="0">
                <a:latin typeface="Garamond" panose="02020404030301010803" pitchFamily="18" charset="0"/>
                <a:cs typeface="Arial"/>
              </a:rPr>
              <a:t>a small</a:t>
            </a:r>
            <a:r>
              <a:rPr sz="2400" spc="-50" dirty="0">
                <a:latin typeface="Garamond" panose="02020404030301010803" pitchFamily="18" charset="0"/>
                <a:cs typeface="Arial"/>
              </a:rPr>
              <a:t> </a:t>
            </a:r>
            <a:r>
              <a:rPr sz="2400" dirty="0">
                <a:latin typeface="Garamond" panose="02020404030301010803" pitchFamily="18" charset="0"/>
                <a:cs typeface="Arial"/>
              </a:rPr>
              <a:t>sample</a:t>
            </a:r>
          </a:p>
          <a:p>
            <a:pPr marL="12700">
              <a:lnSpc>
                <a:spcPts val="2865"/>
              </a:lnSpc>
            </a:pPr>
            <a:r>
              <a:rPr sz="2400" b="1" spc="-5" dirty="0">
                <a:latin typeface="Garamond" panose="02020404030301010803" pitchFamily="18" charset="0"/>
                <a:cs typeface="Arial"/>
              </a:rPr>
              <a:t>Step </a:t>
            </a:r>
            <a:r>
              <a:rPr sz="2400" b="1" spc="10" dirty="0">
                <a:latin typeface="Garamond" panose="02020404030301010803" pitchFamily="18" charset="0"/>
                <a:cs typeface="Arial"/>
              </a:rPr>
              <a:t>3</a:t>
            </a:r>
            <a:r>
              <a:rPr sz="2400" spc="10" dirty="0">
                <a:latin typeface="Garamond" panose="02020404030301010803" pitchFamily="18" charset="0"/>
                <a:cs typeface="Arial"/>
              </a:rPr>
              <a:t>: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Find LR that </a:t>
            </a:r>
            <a:r>
              <a:rPr sz="2400" dirty="0">
                <a:latin typeface="Garamond" panose="02020404030301010803" pitchFamily="18" charset="0"/>
                <a:cs typeface="Arial"/>
              </a:rPr>
              <a:t>makes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loss go</a:t>
            </a:r>
            <a:r>
              <a:rPr sz="2400" spc="-65" dirty="0"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down</a:t>
            </a:r>
            <a:endParaRPr sz="2400" dirty="0">
              <a:latin typeface="Garamond" panose="02020404030301010803" pitchFamily="18" charset="0"/>
              <a:cs typeface="Arial"/>
            </a:endParaRPr>
          </a:p>
          <a:p>
            <a:pPr>
              <a:spcBef>
                <a:spcPts val="5"/>
              </a:spcBef>
            </a:pPr>
            <a:endParaRPr sz="2550" dirty="0">
              <a:latin typeface="Garamond" panose="02020404030301010803" pitchFamily="18" charset="0"/>
              <a:cs typeface="Arial"/>
            </a:endParaRPr>
          </a:p>
          <a:p>
            <a:pPr marL="12700" marR="5080">
              <a:lnSpc>
                <a:spcPts val="2850"/>
              </a:lnSpc>
            </a:pPr>
            <a:r>
              <a:rPr sz="2400" spc="-5" dirty="0">
                <a:latin typeface="Garamond" panose="02020404030301010803" pitchFamily="18" charset="0"/>
                <a:cs typeface="Arial"/>
              </a:rPr>
              <a:t>Use the architecture from the previous </a:t>
            </a:r>
            <a:r>
              <a:rPr sz="2400" dirty="0">
                <a:latin typeface="Garamond" panose="02020404030301010803" pitchFamily="18" charset="0"/>
                <a:cs typeface="Arial"/>
              </a:rPr>
              <a:t>step,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use all training  data, turn on </a:t>
            </a:r>
            <a:r>
              <a:rPr sz="2400" dirty="0">
                <a:latin typeface="Garamond" panose="02020404030301010803" pitchFamily="18" charset="0"/>
                <a:cs typeface="Arial"/>
              </a:rPr>
              <a:t>small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weight </a:t>
            </a:r>
            <a:r>
              <a:rPr sz="2400" spc="-35" dirty="0">
                <a:latin typeface="Garamond" panose="02020404030301010803" pitchFamily="18" charset="0"/>
                <a:cs typeface="Arial"/>
              </a:rPr>
              <a:t>decay,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find </a:t>
            </a:r>
            <a:r>
              <a:rPr sz="2400" dirty="0">
                <a:latin typeface="Garamond" panose="02020404030301010803" pitchFamily="18" charset="0"/>
                <a:cs typeface="Arial"/>
              </a:rPr>
              <a:t>a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learning </a:t>
            </a:r>
            <a:r>
              <a:rPr sz="2400" dirty="0">
                <a:latin typeface="Garamond" panose="02020404030301010803" pitchFamily="18" charset="0"/>
                <a:cs typeface="Arial"/>
              </a:rPr>
              <a:t>rate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that  </a:t>
            </a:r>
            <a:r>
              <a:rPr sz="2400" dirty="0">
                <a:latin typeface="Garamond" panose="02020404030301010803" pitchFamily="18" charset="0"/>
                <a:cs typeface="Arial"/>
              </a:rPr>
              <a:t>makes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the loss drop </a:t>
            </a:r>
            <a:r>
              <a:rPr sz="2400" dirty="0">
                <a:latin typeface="Garamond" panose="02020404030301010803" pitchFamily="18" charset="0"/>
                <a:cs typeface="Arial"/>
              </a:rPr>
              <a:t>significantly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within ~100</a:t>
            </a:r>
            <a:r>
              <a:rPr sz="2400" spc="-65" dirty="0"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iterations</a:t>
            </a:r>
            <a:endParaRPr sz="2400" dirty="0">
              <a:latin typeface="Garamond" panose="02020404030301010803" pitchFamily="18" charset="0"/>
              <a:cs typeface="Arial"/>
            </a:endParaRPr>
          </a:p>
          <a:p>
            <a:pPr>
              <a:spcBef>
                <a:spcPts val="30"/>
              </a:spcBef>
            </a:pPr>
            <a:endParaRPr sz="2350" dirty="0">
              <a:latin typeface="Garamond" panose="02020404030301010803" pitchFamily="18" charset="0"/>
              <a:cs typeface="Arial"/>
            </a:endParaRPr>
          </a:p>
          <a:p>
            <a:pPr marL="12700"/>
            <a:r>
              <a:rPr sz="2400" spc="-5" dirty="0">
                <a:latin typeface="Garamond" panose="02020404030301010803" pitchFamily="18" charset="0"/>
                <a:cs typeface="Arial"/>
              </a:rPr>
              <a:t>Good learning </a:t>
            </a:r>
            <a:r>
              <a:rPr sz="2400" dirty="0">
                <a:latin typeface="Garamond" panose="02020404030301010803" pitchFamily="18" charset="0"/>
                <a:cs typeface="Arial"/>
              </a:rPr>
              <a:t>rates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to try: 1e-1, 1e-2, 1e-3,</a:t>
            </a:r>
            <a:r>
              <a:rPr sz="2400" spc="-50" dirty="0"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1e-4</a:t>
            </a:r>
            <a:endParaRPr lang="en-US" sz="2400" spc="-5" dirty="0">
              <a:latin typeface="Garamond" panose="02020404030301010803" pitchFamily="18" charset="0"/>
              <a:cs typeface="Arial"/>
            </a:endParaRPr>
          </a:p>
          <a:p>
            <a:pPr marL="12700"/>
            <a:r>
              <a:rPr lang="en-US" sz="2400" spc="-5" dirty="0">
                <a:latin typeface="Garamond" panose="02020404030301010803" pitchFamily="18" charset="0"/>
                <a:cs typeface="Arial"/>
              </a:rPr>
              <a:t>Good weight decay to try: 1e-4, 1e-5,</a:t>
            </a:r>
            <a:r>
              <a:rPr lang="en-US" sz="2400" spc="-35" dirty="0">
                <a:latin typeface="Garamond" panose="02020404030301010803" pitchFamily="18" charset="0"/>
                <a:cs typeface="Arial"/>
              </a:rPr>
              <a:t> </a:t>
            </a:r>
            <a:r>
              <a:rPr lang="en-US" sz="2400" dirty="0">
                <a:latin typeface="Garamond" panose="02020404030301010803" pitchFamily="18" charset="0"/>
                <a:cs typeface="Arial"/>
              </a:rPr>
              <a:t>0</a:t>
            </a:r>
          </a:p>
          <a:p>
            <a:pPr marL="12700"/>
            <a:endParaRPr sz="24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6C3A23C-1EEC-42DD-B2C2-1E6A83501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Choosing</a:t>
            </a:r>
            <a:r>
              <a:rPr lang="en-US" spc="-85" dirty="0"/>
              <a:t> </a:t>
            </a:r>
            <a:r>
              <a:rPr lang="en-US" spc="-5" dirty="0"/>
              <a:t>Hyperparameters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B81AB2-C2FE-4500-97C5-3072080093B3}"/>
              </a:ext>
            </a:extLst>
          </p:cNvPr>
          <p:cNvSpPr txBox="1"/>
          <p:nvPr/>
        </p:nvSpPr>
        <p:spPr>
          <a:xfrm>
            <a:off x="0" y="6604084"/>
            <a:ext cx="31245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Adapted from Fei-Fei Li, Justin Johnson, Serena Yeung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57925" y="5574843"/>
            <a:ext cx="8875395" cy="273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  <a:tabLst>
                <a:tab pos="5253355" algn="l"/>
                <a:tab pos="7310755" algn="l"/>
              </a:tabLst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Fei-Fei Li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&amp; Justin Johnson &amp;</a:t>
            </a:r>
            <a:r>
              <a:rPr spc="-1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Serena</a:t>
            </a:r>
            <a:r>
              <a:rPr spc="-3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4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Yeung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April 24,</a:t>
            </a:r>
            <a:r>
              <a:rPr sz="3000" spc="-142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2018</a:t>
            </a:r>
            <a:endParaRPr sz="3000" baseline="-4166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99119" y="5562144"/>
            <a:ext cx="123888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2000" spc="-9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7456513" y="4704893"/>
            <a:ext cx="159004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310"/>
              </a:lnSpc>
            </a:pPr>
            <a:r>
              <a:rPr lang="en-US" spc="-5" dirty="0">
                <a:latin typeface="Garamond" panose="02020404030301010803" pitchFamily="18" charset="0"/>
              </a:rPr>
              <a:t>April 25,</a:t>
            </a:r>
            <a:r>
              <a:rPr lang="en-US" spc="-90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145224" y="4709647"/>
            <a:ext cx="44907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Fei-Fei Li </a:t>
            </a:r>
            <a:r>
              <a:rPr lang="en-US" dirty="0">
                <a:latin typeface="Garamond" panose="02020404030301010803" pitchFamily="18" charset="0"/>
              </a:rPr>
              <a:t>&amp; Justin Johnson &amp; </a:t>
            </a:r>
            <a:r>
              <a:rPr lang="en-US" spc="-5" dirty="0">
                <a:latin typeface="Garamond" panose="02020404030301010803" pitchFamily="18" charset="0"/>
              </a:rPr>
              <a:t>Serena</a:t>
            </a:r>
            <a:r>
              <a:rPr lang="en-US" spc="-145" dirty="0">
                <a:latin typeface="Garamond" panose="02020404030301010803" pitchFamily="18" charset="0"/>
              </a:rPr>
              <a:t> </a:t>
            </a:r>
            <a:r>
              <a:rPr lang="en-US" spc="-40" dirty="0">
                <a:latin typeface="Garamond" panose="02020404030301010803" pitchFamily="18" charset="0"/>
              </a:rPr>
              <a:t>Yeung</a:t>
            </a:r>
            <a:endParaRPr spc="-40" dirty="0">
              <a:latin typeface="Garamond" panose="02020404030301010803" pitchFamily="18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6831154" y="4713440"/>
            <a:ext cx="424815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3505">
              <a:lnSpc>
                <a:spcPts val="2310"/>
              </a:lnSpc>
            </a:pPr>
            <a:fld id="{81D60167-4931-47E6-BA6A-407CBD079E47}" type="slidenum">
              <a:rPr lang="en-US" smtClean="0">
                <a:latin typeface="Garamond" panose="02020404030301010803" pitchFamily="18" charset="0"/>
              </a:rPr>
              <a:pPr marL="103505">
                <a:lnSpc>
                  <a:spcPts val="2310"/>
                </a:lnSpc>
              </a:pPr>
              <a:t>37</a:t>
            </a:fld>
            <a:endParaRPr dirty="0">
              <a:latin typeface="Garamond" panose="02020404030301010803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3750" y="1984129"/>
            <a:ext cx="8456295" cy="29982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65"/>
              </a:lnSpc>
              <a:spcBef>
                <a:spcPts val="100"/>
              </a:spcBef>
            </a:pPr>
            <a:r>
              <a:rPr sz="2400" b="1" spc="-5" dirty="0">
                <a:latin typeface="Garamond" panose="02020404030301010803" pitchFamily="18" charset="0"/>
                <a:cs typeface="Arial"/>
              </a:rPr>
              <a:t>Step </a:t>
            </a:r>
            <a:r>
              <a:rPr sz="2400" b="1" spc="10" dirty="0">
                <a:latin typeface="Garamond" panose="02020404030301010803" pitchFamily="18" charset="0"/>
                <a:cs typeface="Arial"/>
              </a:rPr>
              <a:t>1</a:t>
            </a:r>
            <a:r>
              <a:rPr sz="2400" spc="10" dirty="0">
                <a:latin typeface="Garamond" panose="02020404030301010803" pitchFamily="18" charset="0"/>
                <a:cs typeface="Arial"/>
              </a:rPr>
              <a:t>: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Check initial</a:t>
            </a:r>
            <a:r>
              <a:rPr sz="2400" spc="-30" dirty="0"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loss</a:t>
            </a:r>
            <a:endParaRPr sz="2400" dirty="0">
              <a:latin typeface="Garamond" panose="02020404030301010803" pitchFamily="18" charset="0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b="1" spc="-5" dirty="0">
                <a:latin typeface="Garamond" panose="02020404030301010803" pitchFamily="18" charset="0"/>
                <a:cs typeface="Arial"/>
              </a:rPr>
              <a:t>Step </a:t>
            </a:r>
            <a:r>
              <a:rPr sz="2400" b="1" spc="10" dirty="0">
                <a:latin typeface="Garamond" panose="02020404030301010803" pitchFamily="18" charset="0"/>
                <a:cs typeface="Arial"/>
              </a:rPr>
              <a:t>2</a:t>
            </a:r>
            <a:r>
              <a:rPr sz="2400" spc="10" dirty="0">
                <a:latin typeface="Garamond" panose="02020404030301010803" pitchFamily="18" charset="0"/>
                <a:cs typeface="Arial"/>
              </a:rPr>
              <a:t>: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Overfit </a:t>
            </a:r>
            <a:r>
              <a:rPr sz="2400" dirty="0">
                <a:latin typeface="Garamond" panose="02020404030301010803" pitchFamily="18" charset="0"/>
                <a:cs typeface="Arial"/>
              </a:rPr>
              <a:t>a small</a:t>
            </a:r>
            <a:r>
              <a:rPr sz="2400" spc="-50" dirty="0">
                <a:latin typeface="Garamond" panose="02020404030301010803" pitchFamily="18" charset="0"/>
                <a:cs typeface="Arial"/>
              </a:rPr>
              <a:t> </a:t>
            </a:r>
            <a:r>
              <a:rPr sz="2400" dirty="0">
                <a:latin typeface="Garamond" panose="02020404030301010803" pitchFamily="18" charset="0"/>
                <a:cs typeface="Arial"/>
              </a:rPr>
              <a:t>sample</a:t>
            </a:r>
          </a:p>
          <a:p>
            <a:pPr marL="12700">
              <a:lnSpc>
                <a:spcPts val="2850"/>
              </a:lnSpc>
            </a:pPr>
            <a:r>
              <a:rPr sz="2400" b="1" spc="-5" dirty="0">
                <a:latin typeface="Garamond" panose="02020404030301010803" pitchFamily="18" charset="0"/>
                <a:cs typeface="Arial"/>
              </a:rPr>
              <a:t>Step </a:t>
            </a:r>
            <a:r>
              <a:rPr sz="2400" b="1" spc="10" dirty="0">
                <a:latin typeface="Garamond" panose="02020404030301010803" pitchFamily="18" charset="0"/>
                <a:cs typeface="Arial"/>
              </a:rPr>
              <a:t>3</a:t>
            </a:r>
            <a:r>
              <a:rPr sz="2400" spc="10" dirty="0">
                <a:latin typeface="Garamond" panose="02020404030301010803" pitchFamily="18" charset="0"/>
                <a:cs typeface="Arial"/>
              </a:rPr>
              <a:t>: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Find LR that </a:t>
            </a:r>
            <a:r>
              <a:rPr sz="2400" dirty="0">
                <a:latin typeface="Garamond" panose="02020404030301010803" pitchFamily="18" charset="0"/>
                <a:cs typeface="Arial"/>
              </a:rPr>
              <a:t>makes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loss go</a:t>
            </a:r>
            <a:r>
              <a:rPr sz="2400" spc="-60" dirty="0"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down</a:t>
            </a:r>
            <a:endParaRPr sz="2400" dirty="0">
              <a:latin typeface="Garamond" panose="02020404030301010803" pitchFamily="18" charset="0"/>
              <a:cs typeface="Arial"/>
            </a:endParaRPr>
          </a:p>
          <a:p>
            <a:pPr marL="12700">
              <a:lnSpc>
                <a:spcPts val="2865"/>
              </a:lnSpc>
            </a:pPr>
            <a:r>
              <a:rPr sz="2400" b="1" spc="-5" dirty="0">
                <a:latin typeface="Garamond" panose="02020404030301010803" pitchFamily="18" charset="0"/>
                <a:cs typeface="Arial"/>
              </a:rPr>
              <a:t>Step </a:t>
            </a:r>
            <a:r>
              <a:rPr sz="2400" b="1" spc="10" dirty="0">
                <a:latin typeface="Garamond" panose="02020404030301010803" pitchFamily="18" charset="0"/>
                <a:cs typeface="Arial"/>
              </a:rPr>
              <a:t>4</a:t>
            </a:r>
            <a:r>
              <a:rPr sz="2400" spc="10" dirty="0">
                <a:latin typeface="Garamond" panose="02020404030301010803" pitchFamily="18" charset="0"/>
                <a:cs typeface="Arial"/>
              </a:rPr>
              <a:t>: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Coarse grid</a:t>
            </a:r>
            <a:r>
              <a:rPr lang="en-US" sz="2400" spc="-5" dirty="0">
                <a:latin typeface="Garamond" panose="02020404030301010803" pitchFamily="18" charset="0"/>
                <a:cs typeface="Arial"/>
              </a:rPr>
              <a:t> search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, train for ~1-5</a:t>
            </a:r>
            <a:r>
              <a:rPr sz="2400" spc="-60" dirty="0"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epochs</a:t>
            </a:r>
            <a:endParaRPr sz="2400" dirty="0">
              <a:latin typeface="Garamond" panose="02020404030301010803" pitchFamily="18" charset="0"/>
              <a:cs typeface="Arial"/>
            </a:endParaRPr>
          </a:p>
          <a:p>
            <a:pPr>
              <a:spcBef>
                <a:spcPts val="5"/>
              </a:spcBef>
            </a:pPr>
            <a:endParaRPr sz="2550" dirty="0">
              <a:latin typeface="Garamond" panose="02020404030301010803" pitchFamily="18" charset="0"/>
              <a:cs typeface="Arial"/>
            </a:endParaRPr>
          </a:p>
          <a:p>
            <a:pPr marL="12700" marR="5080">
              <a:lnSpc>
                <a:spcPts val="2850"/>
              </a:lnSpc>
            </a:pPr>
            <a:r>
              <a:rPr sz="2400" spc="-5" dirty="0">
                <a:latin typeface="Garamond" panose="02020404030301010803" pitchFamily="18" charset="0"/>
                <a:cs typeface="Arial"/>
              </a:rPr>
              <a:t>Choose </a:t>
            </a:r>
            <a:r>
              <a:rPr sz="2400" dirty="0">
                <a:latin typeface="Garamond" panose="02020404030301010803" pitchFamily="18" charset="0"/>
                <a:cs typeface="Arial"/>
              </a:rPr>
              <a:t>a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few </a:t>
            </a:r>
            <a:r>
              <a:rPr sz="2400" dirty="0">
                <a:latin typeface="Garamond" panose="02020404030301010803" pitchFamily="18" charset="0"/>
                <a:cs typeface="Arial"/>
              </a:rPr>
              <a:t>values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of learning </a:t>
            </a:r>
            <a:r>
              <a:rPr sz="2400" dirty="0">
                <a:latin typeface="Garamond" panose="02020404030301010803" pitchFamily="18" charset="0"/>
                <a:cs typeface="Arial"/>
              </a:rPr>
              <a:t>rate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and weight decay around  what worked from Step 3, train </a:t>
            </a:r>
            <a:r>
              <a:rPr sz="2400" dirty="0">
                <a:latin typeface="Garamond" panose="02020404030301010803" pitchFamily="18" charset="0"/>
                <a:cs typeface="Arial"/>
              </a:rPr>
              <a:t>a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few </a:t>
            </a:r>
            <a:r>
              <a:rPr sz="2400" dirty="0">
                <a:latin typeface="Garamond" panose="02020404030301010803" pitchFamily="18" charset="0"/>
                <a:cs typeface="Arial"/>
              </a:rPr>
              <a:t>models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for ~1-5</a:t>
            </a:r>
            <a:r>
              <a:rPr sz="2400" spc="-95" dirty="0"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epochs.</a:t>
            </a:r>
            <a:endParaRPr sz="2400" dirty="0">
              <a:latin typeface="Garamond" panose="02020404030301010803" pitchFamily="18" charset="0"/>
              <a:cs typeface="Arial"/>
            </a:endParaRPr>
          </a:p>
          <a:p>
            <a:pPr>
              <a:spcBef>
                <a:spcPts val="30"/>
              </a:spcBef>
            </a:pPr>
            <a:endParaRPr sz="235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B123E62-E193-413E-A2B3-4A211EB62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Choosing</a:t>
            </a:r>
            <a:r>
              <a:rPr lang="en-US" spc="-85" dirty="0"/>
              <a:t> </a:t>
            </a:r>
            <a:r>
              <a:rPr lang="en-US" spc="-5" dirty="0"/>
              <a:t>Hyperparameters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678E45-16CD-45E2-8241-5670739DEF7E}"/>
              </a:ext>
            </a:extLst>
          </p:cNvPr>
          <p:cNvSpPr txBox="1"/>
          <p:nvPr/>
        </p:nvSpPr>
        <p:spPr>
          <a:xfrm>
            <a:off x="0" y="6604084"/>
            <a:ext cx="31245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Adapted from Fei-Fei Li, Justin Johnson, Serena Yeung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57925" y="5574843"/>
            <a:ext cx="8875395" cy="273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  <a:tabLst>
                <a:tab pos="5253355" algn="l"/>
                <a:tab pos="7310755" algn="l"/>
              </a:tabLst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Fei-Fei Li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&amp; Justin Johnson &amp;</a:t>
            </a:r>
            <a:r>
              <a:rPr spc="-1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Serena</a:t>
            </a:r>
            <a:r>
              <a:rPr spc="-3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4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Yeung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April 24,</a:t>
            </a:r>
            <a:r>
              <a:rPr sz="3000" spc="-142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2018</a:t>
            </a:r>
            <a:endParaRPr sz="3000" baseline="-4166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99119" y="5562144"/>
            <a:ext cx="123888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2000" spc="-9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7456513" y="4704893"/>
            <a:ext cx="159004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310"/>
              </a:lnSpc>
            </a:pPr>
            <a:r>
              <a:rPr lang="en-US" spc="-5" dirty="0">
                <a:latin typeface="Garamond" panose="02020404030301010803" pitchFamily="18" charset="0"/>
              </a:rPr>
              <a:t>April 25,</a:t>
            </a:r>
            <a:r>
              <a:rPr lang="en-US" spc="-90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145224" y="4709647"/>
            <a:ext cx="44907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Fei-Fei Li </a:t>
            </a:r>
            <a:r>
              <a:rPr lang="en-US" dirty="0">
                <a:latin typeface="Garamond" panose="02020404030301010803" pitchFamily="18" charset="0"/>
              </a:rPr>
              <a:t>&amp; Justin Johnson &amp; </a:t>
            </a:r>
            <a:r>
              <a:rPr lang="en-US" spc="-5" dirty="0">
                <a:latin typeface="Garamond" panose="02020404030301010803" pitchFamily="18" charset="0"/>
              </a:rPr>
              <a:t>Serena</a:t>
            </a:r>
            <a:r>
              <a:rPr lang="en-US" spc="-145" dirty="0">
                <a:latin typeface="Garamond" panose="02020404030301010803" pitchFamily="18" charset="0"/>
              </a:rPr>
              <a:t> </a:t>
            </a:r>
            <a:r>
              <a:rPr lang="en-US" spc="-40" dirty="0">
                <a:latin typeface="Garamond" panose="02020404030301010803" pitchFamily="18" charset="0"/>
              </a:rPr>
              <a:t>Yeung</a:t>
            </a:r>
            <a:endParaRPr spc="-40" dirty="0">
              <a:latin typeface="Garamond" panose="02020404030301010803" pitchFamily="18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6831154" y="4713440"/>
            <a:ext cx="424815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3505">
              <a:lnSpc>
                <a:spcPts val="2310"/>
              </a:lnSpc>
            </a:pPr>
            <a:fld id="{81D60167-4931-47E6-BA6A-407CBD079E47}" type="slidenum">
              <a:rPr lang="en-US" smtClean="0">
                <a:latin typeface="Garamond" panose="02020404030301010803" pitchFamily="18" charset="0"/>
              </a:rPr>
              <a:pPr marL="103505">
                <a:lnSpc>
                  <a:spcPts val="2310"/>
                </a:lnSpc>
              </a:pPr>
              <a:t>38</a:t>
            </a:fld>
            <a:endParaRPr dirty="0">
              <a:latin typeface="Garamond" panose="02020404030301010803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3748" y="1984128"/>
            <a:ext cx="8343051" cy="2995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65"/>
              </a:lnSpc>
              <a:spcBef>
                <a:spcPts val="100"/>
              </a:spcBef>
            </a:pPr>
            <a:r>
              <a:rPr sz="2400" b="1" spc="-5" dirty="0">
                <a:latin typeface="Garamond" panose="02020404030301010803" pitchFamily="18" charset="0"/>
                <a:cs typeface="Arial"/>
              </a:rPr>
              <a:t>Step </a:t>
            </a:r>
            <a:r>
              <a:rPr sz="2400" b="1" spc="10" dirty="0">
                <a:latin typeface="Garamond" panose="02020404030301010803" pitchFamily="18" charset="0"/>
                <a:cs typeface="Arial"/>
              </a:rPr>
              <a:t>1</a:t>
            </a:r>
            <a:r>
              <a:rPr sz="2400" spc="10" dirty="0">
                <a:latin typeface="Garamond" panose="02020404030301010803" pitchFamily="18" charset="0"/>
                <a:cs typeface="Arial"/>
              </a:rPr>
              <a:t>: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Check initial</a:t>
            </a:r>
            <a:r>
              <a:rPr sz="2400" spc="-30" dirty="0"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loss</a:t>
            </a:r>
            <a:endParaRPr sz="2400" dirty="0">
              <a:latin typeface="Garamond" panose="02020404030301010803" pitchFamily="18" charset="0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b="1" spc="-5" dirty="0">
                <a:latin typeface="Garamond" panose="02020404030301010803" pitchFamily="18" charset="0"/>
                <a:cs typeface="Arial"/>
              </a:rPr>
              <a:t>Step </a:t>
            </a:r>
            <a:r>
              <a:rPr sz="2400" b="1" spc="10" dirty="0">
                <a:latin typeface="Garamond" panose="02020404030301010803" pitchFamily="18" charset="0"/>
                <a:cs typeface="Arial"/>
              </a:rPr>
              <a:t>2</a:t>
            </a:r>
            <a:r>
              <a:rPr sz="2400" spc="10" dirty="0">
                <a:latin typeface="Garamond" panose="02020404030301010803" pitchFamily="18" charset="0"/>
                <a:cs typeface="Arial"/>
              </a:rPr>
              <a:t>: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Overfit </a:t>
            </a:r>
            <a:r>
              <a:rPr sz="2400" dirty="0">
                <a:latin typeface="Garamond" panose="02020404030301010803" pitchFamily="18" charset="0"/>
                <a:cs typeface="Arial"/>
              </a:rPr>
              <a:t>a small</a:t>
            </a:r>
            <a:r>
              <a:rPr sz="2400" spc="-50" dirty="0">
                <a:latin typeface="Garamond" panose="02020404030301010803" pitchFamily="18" charset="0"/>
                <a:cs typeface="Arial"/>
              </a:rPr>
              <a:t> </a:t>
            </a:r>
            <a:r>
              <a:rPr sz="2400" dirty="0">
                <a:latin typeface="Garamond" panose="02020404030301010803" pitchFamily="18" charset="0"/>
                <a:cs typeface="Arial"/>
              </a:rPr>
              <a:t>sample</a:t>
            </a:r>
          </a:p>
          <a:p>
            <a:pPr marL="12700" marR="2369820">
              <a:lnSpc>
                <a:spcPts val="2850"/>
              </a:lnSpc>
              <a:spcBef>
                <a:spcPts val="105"/>
              </a:spcBef>
            </a:pPr>
            <a:r>
              <a:rPr sz="2400" b="1" spc="-5" dirty="0">
                <a:latin typeface="Garamond" panose="02020404030301010803" pitchFamily="18" charset="0"/>
                <a:cs typeface="Arial"/>
              </a:rPr>
              <a:t>Step </a:t>
            </a:r>
            <a:r>
              <a:rPr sz="2400" b="1" spc="10" dirty="0">
                <a:latin typeface="Garamond" panose="02020404030301010803" pitchFamily="18" charset="0"/>
                <a:cs typeface="Arial"/>
              </a:rPr>
              <a:t>3</a:t>
            </a:r>
            <a:r>
              <a:rPr sz="2400" spc="10" dirty="0">
                <a:latin typeface="Garamond" panose="02020404030301010803" pitchFamily="18" charset="0"/>
                <a:cs typeface="Arial"/>
              </a:rPr>
              <a:t>: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Find LR that </a:t>
            </a:r>
            <a:r>
              <a:rPr sz="2400" dirty="0">
                <a:latin typeface="Garamond" panose="02020404030301010803" pitchFamily="18" charset="0"/>
                <a:cs typeface="Arial"/>
              </a:rPr>
              <a:t>makes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loss go down  </a:t>
            </a:r>
            <a:endParaRPr lang="en-US" sz="2400" spc="-5" dirty="0">
              <a:latin typeface="Garamond" panose="02020404030301010803" pitchFamily="18" charset="0"/>
              <a:cs typeface="Arial"/>
            </a:endParaRPr>
          </a:p>
          <a:p>
            <a:pPr marL="12700" marR="2369820">
              <a:lnSpc>
                <a:spcPts val="2850"/>
              </a:lnSpc>
              <a:spcBef>
                <a:spcPts val="105"/>
              </a:spcBef>
            </a:pPr>
            <a:r>
              <a:rPr sz="2400" b="1" spc="-5" dirty="0">
                <a:latin typeface="Garamond" panose="02020404030301010803" pitchFamily="18" charset="0"/>
                <a:cs typeface="Arial"/>
              </a:rPr>
              <a:t>Step </a:t>
            </a:r>
            <a:r>
              <a:rPr sz="2400" b="1" spc="10" dirty="0">
                <a:latin typeface="Garamond" panose="02020404030301010803" pitchFamily="18" charset="0"/>
                <a:cs typeface="Arial"/>
              </a:rPr>
              <a:t>4</a:t>
            </a:r>
            <a:r>
              <a:rPr sz="2400" spc="10" dirty="0">
                <a:latin typeface="Garamond" panose="02020404030301010803" pitchFamily="18" charset="0"/>
                <a:cs typeface="Arial"/>
              </a:rPr>
              <a:t>: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Coarse grid, train for ~1-5</a:t>
            </a:r>
            <a:r>
              <a:rPr sz="2400" spc="-114" dirty="0"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epochs  </a:t>
            </a:r>
            <a:endParaRPr lang="en-US" sz="2400" spc="-5" dirty="0">
              <a:latin typeface="Garamond" panose="02020404030301010803" pitchFamily="18" charset="0"/>
              <a:cs typeface="Arial"/>
            </a:endParaRPr>
          </a:p>
          <a:p>
            <a:pPr marL="12700" marR="2369820">
              <a:lnSpc>
                <a:spcPts val="2850"/>
              </a:lnSpc>
              <a:spcBef>
                <a:spcPts val="105"/>
              </a:spcBef>
            </a:pPr>
            <a:r>
              <a:rPr sz="2400" b="1" spc="-5" dirty="0">
                <a:latin typeface="Garamond" panose="02020404030301010803" pitchFamily="18" charset="0"/>
                <a:cs typeface="Arial"/>
              </a:rPr>
              <a:t>Step </a:t>
            </a:r>
            <a:r>
              <a:rPr sz="2400" b="1" spc="10" dirty="0">
                <a:latin typeface="Garamond" panose="02020404030301010803" pitchFamily="18" charset="0"/>
                <a:cs typeface="Arial"/>
              </a:rPr>
              <a:t>5</a:t>
            </a:r>
            <a:r>
              <a:rPr sz="2400" spc="10" dirty="0">
                <a:latin typeface="Garamond" panose="02020404030301010803" pitchFamily="18" charset="0"/>
                <a:cs typeface="Arial"/>
              </a:rPr>
              <a:t>: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Refine grid, train</a:t>
            </a:r>
            <a:r>
              <a:rPr sz="2400" spc="-55" dirty="0"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longer</a:t>
            </a:r>
            <a:endParaRPr sz="2400" dirty="0">
              <a:latin typeface="Garamond" panose="02020404030301010803" pitchFamily="18" charset="0"/>
              <a:cs typeface="Arial"/>
            </a:endParaRPr>
          </a:p>
          <a:p>
            <a:pPr>
              <a:spcBef>
                <a:spcPts val="30"/>
              </a:spcBef>
            </a:pPr>
            <a:endParaRPr sz="2450" dirty="0">
              <a:latin typeface="Garamond" panose="02020404030301010803" pitchFamily="18" charset="0"/>
              <a:cs typeface="Arial"/>
            </a:endParaRPr>
          </a:p>
          <a:p>
            <a:pPr marL="12700" marR="5080">
              <a:lnSpc>
                <a:spcPts val="2850"/>
              </a:lnSpc>
            </a:pPr>
            <a:r>
              <a:rPr sz="2400" spc="-5" dirty="0">
                <a:latin typeface="Garamond" panose="02020404030301010803" pitchFamily="18" charset="0"/>
                <a:cs typeface="Arial"/>
              </a:rPr>
              <a:t>Pick best </a:t>
            </a:r>
            <a:r>
              <a:rPr sz="2400" dirty="0">
                <a:latin typeface="Garamond" panose="02020404030301010803" pitchFamily="18" charset="0"/>
                <a:cs typeface="Arial"/>
              </a:rPr>
              <a:t>models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from Step 4, train them for longer</a:t>
            </a:r>
            <a:r>
              <a:rPr sz="2400" spc="-95" dirty="0">
                <a:latin typeface="Garamond" panose="02020404030301010803" pitchFamily="18" charset="0"/>
                <a:cs typeface="Arial"/>
              </a:rPr>
              <a:t> </a:t>
            </a:r>
            <a:r>
              <a:rPr sz="2400" dirty="0">
                <a:latin typeface="Garamond" panose="02020404030301010803" pitchFamily="18" charset="0"/>
                <a:cs typeface="Arial"/>
              </a:rPr>
              <a:t>(~10-20 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epochs) without learning </a:t>
            </a:r>
            <a:r>
              <a:rPr sz="2400" dirty="0">
                <a:latin typeface="Garamond" panose="02020404030301010803" pitchFamily="18" charset="0"/>
                <a:cs typeface="Arial"/>
              </a:rPr>
              <a:t>rate</a:t>
            </a:r>
            <a:r>
              <a:rPr sz="2400" spc="-15" dirty="0"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decay</a:t>
            </a:r>
            <a:endParaRPr sz="24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42CFB99-195D-4A13-8BC3-37502A761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Choosing</a:t>
            </a:r>
            <a:r>
              <a:rPr lang="en-US" spc="-85" dirty="0"/>
              <a:t> </a:t>
            </a:r>
            <a:r>
              <a:rPr lang="en-US" spc="-5" dirty="0"/>
              <a:t>Hyperparameters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252E5E-E693-4065-A28B-07E6CB06568B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57925" y="5574843"/>
            <a:ext cx="8875395" cy="273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  <a:tabLst>
                <a:tab pos="5253355" algn="l"/>
                <a:tab pos="7310755" algn="l"/>
              </a:tabLst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Fei-Fei Li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&amp; Justin Johnson &amp;</a:t>
            </a:r>
            <a:r>
              <a:rPr spc="-1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Serena</a:t>
            </a:r>
            <a:r>
              <a:rPr spc="-3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4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Yeung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April 24,</a:t>
            </a:r>
            <a:r>
              <a:rPr sz="3000" spc="-142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2018</a:t>
            </a:r>
            <a:endParaRPr sz="3000" baseline="-4166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99119" y="5562144"/>
            <a:ext cx="123888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2000" spc="-9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7456513" y="4704893"/>
            <a:ext cx="159004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310"/>
              </a:lnSpc>
            </a:pPr>
            <a:r>
              <a:rPr lang="en-US" spc="-5" dirty="0">
                <a:latin typeface="Garamond" panose="02020404030301010803" pitchFamily="18" charset="0"/>
              </a:rPr>
              <a:t>April 25,</a:t>
            </a:r>
            <a:r>
              <a:rPr lang="en-US" spc="-90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145224" y="4709647"/>
            <a:ext cx="44907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Fei-Fei Li </a:t>
            </a:r>
            <a:r>
              <a:rPr lang="en-US" dirty="0">
                <a:latin typeface="Garamond" panose="02020404030301010803" pitchFamily="18" charset="0"/>
              </a:rPr>
              <a:t>&amp; Justin Johnson &amp; </a:t>
            </a:r>
            <a:r>
              <a:rPr lang="en-US" spc="-5" dirty="0">
                <a:latin typeface="Garamond" panose="02020404030301010803" pitchFamily="18" charset="0"/>
              </a:rPr>
              <a:t>Serena</a:t>
            </a:r>
            <a:r>
              <a:rPr lang="en-US" spc="-145" dirty="0">
                <a:latin typeface="Garamond" panose="02020404030301010803" pitchFamily="18" charset="0"/>
              </a:rPr>
              <a:t> </a:t>
            </a:r>
            <a:r>
              <a:rPr lang="en-US" spc="-40" dirty="0">
                <a:latin typeface="Garamond" panose="02020404030301010803" pitchFamily="18" charset="0"/>
              </a:rPr>
              <a:t>Yeung</a:t>
            </a:r>
            <a:endParaRPr spc="-40" dirty="0">
              <a:latin typeface="Garamond" panose="02020404030301010803" pitchFamily="18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6831154" y="4713440"/>
            <a:ext cx="424815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3505">
              <a:lnSpc>
                <a:spcPts val="2310"/>
              </a:lnSpc>
            </a:pPr>
            <a:fld id="{81D60167-4931-47E6-BA6A-407CBD079E47}" type="slidenum">
              <a:rPr lang="en-US" smtClean="0">
                <a:latin typeface="Garamond" panose="02020404030301010803" pitchFamily="18" charset="0"/>
              </a:rPr>
              <a:pPr marL="103505">
                <a:lnSpc>
                  <a:spcPts val="2310"/>
                </a:lnSpc>
              </a:pPr>
              <a:t>39</a:t>
            </a:fld>
            <a:endParaRPr dirty="0">
              <a:latin typeface="Garamond" panose="02020404030301010803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3749" y="1984128"/>
            <a:ext cx="5648960" cy="22442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ts val="2865"/>
              </a:lnSpc>
              <a:spcBef>
                <a:spcPts val="100"/>
              </a:spcBef>
            </a:pPr>
            <a:r>
              <a:rPr sz="2400" b="1" spc="-5" dirty="0">
                <a:latin typeface="Garamond" panose="02020404030301010803" pitchFamily="18" charset="0"/>
                <a:cs typeface="Arial"/>
              </a:rPr>
              <a:t>Step </a:t>
            </a:r>
            <a:r>
              <a:rPr sz="2400" b="1" spc="10" dirty="0">
                <a:latin typeface="Garamond" panose="02020404030301010803" pitchFamily="18" charset="0"/>
                <a:cs typeface="Arial"/>
              </a:rPr>
              <a:t>1</a:t>
            </a:r>
            <a:r>
              <a:rPr sz="2400" spc="10" dirty="0">
                <a:latin typeface="Garamond" panose="02020404030301010803" pitchFamily="18" charset="0"/>
                <a:cs typeface="Arial"/>
              </a:rPr>
              <a:t>: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Check initial</a:t>
            </a:r>
            <a:r>
              <a:rPr sz="2400" spc="-35" dirty="0"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loss</a:t>
            </a:r>
            <a:endParaRPr sz="2400" dirty="0">
              <a:latin typeface="Garamond" panose="02020404030301010803" pitchFamily="18" charset="0"/>
              <a:cs typeface="Arial"/>
            </a:endParaRPr>
          </a:p>
          <a:p>
            <a:pPr marL="12700" algn="just">
              <a:lnSpc>
                <a:spcPts val="2850"/>
              </a:lnSpc>
            </a:pPr>
            <a:r>
              <a:rPr sz="2400" b="1" spc="-5" dirty="0">
                <a:latin typeface="Garamond" panose="02020404030301010803" pitchFamily="18" charset="0"/>
                <a:cs typeface="Arial"/>
              </a:rPr>
              <a:t>Step </a:t>
            </a:r>
            <a:r>
              <a:rPr sz="2400" b="1" spc="10" dirty="0">
                <a:latin typeface="Garamond" panose="02020404030301010803" pitchFamily="18" charset="0"/>
                <a:cs typeface="Arial"/>
              </a:rPr>
              <a:t>2</a:t>
            </a:r>
            <a:r>
              <a:rPr sz="2400" spc="10" dirty="0">
                <a:latin typeface="Garamond" panose="02020404030301010803" pitchFamily="18" charset="0"/>
                <a:cs typeface="Arial"/>
              </a:rPr>
              <a:t>: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Overfit </a:t>
            </a:r>
            <a:r>
              <a:rPr sz="2400" dirty="0">
                <a:latin typeface="Garamond" panose="02020404030301010803" pitchFamily="18" charset="0"/>
                <a:cs typeface="Arial"/>
              </a:rPr>
              <a:t>a small</a:t>
            </a:r>
            <a:r>
              <a:rPr sz="2400" spc="-60" dirty="0">
                <a:latin typeface="Garamond" panose="02020404030301010803" pitchFamily="18" charset="0"/>
                <a:cs typeface="Arial"/>
              </a:rPr>
              <a:t> </a:t>
            </a:r>
            <a:r>
              <a:rPr sz="2400" dirty="0">
                <a:latin typeface="Garamond" panose="02020404030301010803" pitchFamily="18" charset="0"/>
                <a:cs typeface="Arial"/>
              </a:rPr>
              <a:t>sample</a:t>
            </a:r>
          </a:p>
          <a:p>
            <a:pPr marL="12700" marR="5080" algn="just">
              <a:lnSpc>
                <a:spcPts val="2850"/>
              </a:lnSpc>
              <a:spcBef>
                <a:spcPts val="105"/>
              </a:spcBef>
            </a:pPr>
            <a:r>
              <a:rPr sz="2400" b="1" spc="-5" dirty="0">
                <a:latin typeface="Garamond" panose="02020404030301010803" pitchFamily="18" charset="0"/>
                <a:cs typeface="Arial"/>
              </a:rPr>
              <a:t>Step </a:t>
            </a:r>
            <a:r>
              <a:rPr sz="2400" b="1" spc="10" dirty="0">
                <a:latin typeface="Garamond" panose="02020404030301010803" pitchFamily="18" charset="0"/>
                <a:cs typeface="Arial"/>
              </a:rPr>
              <a:t>3</a:t>
            </a:r>
            <a:r>
              <a:rPr sz="2400" spc="10" dirty="0">
                <a:latin typeface="Garamond" panose="02020404030301010803" pitchFamily="18" charset="0"/>
                <a:cs typeface="Arial"/>
              </a:rPr>
              <a:t>: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Find LR that </a:t>
            </a:r>
            <a:r>
              <a:rPr sz="2400" dirty="0">
                <a:latin typeface="Garamond" panose="02020404030301010803" pitchFamily="18" charset="0"/>
                <a:cs typeface="Arial"/>
              </a:rPr>
              <a:t>makes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loss go down  </a:t>
            </a:r>
            <a:endParaRPr lang="en-US" sz="2400" spc="-5" dirty="0">
              <a:latin typeface="Garamond" panose="02020404030301010803" pitchFamily="18" charset="0"/>
              <a:cs typeface="Arial"/>
            </a:endParaRPr>
          </a:p>
          <a:p>
            <a:pPr marL="12700" marR="5080" algn="just">
              <a:lnSpc>
                <a:spcPts val="2850"/>
              </a:lnSpc>
              <a:spcBef>
                <a:spcPts val="105"/>
              </a:spcBef>
            </a:pPr>
            <a:r>
              <a:rPr sz="2400" b="1" spc="-5" dirty="0">
                <a:latin typeface="Garamond" panose="02020404030301010803" pitchFamily="18" charset="0"/>
                <a:cs typeface="Arial"/>
              </a:rPr>
              <a:t>Step </a:t>
            </a:r>
            <a:r>
              <a:rPr sz="2400" b="1" spc="10" dirty="0">
                <a:latin typeface="Garamond" panose="02020404030301010803" pitchFamily="18" charset="0"/>
                <a:cs typeface="Arial"/>
              </a:rPr>
              <a:t>4</a:t>
            </a:r>
            <a:r>
              <a:rPr sz="2400" spc="10" dirty="0">
                <a:latin typeface="Garamond" panose="02020404030301010803" pitchFamily="18" charset="0"/>
                <a:cs typeface="Arial"/>
              </a:rPr>
              <a:t>: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Coarse grid, train for ~1-5</a:t>
            </a:r>
            <a:r>
              <a:rPr sz="2400" spc="-114" dirty="0"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epochs  </a:t>
            </a:r>
            <a:r>
              <a:rPr sz="2400" b="1" spc="-5" dirty="0">
                <a:latin typeface="Garamond" panose="02020404030301010803" pitchFamily="18" charset="0"/>
                <a:cs typeface="Arial"/>
              </a:rPr>
              <a:t>Step </a:t>
            </a:r>
            <a:r>
              <a:rPr sz="2400" b="1" spc="10" dirty="0">
                <a:latin typeface="Garamond" panose="02020404030301010803" pitchFamily="18" charset="0"/>
                <a:cs typeface="Arial"/>
              </a:rPr>
              <a:t>5</a:t>
            </a:r>
            <a:r>
              <a:rPr sz="2400" spc="10" dirty="0">
                <a:latin typeface="Garamond" panose="02020404030301010803" pitchFamily="18" charset="0"/>
                <a:cs typeface="Arial"/>
              </a:rPr>
              <a:t>: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Refine grid, train</a:t>
            </a:r>
            <a:r>
              <a:rPr sz="2400" spc="-55" dirty="0"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longer</a:t>
            </a:r>
            <a:endParaRPr sz="2400" dirty="0">
              <a:latin typeface="Garamond" panose="02020404030301010803" pitchFamily="18" charset="0"/>
              <a:cs typeface="Arial"/>
            </a:endParaRPr>
          </a:p>
          <a:p>
            <a:pPr marL="12700" algn="just">
              <a:lnSpc>
                <a:spcPts val="2760"/>
              </a:lnSpc>
            </a:pPr>
            <a:r>
              <a:rPr sz="2400" b="1" spc="-5" dirty="0">
                <a:latin typeface="Garamond" panose="02020404030301010803" pitchFamily="18" charset="0"/>
                <a:cs typeface="Arial"/>
              </a:rPr>
              <a:t>Step </a:t>
            </a:r>
            <a:r>
              <a:rPr sz="2400" b="1" spc="10" dirty="0">
                <a:latin typeface="Garamond" panose="02020404030301010803" pitchFamily="18" charset="0"/>
                <a:cs typeface="Arial"/>
              </a:rPr>
              <a:t>6</a:t>
            </a:r>
            <a:r>
              <a:rPr sz="2400" spc="10" dirty="0">
                <a:latin typeface="Garamond" panose="02020404030301010803" pitchFamily="18" charset="0"/>
                <a:cs typeface="Arial"/>
              </a:rPr>
              <a:t>: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Look at loss</a:t>
            </a:r>
            <a:r>
              <a:rPr sz="2400" spc="-45" dirty="0">
                <a:latin typeface="Garamond" panose="02020404030301010803" pitchFamily="18" charset="0"/>
                <a:cs typeface="Arial"/>
              </a:rPr>
              <a:t> </a:t>
            </a:r>
            <a:r>
              <a:rPr sz="2400" dirty="0">
                <a:latin typeface="Garamond" panose="02020404030301010803" pitchFamily="18" charset="0"/>
                <a:cs typeface="Arial"/>
              </a:rPr>
              <a:t>curves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3201177-51A3-48C9-9B34-A499EA8CB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Choosing</a:t>
            </a:r>
            <a:r>
              <a:rPr lang="en-US" spc="-85" dirty="0"/>
              <a:t> </a:t>
            </a:r>
            <a:r>
              <a:rPr lang="en-US" spc="-5" dirty="0"/>
              <a:t>Hyperparameters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FFFE40-452A-44DB-BEAA-223110D44CC8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90749" y="1973247"/>
            <a:ext cx="7362825" cy="2747010"/>
            <a:chOff x="890748" y="1115997"/>
            <a:chExt cx="7362825" cy="2747010"/>
          </a:xfrm>
        </p:grpSpPr>
        <p:sp>
          <p:nvSpPr>
            <p:cNvPr id="3" name="object 3"/>
            <p:cNvSpPr/>
            <p:nvPr/>
          </p:nvSpPr>
          <p:spPr>
            <a:xfrm>
              <a:off x="890748" y="1115997"/>
              <a:ext cx="3787992" cy="271204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647790" y="1115997"/>
              <a:ext cx="3605442" cy="274656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584926" y="4692363"/>
            <a:ext cx="2938145" cy="76454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70"/>
              </a:spcBef>
            </a:pPr>
            <a:r>
              <a:rPr sz="1600" spc="-5" dirty="0">
                <a:latin typeface="Garamond" panose="02020404030301010803" pitchFamily="18" charset="0"/>
                <a:cs typeface="Arial"/>
              </a:rPr>
              <a:t>Losses </a:t>
            </a:r>
            <a:r>
              <a:rPr sz="1600" dirty="0">
                <a:latin typeface="Garamond" panose="02020404030301010803" pitchFamily="18" charset="0"/>
                <a:cs typeface="Arial"/>
              </a:rPr>
              <a:t>may </a:t>
            </a:r>
            <a:r>
              <a:rPr sz="1600" spc="-5" dirty="0">
                <a:latin typeface="Garamond" panose="02020404030301010803" pitchFamily="18" charset="0"/>
                <a:cs typeface="Arial"/>
              </a:rPr>
              <a:t>be </a:t>
            </a:r>
            <a:r>
              <a:rPr sz="1600" spc="-25" dirty="0">
                <a:latin typeface="Garamond" panose="02020404030301010803" pitchFamily="18" charset="0"/>
                <a:cs typeface="Arial"/>
              </a:rPr>
              <a:t>noisy, </a:t>
            </a:r>
            <a:r>
              <a:rPr sz="1600" spc="-5" dirty="0">
                <a:latin typeface="Garamond" panose="02020404030301010803" pitchFamily="18" charset="0"/>
                <a:cs typeface="Arial"/>
              </a:rPr>
              <a:t>use </a:t>
            </a:r>
            <a:r>
              <a:rPr sz="1600" dirty="0">
                <a:latin typeface="Garamond" panose="02020404030301010803" pitchFamily="18" charset="0"/>
                <a:cs typeface="Arial"/>
              </a:rPr>
              <a:t>a  scatter </a:t>
            </a:r>
            <a:r>
              <a:rPr sz="1600" spc="-5" dirty="0">
                <a:latin typeface="Garamond" panose="02020404030301010803" pitchFamily="18" charset="0"/>
                <a:cs typeface="Arial"/>
              </a:rPr>
              <a:t>plot and also plot</a:t>
            </a:r>
            <a:r>
              <a:rPr sz="1600" spc="-90" dirty="0">
                <a:latin typeface="Garamond" panose="02020404030301010803" pitchFamily="18" charset="0"/>
                <a:cs typeface="Arial"/>
              </a:rPr>
              <a:t> </a:t>
            </a:r>
            <a:r>
              <a:rPr sz="1600" dirty="0">
                <a:latin typeface="Garamond" panose="02020404030301010803" pitchFamily="18" charset="0"/>
                <a:cs typeface="Arial"/>
              </a:rPr>
              <a:t>moving  </a:t>
            </a:r>
            <a:r>
              <a:rPr sz="1600" spc="-5" dirty="0">
                <a:latin typeface="Garamond" panose="02020404030301010803" pitchFamily="18" charset="0"/>
                <a:cs typeface="Arial"/>
              </a:rPr>
              <a:t>average to </a:t>
            </a:r>
            <a:r>
              <a:rPr sz="1600" dirty="0">
                <a:latin typeface="Garamond" panose="02020404030301010803" pitchFamily="18" charset="0"/>
                <a:cs typeface="Arial"/>
              </a:rPr>
              <a:t>see </a:t>
            </a:r>
            <a:r>
              <a:rPr sz="1600" spc="-5" dirty="0">
                <a:latin typeface="Garamond" panose="02020404030301010803" pitchFamily="18" charset="0"/>
                <a:cs typeface="Arial"/>
              </a:rPr>
              <a:t>trends</a:t>
            </a:r>
            <a:r>
              <a:rPr sz="1600" spc="-45" dirty="0">
                <a:latin typeface="Garamond" panose="02020404030301010803" pitchFamily="18" charset="0"/>
                <a:cs typeface="Arial"/>
              </a:rPr>
              <a:t> </a:t>
            </a:r>
            <a:r>
              <a:rPr sz="1600" spc="-5" dirty="0">
                <a:latin typeface="Garamond" panose="02020404030301010803" pitchFamily="18" charset="0"/>
                <a:cs typeface="Arial"/>
              </a:rPr>
              <a:t>better</a:t>
            </a:r>
            <a:endParaRPr sz="16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7925" y="5574843"/>
            <a:ext cx="8875395" cy="273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  <a:tabLst>
                <a:tab pos="5253355" algn="l"/>
                <a:tab pos="7310755" algn="l"/>
              </a:tabLst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Fei-Fei Li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&amp; Justin Johnson &amp;</a:t>
            </a:r>
            <a:r>
              <a:rPr spc="-1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Serena</a:t>
            </a:r>
            <a:r>
              <a:rPr spc="-3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4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Yeung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April 24,</a:t>
            </a:r>
            <a:r>
              <a:rPr sz="3000" spc="-142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2018</a:t>
            </a:r>
            <a:endParaRPr sz="3000" baseline="-4166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99119" y="5562144"/>
            <a:ext cx="123888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2000" spc="-9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7456513" y="4704893"/>
            <a:ext cx="159004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310"/>
              </a:lnSpc>
            </a:pPr>
            <a:r>
              <a:rPr lang="en-US" spc="-5" dirty="0">
                <a:latin typeface="Garamond" panose="02020404030301010803" pitchFamily="18" charset="0"/>
              </a:rPr>
              <a:t>April 25,</a:t>
            </a:r>
            <a:r>
              <a:rPr lang="en-US" spc="-90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6831154" y="4713440"/>
            <a:ext cx="424815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3505">
              <a:lnSpc>
                <a:spcPts val="2310"/>
              </a:lnSpc>
            </a:pPr>
            <a:fld id="{81D60167-4931-47E6-BA6A-407CBD079E47}" type="slidenum">
              <a:rPr lang="en-US" smtClean="0">
                <a:latin typeface="Garamond" panose="02020404030301010803" pitchFamily="18" charset="0"/>
              </a:rPr>
              <a:pPr marL="103505">
                <a:lnSpc>
                  <a:spcPts val="2310"/>
                </a:lnSpc>
              </a:pPr>
              <a:t>40</a:t>
            </a:fld>
            <a:endParaRPr dirty="0">
              <a:latin typeface="Garamond" panose="02020404030301010803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04674" y="1661645"/>
            <a:ext cx="12376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spc="-10" dirty="0">
                <a:latin typeface="Garamond" panose="02020404030301010803" pitchFamily="18" charset="0"/>
                <a:cs typeface="Arial"/>
              </a:rPr>
              <a:t>Training</a:t>
            </a:r>
            <a:r>
              <a:rPr sz="1600" spc="-75" dirty="0">
                <a:latin typeface="Garamond" panose="02020404030301010803" pitchFamily="18" charset="0"/>
                <a:cs typeface="Arial"/>
              </a:rPr>
              <a:t> </a:t>
            </a:r>
            <a:r>
              <a:rPr sz="1600" spc="-5" dirty="0">
                <a:latin typeface="Garamond" panose="02020404030301010803" pitchFamily="18" charset="0"/>
                <a:cs typeface="Arial"/>
              </a:rPr>
              <a:t>Loss</a:t>
            </a:r>
            <a:endParaRPr sz="16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03765" y="1661645"/>
            <a:ext cx="18072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spc="-15" dirty="0">
                <a:latin typeface="Garamond" panose="02020404030301010803" pitchFamily="18" charset="0"/>
                <a:cs typeface="Arial"/>
              </a:rPr>
              <a:t>Train </a:t>
            </a:r>
            <a:r>
              <a:rPr sz="1600" dirty="0">
                <a:latin typeface="Garamond" panose="02020404030301010803" pitchFamily="18" charset="0"/>
                <a:cs typeface="Arial"/>
              </a:rPr>
              <a:t>/ </a:t>
            </a:r>
            <a:r>
              <a:rPr sz="1600" spc="-45" dirty="0">
                <a:latin typeface="Garamond" panose="02020404030301010803" pitchFamily="18" charset="0"/>
                <a:cs typeface="Arial"/>
              </a:rPr>
              <a:t>Val</a:t>
            </a:r>
            <a:r>
              <a:rPr sz="1600" spc="-160" dirty="0">
                <a:latin typeface="Garamond" panose="02020404030301010803" pitchFamily="18" charset="0"/>
                <a:cs typeface="Arial"/>
              </a:rPr>
              <a:t> </a:t>
            </a:r>
            <a:r>
              <a:rPr sz="1600" spc="-5" dirty="0">
                <a:latin typeface="Garamond" panose="02020404030301010803" pitchFamily="18" charset="0"/>
                <a:cs typeface="Arial"/>
              </a:rPr>
              <a:t>Accuracy</a:t>
            </a:r>
            <a:endParaRPr sz="16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27985B6C-E22E-43C3-8639-C223195CF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Look at learning</a:t>
            </a:r>
            <a:r>
              <a:rPr lang="en-US" spc="-90" dirty="0"/>
              <a:t> </a:t>
            </a:r>
            <a:r>
              <a:rPr lang="en-US" dirty="0"/>
              <a:t>curves!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D83B09-5EC0-4613-AE50-A59026E4A262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15207" y="1136925"/>
            <a:ext cx="4695825" cy="3213735"/>
            <a:chOff x="1615206" y="279674"/>
            <a:chExt cx="4695825" cy="3213735"/>
          </a:xfrm>
        </p:grpSpPr>
        <p:sp>
          <p:nvSpPr>
            <p:cNvPr id="3" name="object 3"/>
            <p:cNvSpPr/>
            <p:nvPr/>
          </p:nvSpPr>
          <p:spPr>
            <a:xfrm>
              <a:off x="1656196" y="375649"/>
              <a:ext cx="0" cy="3076575"/>
            </a:xfrm>
            <a:custGeom>
              <a:avLst/>
              <a:gdLst/>
              <a:ahLst/>
              <a:cxnLst/>
              <a:rect l="l" t="t" r="r" b="b"/>
              <a:pathLst>
                <a:path h="3076575">
                  <a:moveTo>
                    <a:pt x="0" y="3076193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615206" y="279674"/>
              <a:ext cx="81979" cy="1054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656196" y="3451843"/>
              <a:ext cx="4558030" cy="0"/>
            </a:xfrm>
            <a:custGeom>
              <a:avLst/>
              <a:gdLst/>
              <a:ahLst/>
              <a:cxnLst/>
              <a:rect l="l" t="t" r="r" b="b"/>
              <a:pathLst>
                <a:path w="4558030">
                  <a:moveTo>
                    <a:pt x="0" y="0"/>
                  </a:moveTo>
                  <a:lnTo>
                    <a:pt x="455789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6204562" y="3410843"/>
              <a:ext cx="105499" cy="8199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659346" y="1479872"/>
              <a:ext cx="4632325" cy="1772285"/>
            </a:xfrm>
            <a:custGeom>
              <a:avLst/>
              <a:gdLst/>
              <a:ahLst/>
              <a:cxnLst/>
              <a:rect l="l" t="t" r="r" b="b"/>
              <a:pathLst>
                <a:path w="4632325" h="1772285">
                  <a:moveTo>
                    <a:pt x="0" y="1771721"/>
                  </a:moveTo>
                  <a:lnTo>
                    <a:pt x="8270" y="1742441"/>
                  </a:lnTo>
                  <a:lnTo>
                    <a:pt x="18522" y="1704937"/>
                  </a:lnTo>
                  <a:lnTo>
                    <a:pt x="30494" y="1660579"/>
                  </a:lnTo>
                  <a:lnTo>
                    <a:pt x="43926" y="1610733"/>
                  </a:lnTo>
                  <a:lnTo>
                    <a:pt x="58556" y="1556770"/>
                  </a:lnTo>
                  <a:lnTo>
                    <a:pt x="74125" y="1500056"/>
                  </a:lnTo>
                  <a:lnTo>
                    <a:pt x="90371" y="1441960"/>
                  </a:lnTo>
                  <a:lnTo>
                    <a:pt x="107035" y="1383851"/>
                  </a:lnTo>
                  <a:lnTo>
                    <a:pt x="123855" y="1327097"/>
                  </a:lnTo>
                  <a:lnTo>
                    <a:pt x="140571" y="1273066"/>
                  </a:lnTo>
                  <a:lnTo>
                    <a:pt x="156923" y="1223127"/>
                  </a:lnTo>
                  <a:lnTo>
                    <a:pt x="172649" y="1178647"/>
                  </a:lnTo>
                  <a:lnTo>
                    <a:pt x="191741" y="1124468"/>
                  </a:lnTo>
                  <a:lnTo>
                    <a:pt x="208888" y="1072204"/>
                  </a:lnTo>
                  <a:lnTo>
                    <a:pt x="225201" y="1022102"/>
                  </a:lnTo>
                  <a:lnTo>
                    <a:pt x="241793" y="974410"/>
                  </a:lnTo>
                  <a:lnTo>
                    <a:pt x="259775" y="929374"/>
                  </a:lnTo>
                  <a:lnTo>
                    <a:pt x="280260" y="887243"/>
                  </a:lnTo>
                  <a:lnTo>
                    <a:pt x="304359" y="848263"/>
                  </a:lnTo>
                  <a:lnTo>
                    <a:pt x="333185" y="812683"/>
                  </a:lnTo>
                  <a:lnTo>
                    <a:pt x="367849" y="780748"/>
                  </a:lnTo>
                  <a:lnTo>
                    <a:pt x="402931" y="756113"/>
                  </a:lnTo>
                  <a:lnTo>
                    <a:pt x="440099" y="735765"/>
                  </a:lnTo>
                  <a:lnTo>
                    <a:pt x="479715" y="718962"/>
                  </a:lnTo>
                  <a:lnTo>
                    <a:pt x="522138" y="704959"/>
                  </a:lnTo>
                  <a:lnTo>
                    <a:pt x="567729" y="693012"/>
                  </a:lnTo>
                  <a:lnTo>
                    <a:pt x="616849" y="682380"/>
                  </a:lnTo>
                  <a:lnTo>
                    <a:pt x="669858" y="672319"/>
                  </a:lnTo>
                  <a:lnTo>
                    <a:pt x="727116" y="662084"/>
                  </a:lnTo>
                  <a:lnTo>
                    <a:pt x="788984" y="650933"/>
                  </a:lnTo>
                  <a:lnTo>
                    <a:pt x="855823" y="638123"/>
                  </a:lnTo>
                  <a:lnTo>
                    <a:pt x="896243" y="630365"/>
                  </a:lnTo>
                  <a:lnTo>
                    <a:pt x="940062" y="622533"/>
                  </a:lnTo>
                  <a:lnTo>
                    <a:pt x="986854" y="614647"/>
                  </a:lnTo>
                  <a:lnTo>
                    <a:pt x="1036196" y="606726"/>
                  </a:lnTo>
                  <a:lnTo>
                    <a:pt x="1087662" y="598790"/>
                  </a:lnTo>
                  <a:lnTo>
                    <a:pt x="1140828" y="590858"/>
                  </a:lnTo>
                  <a:lnTo>
                    <a:pt x="1195268" y="582949"/>
                  </a:lnTo>
                  <a:lnTo>
                    <a:pt x="1250557" y="575083"/>
                  </a:lnTo>
                  <a:lnTo>
                    <a:pt x="1306272" y="567278"/>
                  </a:lnTo>
                  <a:lnTo>
                    <a:pt x="1361986" y="559554"/>
                  </a:lnTo>
                  <a:lnTo>
                    <a:pt x="1417276" y="551931"/>
                  </a:lnTo>
                  <a:lnTo>
                    <a:pt x="1471716" y="544427"/>
                  </a:lnTo>
                  <a:lnTo>
                    <a:pt x="1524881" y="537062"/>
                  </a:lnTo>
                  <a:lnTo>
                    <a:pt x="1576347" y="529856"/>
                  </a:lnTo>
                  <a:lnTo>
                    <a:pt x="1625689" y="522827"/>
                  </a:lnTo>
                  <a:lnTo>
                    <a:pt x="1672482" y="515995"/>
                  </a:lnTo>
                  <a:lnTo>
                    <a:pt x="1716301" y="509379"/>
                  </a:lnTo>
                  <a:lnTo>
                    <a:pt x="1756721" y="502998"/>
                  </a:lnTo>
                  <a:lnTo>
                    <a:pt x="1822106" y="492064"/>
                  </a:lnTo>
                  <a:lnTo>
                    <a:pt x="1880262" y="481737"/>
                  </a:lnTo>
                  <a:lnTo>
                    <a:pt x="1932518" y="471950"/>
                  </a:lnTo>
                  <a:lnTo>
                    <a:pt x="1980202" y="462636"/>
                  </a:lnTo>
                  <a:lnTo>
                    <a:pt x="2024642" y="453727"/>
                  </a:lnTo>
                  <a:lnTo>
                    <a:pt x="2067168" y="445156"/>
                  </a:lnTo>
                  <a:lnTo>
                    <a:pt x="2109108" y="436855"/>
                  </a:lnTo>
                  <a:lnTo>
                    <a:pt x="2151790" y="428757"/>
                  </a:lnTo>
                  <a:lnTo>
                    <a:pt x="2196543" y="420794"/>
                  </a:lnTo>
                  <a:lnTo>
                    <a:pt x="2244695" y="412899"/>
                  </a:lnTo>
                  <a:lnTo>
                    <a:pt x="2295749" y="405127"/>
                  </a:lnTo>
                  <a:lnTo>
                    <a:pt x="2348050" y="397581"/>
                  </a:lnTo>
                  <a:lnTo>
                    <a:pt x="2401193" y="390260"/>
                  </a:lnTo>
                  <a:lnTo>
                    <a:pt x="2454772" y="383164"/>
                  </a:lnTo>
                  <a:lnTo>
                    <a:pt x="2508382" y="376294"/>
                  </a:lnTo>
                  <a:lnTo>
                    <a:pt x="2561617" y="369649"/>
                  </a:lnTo>
                  <a:lnTo>
                    <a:pt x="2614071" y="363230"/>
                  </a:lnTo>
                  <a:lnTo>
                    <a:pt x="2665339" y="357035"/>
                  </a:lnTo>
                  <a:lnTo>
                    <a:pt x="2715015" y="351067"/>
                  </a:lnTo>
                  <a:lnTo>
                    <a:pt x="2762694" y="345324"/>
                  </a:lnTo>
                  <a:lnTo>
                    <a:pt x="2819645" y="338617"/>
                  </a:lnTo>
                  <a:lnTo>
                    <a:pt x="2874368" y="332482"/>
                  </a:lnTo>
                  <a:lnTo>
                    <a:pt x="2927217" y="326789"/>
                  </a:lnTo>
                  <a:lnTo>
                    <a:pt x="2978540" y="321403"/>
                  </a:lnTo>
                  <a:lnTo>
                    <a:pt x="3028691" y="316194"/>
                  </a:lnTo>
                  <a:lnTo>
                    <a:pt x="3078020" y="311028"/>
                  </a:lnTo>
                  <a:lnTo>
                    <a:pt x="3126879" y="305774"/>
                  </a:lnTo>
                  <a:lnTo>
                    <a:pt x="3175618" y="300299"/>
                  </a:lnTo>
                  <a:lnTo>
                    <a:pt x="3230860" y="294324"/>
                  </a:lnTo>
                  <a:lnTo>
                    <a:pt x="3285093" y="288961"/>
                  </a:lnTo>
                  <a:lnTo>
                    <a:pt x="3338385" y="283751"/>
                  </a:lnTo>
                  <a:lnTo>
                    <a:pt x="3390802" y="278234"/>
                  </a:lnTo>
                  <a:lnTo>
                    <a:pt x="3442411" y="271951"/>
                  </a:lnTo>
                  <a:lnTo>
                    <a:pt x="3493277" y="264443"/>
                  </a:lnTo>
                  <a:lnTo>
                    <a:pt x="3543467" y="255249"/>
                  </a:lnTo>
                  <a:lnTo>
                    <a:pt x="3592490" y="243867"/>
                  </a:lnTo>
                  <a:lnTo>
                    <a:pt x="3640135" y="230537"/>
                  </a:lnTo>
                  <a:lnTo>
                    <a:pt x="3686863" y="215916"/>
                  </a:lnTo>
                  <a:lnTo>
                    <a:pt x="3733133" y="200660"/>
                  </a:lnTo>
                  <a:lnTo>
                    <a:pt x="3779405" y="185426"/>
                  </a:lnTo>
                  <a:lnTo>
                    <a:pt x="3826138" y="170870"/>
                  </a:lnTo>
                  <a:lnTo>
                    <a:pt x="3873792" y="157649"/>
                  </a:lnTo>
                  <a:lnTo>
                    <a:pt x="3921744" y="145807"/>
                  </a:lnTo>
                  <a:lnTo>
                    <a:pt x="3969393" y="134776"/>
                  </a:lnTo>
                  <a:lnTo>
                    <a:pt x="4017197" y="124291"/>
                  </a:lnTo>
                  <a:lnTo>
                    <a:pt x="4065615" y="114092"/>
                  </a:lnTo>
                  <a:lnTo>
                    <a:pt x="4115106" y="103914"/>
                  </a:lnTo>
                  <a:lnTo>
                    <a:pt x="4166128" y="93496"/>
                  </a:lnTo>
                  <a:lnTo>
                    <a:pt x="4219141" y="82574"/>
                  </a:lnTo>
                  <a:lnTo>
                    <a:pt x="4270343" y="72047"/>
                  </a:lnTo>
                  <a:lnTo>
                    <a:pt x="4327292" y="60523"/>
                  </a:lnTo>
                  <a:lnTo>
                    <a:pt x="4387173" y="48529"/>
                  </a:lnTo>
                  <a:lnTo>
                    <a:pt x="4447172" y="36595"/>
                  </a:lnTo>
                  <a:lnTo>
                    <a:pt x="4504472" y="25247"/>
                  </a:lnTo>
                  <a:lnTo>
                    <a:pt x="4556261" y="15013"/>
                  </a:lnTo>
                  <a:lnTo>
                    <a:pt x="4599721" y="6421"/>
                  </a:lnTo>
                  <a:lnTo>
                    <a:pt x="4632040" y="0"/>
                  </a:lnTo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49749" y="1219955"/>
            <a:ext cx="963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Garamond" panose="02020404030301010803" pitchFamily="18" charset="0"/>
                <a:cs typeface="Arial"/>
              </a:rPr>
              <a:t>Accuracy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28790" y="4460175"/>
            <a:ext cx="456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Garamond" panose="02020404030301010803" pitchFamily="18" charset="0"/>
                <a:cs typeface="Arial"/>
              </a:rPr>
              <a:t>time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78619" y="1982651"/>
            <a:ext cx="708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9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T</a:t>
            </a:r>
            <a:r>
              <a:rPr sz="2400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rain</a:t>
            </a:r>
            <a:endParaRPr sz="24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323815" y="1150127"/>
            <a:ext cx="2790825" cy="553100"/>
          </a:xfrm>
          <a:prstGeom prst="rect">
            <a:avLst/>
          </a:prstGeom>
        </p:spPr>
        <p:txBody>
          <a:bodyPr vert="horz" wrap="square" lIns="0" tIns="1079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spc="-5" dirty="0"/>
              <a:t>Accuracy </a:t>
            </a:r>
            <a:r>
              <a:rPr sz="1800" dirty="0"/>
              <a:t>still </a:t>
            </a:r>
            <a:r>
              <a:rPr sz="1800" spc="-5" dirty="0"/>
              <a:t>going up,</a:t>
            </a:r>
            <a:r>
              <a:rPr sz="1800" spc="-100" dirty="0"/>
              <a:t> </a:t>
            </a:r>
            <a:r>
              <a:rPr sz="1800" dirty="0"/>
              <a:t>you  </a:t>
            </a:r>
            <a:r>
              <a:rPr sz="1800" spc="-5" dirty="0"/>
              <a:t>need to train</a:t>
            </a:r>
            <a:r>
              <a:rPr sz="1800" spc="-25" dirty="0"/>
              <a:t> </a:t>
            </a:r>
            <a:r>
              <a:rPr sz="1800" spc="-5" dirty="0"/>
              <a:t>longer</a:t>
            </a:r>
            <a:endParaRPr sz="1800"/>
          </a:p>
        </p:txBody>
      </p:sp>
      <p:sp>
        <p:nvSpPr>
          <p:cNvPr id="12" name="object 12"/>
          <p:cNvSpPr/>
          <p:nvPr/>
        </p:nvSpPr>
        <p:spPr>
          <a:xfrm>
            <a:off x="1666846" y="2652422"/>
            <a:ext cx="4669790" cy="1599565"/>
          </a:xfrm>
          <a:custGeom>
            <a:avLst/>
            <a:gdLst/>
            <a:ahLst/>
            <a:cxnLst/>
            <a:rect l="l" t="t" r="r" b="b"/>
            <a:pathLst>
              <a:path w="4669790" h="1599564">
                <a:moveTo>
                  <a:pt x="0" y="1599071"/>
                </a:moveTo>
                <a:lnTo>
                  <a:pt x="10482" y="1569578"/>
                </a:lnTo>
                <a:lnTo>
                  <a:pt x="23436" y="1530428"/>
                </a:lnTo>
                <a:lnTo>
                  <a:pt x="38645" y="1483789"/>
                </a:lnTo>
                <a:lnTo>
                  <a:pt x="55893" y="1431831"/>
                </a:lnTo>
                <a:lnTo>
                  <a:pt x="74963" y="1376721"/>
                </a:lnTo>
                <a:lnTo>
                  <a:pt x="95640" y="1320629"/>
                </a:lnTo>
                <a:lnTo>
                  <a:pt x="117708" y="1265724"/>
                </a:lnTo>
                <a:lnTo>
                  <a:pt x="140950" y="1214174"/>
                </a:lnTo>
                <a:lnTo>
                  <a:pt x="165149" y="1168147"/>
                </a:lnTo>
                <a:lnTo>
                  <a:pt x="190204" y="1125877"/>
                </a:lnTo>
                <a:lnTo>
                  <a:pt x="216278" y="1084311"/>
                </a:lnTo>
                <a:lnTo>
                  <a:pt x="243558" y="1043691"/>
                </a:lnTo>
                <a:lnTo>
                  <a:pt x="272228" y="1004257"/>
                </a:lnTo>
                <a:lnTo>
                  <a:pt x="302474" y="966250"/>
                </a:lnTo>
                <a:lnTo>
                  <a:pt x="334481" y="929912"/>
                </a:lnTo>
                <a:lnTo>
                  <a:pt x="368435" y="895484"/>
                </a:lnTo>
                <a:lnTo>
                  <a:pt x="404521" y="863208"/>
                </a:lnTo>
                <a:lnTo>
                  <a:pt x="442924" y="833323"/>
                </a:lnTo>
                <a:lnTo>
                  <a:pt x="484674" y="805940"/>
                </a:lnTo>
                <a:lnTo>
                  <a:pt x="530101" y="780874"/>
                </a:lnTo>
                <a:lnTo>
                  <a:pt x="578341" y="757920"/>
                </a:lnTo>
                <a:lnTo>
                  <a:pt x="628527" y="736875"/>
                </a:lnTo>
                <a:lnTo>
                  <a:pt x="679794" y="717535"/>
                </a:lnTo>
                <a:lnTo>
                  <a:pt x="731277" y="699696"/>
                </a:lnTo>
                <a:lnTo>
                  <a:pt x="782112" y="683154"/>
                </a:lnTo>
                <a:lnTo>
                  <a:pt x="831432" y="667706"/>
                </a:lnTo>
                <a:lnTo>
                  <a:pt x="878373" y="653148"/>
                </a:lnTo>
                <a:lnTo>
                  <a:pt x="927725" y="638580"/>
                </a:lnTo>
                <a:lnTo>
                  <a:pt x="974274" y="626461"/>
                </a:lnTo>
                <a:lnTo>
                  <a:pt x="1019208" y="616307"/>
                </a:lnTo>
                <a:lnTo>
                  <a:pt x="1063716" y="607634"/>
                </a:lnTo>
                <a:lnTo>
                  <a:pt x="1108986" y="599957"/>
                </a:lnTo>
                <a:lnTo>
                  <a:pt x="1156205" y="592795"/>
                </a:lnTo>
                <a:lnTo>
                  <a:pt x="1206563" y="585661"/>
                </a:lnTo>
                <a:lnTo>
                  <a:pt x="1261247" y="578073"/>
                </a:lnTo>
                <a:lnTo>
                  <a:pt x="1304204" y="572450"/>
                </a:lnTo>
                <a:lnTo>
                  <a:pt x="1349530" y="567148"/>
                </a:lnTo>
                <a:lnTo>
                  <a:pt x="1396802" y="562117"/>
                </a:lnTo>
                <a:lnTo>
                  <a:pt x="1445596" y="557306"/>
                </a:lnTo>
                <a:lnTo>
                  <a:pt x="1495491" y="552665"/>
                </a:lnTo>
                <a:lnTo>
                  <a:pt x="1546062" y="548141"/>
                </a:lnTo>
                <a:lnTo>
                  <a:pt x="1596888" y="543685"/>
                </a:lnTo>
                <a:lnTo>
                  <a:pt x="1647544" y="539246"/>
                </a:lnTo>
                <a:lnTo>
                  <a:pt x="1697609" y="534774"/>
                </a:lnTo>
                <a:lnTo>
                  <a:pt x="1746659" y="530216"/>
                </a:lnTo>
                <a:lnTo>
                  <a:pt x="1794271" y="525523"/>
                </a:lnTo>
                <a:lnTo>
                  <a:pt x="1845273" y="520336"/>
                </a:lnTo>
                <a:lnTo>
                  <a:pt x="1895530" y="515253"/>
                </a:lnTo>
                <a:lnTo>
                  <a:pt x="1945201" y="510231"/>
                </a:lnTo>
                <a:lnTo>
                  <a:pt x="1994443" y="505224"/>
                </a:lnTo>
                <a:lnTo>
                  <a:pt x="2043414" y="500187"/>
                </a:lnTo>
                <a:lnTo>
                  <a:pt x="2092273" y="495075"/>
                </a:lnTo>
                <a:lnTo>
                  <a:pt x="2141177" y="489842"/>
                </a:lnTo>
                <a:lnTo>
                  <a:pt x="2190285" y="484445"/>
                </a:lnTo>
                <a:lnTo>
                  <a:pt x="2239755" y="478837"/>
                </a:lnTo>
                <a:lnTo>
                  <a:pt x="2289745" y="472974"/>
                </a:lnTo>
                <a:lnTo>
                  <a:pt x="2339913" y="466892"/>
                </a:lnTo>
                <a:lnTo>
                  <a:pt x="2389917" y="460660"/>
                </a:lnTo>
                <a:lnTo>
                  <a:pt x="2439893" y="454278"/>
                </a:lnTo>
                <a:lnTo>
                  <a:pt x="2489975" y="447746"/>
                </a:lnTo>
                <a:lnTo>
                  <a:pt x="2540298" y="441063"/>
                </a:lnTo>
                <a:lnTo>
                  <a:pt x="2590996" y="434230"/>
                </a:lnTo>
                <a:lnTo>
                  <a:pt x="2642205" y="427247"/>
                </a:lnTo>
                <a:lnTo>
                  <a:pt x="2694059" y="420114"/>
                </a:lnTo>
                <a:lnTo>
                  <a:pt x="2746694" y="412831"/>
                </a:lnTo>
                <a:lnTo>
                  <a:pt x="2800244" y="405399"/>
                </a:lnTo>
                <a:lnTo>
                  <a:pt x="2850223" y="398540"/>
                </a:lnTo>
                <a:lnTo>
                  <a:pt x="2901647" y="391603"/>
                </a:lnTo>
                <a:lnTo>
                  <a:pt x="2954160" y="384570"/>
                </a:lnTo>
                <a:lnTo>
                  <a:pt x="3007407" y="377424"/>
                </a:lnTo>
                <a:lnTo>
                  <a:pt x="3061031" y="370148"/>
                </a:lnTo>
                <a:lnTo>
                  <a:pt x="3114679" y="362727"/>
                </a:lnTo>
                <a:lnTo>
                  <a:pt x="3167994" y="355141"/>
                </a:lnTo>
                <a:lnTo>
                  <a:pt x="3220621" y="347375"/>
                </a:lnTo>
                <a:lnTo>
                  <a:pt x="3272204" y="339411"/>
                </a:lnTo>
                <a:lnTo>
                  <a:pt x="3322388" y="331233"/>
                </a:lnTo>
                <a:lnTo>
                  <a:pt x="3370818" y="322824"/>
                </a:lnTo>
                <a:lnTo>
                  <a:pt x="3422574" y="313158"/>
                </a:lnTo>
                <a:lnTo>
                  <a:pt x="3473460" y="303005"/>
                </a:lnTo>
                <a:lnTo>
                  <a:pt x="3523428" y="292476"/>
                </a:lnTo>
                <a:lnTo>
                  <a:pt x="3572435" y="281685"/>
                </a:lnTo>
                <a:lnTo>
                  <a:pt x="3620436" y="270744"/>
                </a:lnTo>
                <a:lnTo>
                  <a:pt x="3667385" y="259765"/>
                </a:lnTo>
                <a:lnTo>
                  <a:pt x="3713238" y="248861"/>
                </a:lnTo>
                <a:lnTo>
                  <a:pt x="3757949" y="238144"/>
                </a:lnTo>
                <a:lnTo>
                  <a:pt x="3801474" y="227728"/>
                </a:lnTo>
                <a:lnTo>
                  <a:pt x="3843767" y="217724"/>
                </a:lnTo>
                <a:lnTo>
                  <a:pt x="3900232" y="204394"/>
                </a:lnTo>
                <a:lnTo>
                  <a:pt x="3951860" y="191982"/>
                </a:lnTo>
                <a:lnTo>
                  <a:pt x="4000557" y="180030"/>
                </a:lnTo>
                <a:lnTo>
                  <a:pt x="4048226" y="168077"/>
                </a:lnTo>
                <a:lnTo>
                  <a:pt x="4096773" y="155665"/>
                </a:lnTo>
                <a:lnTo>
                  <a:pt x="4148101" y="142334"/>
                </a:lnTo>
                <a:lnTo>
                  <a:pt x="4204116" y="127624"/>
                </a:lnTo>
                <a:lnTo>
                  <a:pt x="4248498" y="115807"/>
                </a:lnTo>
                <a:lnTo>
                  <a:pt x="4297926" y="102459"/>
                </a:lnTo>
                <a:lnTo>
                  <a:pt x="4350689" y="88075"/>
                </a:lnTo>
                <a:lnTo>
                  <a:pt x="4405075" y="73150"/>
                </a:lnTo>
                <a:lnTo>
                  <a:pt x="4459372" y="58180"/>
                </a:lnTo>
                <a:lnTo>
                  <a:pt x="4511867" y="43661"/>
                </a:lnTo>
                <a:lnTo>
                  <a:pt x="4560848" y="30088"/>
                </a:lnTo>
                <a:lnTo>
                  <a:pt x="4604604" y="17957"/>
                </a:lnTo>
                <a:lnTo>
                  <a:pt x="4641422" y="7762"/>
                </a:lnTo>
                <a:lnTo>
                  <a:pt x="4669590" y="0"/>
                </a:lnTo>
              </a:path>
            </a:pathLst>
          </a:custGeom>
          <a:ln w="38099">
            <a:solidFill>
              <a:srgbClr val="E69138"/>
            </a:solidFill>
          </a:ln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06389" y="3381252"/>
            <a:ext cx="4432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80" dirty="0">
                <a:solidFill>
                  <a:srgbClr val="E69138"/>
                </a:solidFill>
                <a:latin typeface="Garamond" panose="02020404030301010803" pitchFamily="18" charset="0"/>
                <a:cs typeface="Arial"/>
              </a:rPr>
              <a:t>V</a:t>
            </a:r>
            <a:r>
              <a:rPr sz="2400" spc="-5" dirty="0">
                <a:solidFill>
                  <a:srgbClr val="E69138"/>
                </a:solidFill>
                <a:latin typeface="Garamond" panose="02020404030301010803" pitchFamily="18" charset="0"/>
                <a:cs typeface="Arial"/>
              </a:rPr>
              <a:t>al</a:t>
            </a:r>
            <a:endParaRPr sz="24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7925" y="5574843"/>
            <a:ext cx="8875395" cy="273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  <a:tabLst>
                <a:tab pos="5253355" algn="l"/>
                <a:tab pos="7310755" algn="l"/>
              </a:tabLst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Fei-Fei Li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&amp; Justin Johnson &amp;</a:t>
            </a:r>
            <a:r>
              <a:rPr spc="-1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Serena</a:t>
            </a:r>
            <a:r>
              <a:rPr spc="-3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4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Yeung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April 25,</a:t>
            </a:r>
            <a:r>
              <a:rPr sz="3000" spc="-142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2019</a:t>
            </a:r>
            <a:endParaRPr sz="3000" baseline="-4166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99119" y="5562144"/>
            <a:ext cx="123888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2000" spc="-9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xfrm>
            <a:off x="7456513" y="4704893"/>
            <a:ext cx="159004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310"/>
              </a:lnSpc>
            </a:pPr>
            <a:r>
              <a:rPr lang="en-US" spc="-5" dirty="0">
                <a:latin typeface="Garamond" panose="02020404030301010803" pitchFamily="18" charset="0"/>
              </a:rPr>
              <a:t>April 25,</a:t>
            </a:r>
            <a:r>
              <a:rPr lang="en-US" spc="-90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xfrm>
            <a:off x="145224" y="4709647"/>
            <a:ext cx="44907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Fei-Fei Li </a:t>
            </a:r>
            <a:r>
              <a:rPr lang="en-US" dirty="0">
                <a:latin typeface="Garamond" panose="02020404030301010803" pitchFamily="18" charset="0"/>
              </a:rPr>
              <a:t>&amp; Justin Johnson &amp; </a:t>
            </a:r>
            <a:r>
              <a:rPr lang="en-US" spc="-5" dirty="0">
                <a:latin typeface="Garamond" panose="02020404030301010803" pitchFamily="18" charset="0"/>
              </a:rPr>
              <a:t>Serena</a:t>
            </a:r>
            <a:r>
              <a:rPr lang="en-US" spc="-145" dirty="0">
                <a:latin typeface="Garamond" panose="02020404030301010803" pitchFamily="18" charset="0"/>
              </a:rPr>
              <a:t> </a:t>
            </a:r>
            <a:r>
              <a:rPr lang="en-US" spc="-40" dirty="0">
                <a:latin typeface="Garamond" panose="02020404030301010803" pitchFamily="18" charset="0"/>
              </a:rPr>
              <a:t>Yeung</a:t>
            </a:r>
            <a:endParaRPr spc="-40" dirty="0">
              <a:latin typeface="Garamond" panose="02020404030301010803" pitchFamily="18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89947" y="5570691"/>
            <a:ext cx="56642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pPr marL="38100">
                <a:lnSpc>
                  <a:spcPts val="2310"/>
                </a:lnSpc>
              </a:pPr>
              <a:t>41</a:t>
            </a:fld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2A4E6F-D4CC-4FD7-BC0A-0F875B329972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15207" y="1136925"/>
            <a:ext cx="4695825" cy="3213735"/>
            <a:chOff x="1615206" y="279674"/>
            <a:chExt cx="4695825" cy="3213735"/>
          </a:xfrm>
        </p:grpSpPr>
        <p:sp>
          <p:nvSpPr>
            <p:cNvPr id="3" name="object 3"/>
            <p:cNvSpPr/>
            <p:nvPr/>
          </p:nvSpPr>
          <p:spPr>
            <a:xfrm>
              <a:off x="1656196" y="375649"/>
              <a:ext cx="0" cy="3076575"/>
            </a:xfrm>
            <a:custGeom>
              <a:avLst/>
              <a:gdLst/>
              <a:ahLst/>
              <a:cxnLst/>
              <a:rect l="l" t="t" r="r" b="b"/>
              <a:pathLst>
                <a:path h="3076575">
                  <a:moveTo>
                    <a:pt x="0" y="3076193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615206" y="279674"/>
              <a:ext cx="81979" cy="1054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656196" y="3451843"/>
              <a:ext cx="4558030" cy="0"/>
            </a:xfrm>
            <a:custGeom>
              <a:avLst/>
              <a:gdLst/>
              <a:ahLst/>
              <a:cxnLst/>
              <a:rect l="l" t="t" r="r" b="b"/>
              <a:pathLst>
                <a:path w="4558030">
                  <a:moveTo>
                    <a:pt x="0" y="0"/>
                  </a:moveTo>
                  <a:lnTo>
                    <a:pt x="455789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6204562" y="3410843"/>
              <a:ext cx="105499" cy="8199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659346" y="1479872"/>
              <a:ext cx="4632325" cy="1772285"/>
            </a:xfrm>
            <a:custGeom>
              <a:avLst/>
              <a:gdLst/>
              <a:ahLst/>
              <a:cxnLst/>
              <a:rect l="l" t="t" r="r" b="b"/>
              <a:pathLst>
                <a:path w="4632325" h="1772285">
                  <a:moveTo>
                    <a:pt x="0" y="1771721"/>
                  </a:moveTo>
                  <a:lnTo>
                    <a:pt x="8270" y="1742441"/>
                  </a:lnTo>
                  <a:lnTo>
                    <a:pt x="18522" y="1704937"/>
                  </a:lnTo>
                  <a:lnTo>
                    <a:pt x="30494" y="1660579"/>
                  </a:lnTo>
                  <a:lnTo>
                    <a:pt x="43926" y="1610733"/>
                  </a:lnTo>
                  <a:lnTo>
                    <a:pt x="58556" y="1556770"/>
                  </a:lnTo>
                  <a:lnTo>
                    <a:pt x="74125" y="1500056"/>
                  </a:lnTo>
                  <a:lnTo>
                    <a:pt x="90371" y="1441960"/>
                  </a:lnTo>
                  <a:lnTo>
                    <a:pt x="107035" y="1383851"/>
                  </a:lnTo>
                  <a:lnTo>
                    <a:pt x="123855" y="1327097"/>
                  </a:lnTo>
                  <a:lnTo>
                    <a:pt x="140571" y="1273066"/>
                  </a:lnTo>
                  <a:lnTo>
                    <a:pt x="156923" y="1223127"/>
                  </a:lnTo>
                  <a:lnTo>
                    <a:pt x="172649" y="1178647"/>
                  </a:lnTo>
                  <a:lnTo>
                    <a:pt x="191741" y="1124468"/>
                  </a:lnTo>
                  <a:lnTo>
                    <a:pt x="208888" y="1072204"/>
                  </a:lnTo>
                  <a:lnTo>
                    <a:pt x="225201" y="1022102"/>
                  </a:lnTo>
                  <a:lnTo>
                    <a:pt x="241793" y="974410"/>
                  </a:lnTo>
                  <a:lnTo>
                    <a:pt x="259775" y="929374"/>
                  </a:lnTo>
                  <a:lnTo>
                    <a:pt x="280260" y="887243"/>
                  </a:lnTo>
                  <a:lnTo>
                    <a:pt x="304359" y="848263"/>
                  </a:lnTo>
                  <a:lnTo>
                    <a:pt x="333185" y="812683"/>
                  </a:lnTo>
                  <a:lnTo>
                    <a:pt x="367849" y="780748"/>
                  </a:lnTo>
                  <a:lnTo>
                    <a:pt x="402931" y="756113"/>
                  </a:lnTo>
                  <a:lnTo>
                    <a:pt x="440099" y="735765"/>
                  </a:lnTo>
                  <a:lnTo>
                    <a:pt x="479715" y="718962"/>
                  </a:lnTo>
                  <a:lnTo>
                    <a:pt x="522138" y="704959"/>
                  </a:lnTo>
                  <a:lnTo>
                    <a:pt x="567729" y="693012"/>
                  </a:lnTo>
                  <a:lnTo>
                    <a:pt x="616849" y="682380"/>
                  </a:lnTo>
                  <a:lnTo>
                    <a:pt x="669858" y="672319"/>
                  </a:lnTo>
                  <a:lnTo>
                    <a:pt x="727116" y="662084"/>
                  </a:lnTo>
                  <a:lnTo>
                    <a:pt x="788984" y="650933"/>
                  </a:lnTo>
                  <a:lnTo>
                    <a:pt x="855823" y="638123"/>
                  </a:lnTo>
                  <a:lnTo>
                    <a:pt x="896243" y="630365"/>
                  </a:lnTo>
                  <a:lnTo>
                    <a:pt x="940062" y="622533"/>
                  </a:lnTo>
                  <a:lnTo>
                    <a:pt x="986854" y="614647"/>
                  </a:lnTo>
                  <a:lnTo>
                    <a:pt x="1036196" y="606726"/>
                  </a:lnTo>
                  <a:lnTo>
                    <a:pt x="1087662" y="598790"/>
                  </a:lnTo>
                  <a:lnTo>
                    <a:pt x="1140828" y="590858"/>
                  </a:lnTo>
                  <a:lnTo>
                    <a:pt x="1195268" y="582949"/>
                  </a:lnTo>
                  <a:lnTo>
                    <a:pt x="1250557" y="575083"/>
                  </a:lnTo>
                  <a:lnTo>
                    <a:pt x="1306272" y="567278"/>
                  </a:lnTo>
                  <a:lnTo>
                    <a:pt x="1361986" y="559554"/>
                  </a:lnTo>
                  <a:lnTo>
                    <a:pt x="1417276" y="551931"/>
                  </a:lnTo>
                  <a:lnTo>
                    <a:pt x="1471716" y="544427"/>
                  </a:lnTo>
                  <a:lnTo>
                    <a:pt x="1524881" y="537062"/>
                  </a:lnTo>
                  <a:lnTo>
                    <a:pt x="1576347" y="529856"/>
                  </a:lnTo>
                  <a:lnTo>
                    <a:pt x="1625689" y="522827"/>
                  </a:lnTo>
                  <a:lnTo>
                    <a:pt x="1672482" y="515995"/>
                  </a:lnTo>
                  <a:lnTo>
                    <a:pt x="1716301" y="509379"/>
                  </a:lnTo>
                  <a:lnTo>
                    <a:pt x="1756721" y="502998"/>
                  </a:lnTo>
                  <a:lnTo>
                    <a:pt x="1822106" y="492064"/>
                  </a:lnTo>
                  <a:lnTo>
                    <a:pt x="1880262" y="481737"/>
                  </a:lnTo>
                  <a:lnTo>
                    <a:pt x="1932518" y="471950"/>
                  </a:lnTo>
                  <a:lnTo>
                    <a:pt x="1980202" y="462636"/>
                  </a:lnTo>
                  <a:lnTo>
                    <a:pt x="2024642" y="453727"/>
                  </a:lnTo>
                  <a:lnTo>
                    <a:pt x="2067168" y="445156"/>
                  </a:lnTo>
                  <a:lnTo>
                    <a:pt x="2109108" y="436855"/>
                  </a:lnTo>
                  <a:lnTo>
                    <a:pt x="2151790" y="428757"/>
                  </a:lnTo>
                  <a:lnTo>
                    <a:pt x="2196543" y="420794"/>
                  </a:lnTo>
                  <a:lnTo>
                    <a:pt x="2244695" y="412899"/>
                  </a:lnTo>
                  <a:lnTo>
                    <a:pt x="2295749" y="405127"/>
                  </a:lnTo>
                  <a:lnTo>
                    <a:pt x="2348050" y="397581"/>
                  </a:lnTo>
                  <a:lnTo>
                    <a:pt x="2401193" y="390260"/>
                  </a:lnTo>
                  <a:lnTo>
                    <a:pt x="2454772" y="383164"/>
                  </a:lnTo>
                  <a:lnTo>
                    <a:pt x="2508382" y="376294"/>
                  </a:lnTo>
                  <a:lnTo>
                    <a:pt x="2561617" y="369649"/>
                  </a:lnTo>
                  <a:lnTo>
                    <a:pt x="2614071" y="363230"/>
                  </a:lnTo>
                  <a:lnTo>
                    <a:pt x="2665339" y="357035"/>
                  </a:lnTo>
                  <a:lnTo>
                    <a:pt x="2715015" y="351067"/>
                  </a:lnTo>
                  <a:lnTo>
                    <a:pt x="2762694" y="345324"/>
                  </a:lnTo>
                  <a:lnTo>
                    <a:pt x="2819645" y="338617"/>
                  </a:lnTo>
                  <a:lnTo>
                    <a:pt x="2874368" y="332482"/>
                  </a:lnTo>
                  <a:lnTo>
                    <a:pt x="2927217" y="326789"/>
                  </a:lnTo>
                  <a:lnTo>
                    <a:pt x="2978540" y="321403"/>
                  </a:lnTo>
                  <a:lnTo>
                    <a:pt x="3028691" y="316194"/>
                  </a:lnTo>
                  <a:lnTo>
                    <a:pt x="3078020" y="311028"/>
                  </a:lnTo>
                  <a:lnTo>
                    <a:pt x="3126879" y="305774"/>
                  </a:lnTo>
                  <a:lnTo>
                    <a:pt x="3175618" y="300299"/>
                  </a:lnTo>
                  <a:lnTo>
                    <a:pt x="3230860" y="294324"/>
                  </a:lnTo>
                  <a:lnTo>
                    <a:pt x="3285093" y="288961"/>
                  </a:lnTo>
                  <a:lnTo>
                    <a:pt x="3338385" y="283751"/>
                  </a:lnTo>
                  <a:lnTo>
                    <a:pt x="3390802" y="278234"/>
                  </a:lnTo>
                  <a:lnTo>
                    <a:pt x="3442411" y="271951"/>
                  </a:lnTo>
                  <a:lnTo>
                    <a:pt x="3493277" y="264443"/>
                  </a:lnTo>
                  <a:lnTo>
                    <a:pt x="3543467" y="255249"/>
                  </a:lnTo>
                  <a:lnTo>
                    <a:pt x="3592490" y="243867"/>
                  </a:lnTo>
                  <a:lnTo>
                    <a:pt x="3640135" y="230537"/>
                  </a:lnTo>
                  <a:lnTo>
                    <a:pt x="3686863" y="215916"/>
                  </a:lnTo>
                  <a:lnTo>
                    <a:pt x="3733133" y="200660"/>
                  </a:lnTo>
                  <a:lnTo>
                    <a:pt x="3779405" y="185426"/>
                  </a:lnTo>
                  <a:lnTo>
                    <a:pt x="3826138" y="170870"/>
                  </a:lnTo>
                  <a:lnTo>
                    <a:pt x="3873792" y="157649"/>
                  </a:lnTo>
                  <a:lnTo>
                    <a:pt x="3921744" y="145807"/>
                  </a:lnTo>
                  <a:lnTo>
                    <a:pt x="3969393" y="134776"/>
                  </a:lnTo>
                  <a:lnTo>
                    <a:pt x="4017197" y="124291"/>
                  </a:lnTo>
                  <a:lnTo>
                    <a:pt x="4065615" y="114092"/>
                  </a:lnTo>
                  <a:lnTo>
                    <a:pt x="4115106" y="103914"/>
                  </a:lnTo>
                  <a:lnTo>
                    <a:pt x="4166128" y="93496"/>
                  </a:lnTo>
                  <a:lnTo>
                    <a:pt x="4219141" y="82574"/>
                  </a:lnTo>
                  <a:lnTo>
                    <a:pt x="4270343" y="72047"/>
                  </a:lnTo>
                  <a:lnTo>
                    <a:pt x="4327292" y="60523"/>
                  </a:lnTo>
                  <a:lnTo>
                    <a:pt x="4387173" y="48529"/>
                  </a:lnTo>
                  <a:lnTo>
                    <a:pt x="4447172" y="36595"/>
                  </a:lnTo>
                  <a:lnTo>
                    <a:pt x="4504472" y="25247"/>
                  </a:lnTo>
                  <a:lnTo>
                    <a:pt x="4556261" y="15013"/>
                  </a:lnTo>
                  <a:lnTo>
                    <a:pt x="4599721" y="6421"/>
                  </a:lnTo>
                  <a:lnTo>
                    <a:pt x="4632040" y="0"/>
                  </a:lnTo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49749" y="1219955"/>
            <a:ext cx="963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Garamond" panose="02020404030301010803" pitchFamily="18" charset="0"/>
                <a:cs typeface="Arial"/>
              </a:rPr>
              <a:t>Accuracy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28790" y="4460175"/>
            <a:ext cx="456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Garamond" panose="02020404030301010803" pitchFamily="18" charset="0"/>
                <a:cs typeface="Arial"/>
              </a:rPr>
              <a:t>time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78619" y="1982651"/>
            <a:ext cx="708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9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T</a:t>
            </a:r>
            <a:r>
              <a:rPr sz="2400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rain</a:t>
            </a:r>
            <a:endParaRPr sz="24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901915" y="1146231"/>
            <a:ext cx="3515995" cy="852169"/>
          </a:xfrm>
          <a:prstGeom prst="rect">
            <a:avLst/>
          </a:prstGeom>
        </p:spPr>
        <p:txBody>
          <a:bodyPr vert="horz" wrap="square" lIns="0" tIns="1079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spc="-5" dirty="0"/>
              <a:t>Huge train </a:t>
            </a:r>
            <a:r>
              <a:rPr sz="1800" dirty="0"/>
              <a:t>/ val </a:t>
            </a:r>
            <a:r>
              <a:rPr sz="1800" spc="-5" dirty="0"/>
              <a:t>gap </a:t>
            </a:r>
            <a:r>
              <a:rPr sz="1800" dirty="0"/>
              <a:t>means  </a:t>
            </a:r>
            <a:r>
              <a:rPr sz="1800" spc="-5" dirty="0"/>
              <a:t>overfitting! Increase</a:t>
            </a:r>
            <a:r>
              <a:rPr sz="1800" spc="-90" dirty="0"/>
              <a:t> </a:t>
            </a:r>
            <a:r>
              <a:rPr sz="1800" dirty="0"/>
              <a:t>regularization,  </a:t>
            </a:r>
            <a:r>
              <a:rPr sz="1800" spc="-5" dirty="0"/>
              <a:t>get </a:t>
            </a:r>
            <a:r>
              <a:rPr sz="1800" dirty="0"/>
              <a:t>more</a:t>
            </a:r>
            <a:r>
              <a:rPr sz="1800" spc="-15" dirty="0"/>
              <a:t> </a:t>
            </a:r>
            <a:r>
              <a:rPr sz="1800" spc="-5" dirty="0"/>
              <a:t>data</a:t>
            </a:r>
            <a:endParaRPr sz="1800"/>
          </a:p>
        </p:txBody>
      </p:sp>
      <p:sp>
        <p:nvSpPr>
          <p:cNvPr id="12" name="object 12"/>
          <p:cNvSpPr/>
          <p:nvPr/>
        </p:nvSpPr>
        <p:spPr>
          <a:xfrm>
            <a:off x="1666847" y="3228974"/>
            <a:ext cx="4542155" cy="1022985"/>
          </a:xfrm>
          <a:custGeom>
            <a:avLst/>
            <a:gdLst/>
            <a:ahLst/>
            <a:cxnLst/>
            <a:rect l="l" t="t" r="r" b="b"/>
            <a:pathLst>
              <a:path w="4542155" h="1022985">
                <a:moveTo>
                  <a:pt x="0" y="1022519"/>
                </a:moveTo>
                <a:lnTo>
                  <a:pt x="10482" y="993026"/>
                </a:lnTo>
                <a:lnTo>
                  <a:pt x="23436" y="953876"/>
                </a:lnTo>
                <a:lnTo>
                  <a:pt x="38645" y="907237"/>
                </a:lnTo>
                <a:lnTo>
                  <a:pt x="55893" y="855279"/>
                </a:lnTo>
                <a:lnTo>
                  <a:pt x="74963" y="800169"/>
                </a:lnTo>
                <a:lnTo>
                  <a:pt x="95640" y="744077"/>
                </a:lnTo>
                <a:lnTo>
                  <a:pt x="117708" y="689172"/>
                </a:lnTo>
                <a:lnTo>
                  <a:pt x="140950" y="637622"/>
                </a:lnTo>
                <a:lnTo>
                  <a:pt x="165149" y="591595"/>
                </a:lnTo>
                <a:lnTo>
                  <a:pt x="190204" y="549325"/>
                </a:lnTo>
                <a:lnTo>
                  <a:pt x="216278" y="507759"/>
                </a:lnTo>
                <a:lnTo>
                  <a:pt x="243558" y="467139"/>
                </a:lnTo>
                <a:lnTo>
                  <a:pt x="272228" y="427705"/>
                </a:lnTo>
                <a:lnTo>
                  <a:pt x="302474" y="389698"/>
                </a:lnTo>
                <a:lnTo>
                  <a:pt x="334481" y="353360"/>
                </a:lnTo>
                <a:lnTo>
                  <a:pt x="368435" y="318932"/>
                </a:lnTo>
                <a:lnTo>
                  <a:pt x="404521" y="286656"/>
                </a:lnTo>
                <a:lnTo>
                  <a:pt x="442924" y="256771"/>
                </a:lnTo>
                <a:lnTo>
                  <a:pt x="484674" y="229389"/>
                </a:lnTo>
                <a:lnTo>
                  <a:pt x="530101" y="204323"/>
                </a:lnTo>
                <a:lnTo>
                  <a:pt x="578341" y="181369"/>
                </a:lnTo>
                <a:lnTo>
                  <a:pt x="628527" y="160324"/>
                </a:lnTo>
                <a:lnTo>
                  <a:pt x="679794" y="140984"/>
                </a:lnTo>
                <a:lnTo>
                  <a:pt x="731277" y="123146"/>
                </a:lnTo>
                <a:lnTo>
                  <a:pt x="782112" y="106604"/>
                </a:lnTo>
                <a:lnTo>
                  <a:pt x="831432" y="91156"/>
                </a:lnTo>
                <a:lnTo>
                  <a:pt x="878373" y="76599"/>
                </a:lnTo>
                <a:lnTo>
                  <a:pt x="928290" y="61466"/>
                </a:lnTo>
                <a:lnTo>
                  <a:pt x="976211" y="47976"/>
                </a:lnTo>
                <a:lnTo>
                  <a:pt x="1022840" y="36129"/>
                </a:lnTo>
                <a:lnTo>
                  <a:pt x="1068882" y="25923"/>
                </a:lnTo>
                <a:lnTo>
                  <a:pt x="1115039" y="17360"/>
                </a:lnTo>
                <a:lnTo>
                  <a:pt x="1162016" y="10439"/>
                </a:lnTo>
                <a:lnTo>
                  <a:pt x="1210518" y="5160"/>
                </a:lnTo>
                <a:lnTo>
                  <a:pt x="1261247" y="1524"/>
                </a:lnTo>
                <a:lnTo>
                  <a:pt x="1308162" y="0"/>
                </a:lnTo>
                <a:lnTo>
                  <a:pt x="1356220" y="267"/>
                </a:lnTo>
                <a:lnTo>
                  <a:pt x="1405268" y="2079"/>
                </a:lnTo>
                <a:lnTo>
                  <a:pt x="1455150" y="5188"/>
                </a:lnTo>
                <a:lnTo>
                  <a:pt x="1505712" y="9348"/>
                </a:lnTo>
                <a:lnTo>
                  <a:pt x="1556800" y="14311"/>
                </a:lnTo>
                <a:lnTo>
                  <a:pt x="1608259" y="19830"/>
                </a:lnTo>
                <a:lnTo>
                  <a:pt x="1659934" y="25658"/>
                </a:lnTo>
                <a:lnTo>
                  <a:pt x="1711671" y="31549"/>
                </a:lnTo>
                <a:lnTo>
                  <a:pt x="1757522" y="37333"/>
                </a:lnTo>
                <a:lnTo>
                  <a:pt x="1802359" y="44041"/>
                </a:lnTo>
                <a:lnTo>
                  <a:pt x="1846745" y="51470"/>
                </a:lnTo>
                <a:lnTo>
                  <a:pt x="1891245" y="59417"/>
                </a:lnTo>
                <a:lnTo>
                  <a:pt x="1936421" y="67679"/>
                </a:lnTo>
                <a:lnTo>
                  <a:pt x="1982835" y="76054"/>
                </a:lnTo>
                <a:lnTo>
                  <a:pt x="2031052" y="84338"/>
                </a:lnTo>
                <a:lnTo>
                  <a:pt x="2081634" y="92330"/>
                </a:lnTo>
                <a:lnTo>
                  <a:pt x="2135144" y="99826"/>
                </a:lnTo>
                <a:lnTo>
                  <a:pt x="2192145" y="106624"/>
                </a:lnTo>
                <a:lnTo>
                  <a:pt x="2235615" y="111071"/>
                </a:lnTo>
                <a:lnTo>
                  <a:pt x="2281580" y="115312"/>
                </a:lnTo>
                <a:lnTo>
                  <a:pt x="2329663" y="119373"/>
                </a:lnTo>
                <a:lnTo>
                  <a:pt x="2379486" y="123277"/>
                </a:lnTo>
                <a:lnTo>
                  <a:pt x="2430672" y="127051"/>
                </a:lnTo>
                <a:lnTo>
                  <a:pt x="2482842" y="130717"/>
                </a:lnTo>
                <a:lnTo>
                  <a:pt x="2535619" y="134302"/>
                </a:lnTo>
                <a:lnTo>
                  <a:pt x="2588627" y="137829"/>
                </a:lnTo>
                <a:lnTo>
                  <a:pt x="2641486" y="141324"/>
                </a:lnTo>
                <a:lnTo>
                  <a:pt x="2693819" y="144810"/>
                </a:lnTo>
                <a:lnTo>
                  <a:pt x="2745249" y="148314"/>
                </a:lnTo>
                <a:lnTo>
                  <a:pt x="2795398" y="151858"/>
                </a:lnTo>
                <a:lnTo>
                  <a:pt x="2843889" y="155469"/>
                </a:lnTo>
                <a:lnTo>
                  <a:pt x="2890344" y="159171"/>
                </a:lnTo>
                <a:lnTo>
                  <a:pt x="2947372" y="163950"/>
                </a:lnTo>
                <a:lnTo>
                  <a:pt x="3003164" y="168728"/>
                </a:lnTo>
                <a:lnTo>
                  <a:pt x="3057790" y="173505"/>
                </a:lnTo>
                <a:lnTo>
                  <a:pt x="3111315" y="178282"/>
                </a:lnTo>
                <a:lnTo>
                  <a:pt x="3163809" y="183058"/>
                </a:lnTo>
                <a:lnTo>
                  <a:pt x="3215338" y="187834"/>
                </a:lnTo>
                <a:lnTo>
                  <a:pt x="3265971" y="192610"/>
                </a:lnTo>
                <a:lnTo>
                  <a:pt x="3315775" y="197387"/>
                </a:lnTo>
                <a:lnTo>
                  <a:pt x="3364819" y="202164"/>
                </a:lnTo>
                <a:lnTo>
                  <a:pt x="3413168" y="206942"/>
                </a:lnTo>
                <a:lnTo>
                  <a:pt x="3460893" y="211721"/>
                </a:lnTo>
                <a:lnTo>
                  <a:pt x="3517935" y="217562"/>
                </a:lnTo>
                <a:lnTo>
                  <a:pt x="3573279" y="223401"/>
                </a:lnTo>
                <a:lnTo>
                  <a:pt x="3627171" y="229239"/>
                </a:lnTo>
                <a:lnTo>
                  <a:pt x="3679858" y="235077"/>
                </a:lnTo>
                <a:lnTo>
                  <a:pt x="3731587" y="240915"/>
                </a:lnTo>
                <a:lnTo>
                  <a:pt x="3782605" y="246752"/>
                </a:lnTo>
                <a:lnTo>
                  <a:pt x="3833160" y="252591"/>
                </a:lnTo>
                <a:lnTo>
                  <a:pt x="3883498" y="258430"/>
                </a:lnTo>
                <a:lnTo>
                  <a:pt x="3933867" y="264271"/>
                </a:lnTo>
                <a:lnTo>
                  <a:pt x="3985337" y="270112"/>
                </a:lnTo>
                <a:lnTo>
                  <a:pt x="4038197" y="275951"/>
                </a:lnTo>
                <a:lnTo>
                  <a:pt x="4091521" y="281789"/>
                </a:lnTo>
                <a:lnTo>
                  <a:pt x="4144381" y="287627"/>
                </a:lnTo>
                <a:lnTo>
                  <a:pt x="4195850" y="293464"/>
                </a:lnTo>
                <a:lnTo>
                  <a:pt x="4245003" y="299302"/>
                </a:lnTo>
                <a:lnTo>
                  <a:pt x="4290912" y="305141"/>
                </a:lnTo>
                <a:lnTo>
                  <a:pt x="4332650" y="310980"/>
                </a:lnTo>
                <a:lnTo>
                  <a:pt x="4434982" y="331194"/>
                </a:lnTo>
                <a:lnTo>
                  <a:pt x="4482844" y="346386"/>
                </a:lnTo>
                <a:lnTo>
                  <a:pt x="4517098" y="359933"/>
                </a:lnTo>
                <a:lnTo>
                  <a:pt x="4541965" y="369371"/>
                </a:lnTo>
              </a:path>
            </a:pathLst>
          </a:custGeom>
          <a:ln w="38099">
            <a:solidFill>
              <a:srgbClr val="E69138"/>
            </a:solidFill>
          </a:ln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06389" y="3381252"/>
            <a:ext cx="4432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80" dirty="0">
                <a:solidFill>
                  <a:srgbClr val="E69138"/>
                </a:solidFill>
                <a:latin typeface="Garamond" panose="02020404030301010803" pitchFamily="18" charset="0"/>
                <a:cs typeface="Arial"/>
              </a:rPr>
              <a:t>V</a:t>
            </a:r>
            <a:r>
              <a:rPr sz="2400" spc="-5" dirty="0">
                <a:solidFill>
                  <a:srgbClr val="E69138"/>
                </a:solidFill>
                <a:latin typeface="Garamond" panose="02020404030301010803" pitchFamily="18" charset="0"/>
                <a:cs typeface="Arial"/>
              </a:rPr>
              <a:t>al</a:t>
            </a:r>
            <a:endParaRPr sz="24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7925" y="5574843"/>
            <a:ext cx="8875395" cy="273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  <a:tabLst>
                <a:tab pos="5253355" algn="l"/>
                <a:tab pos="7310755" algn="l"/>
              </a:tabLst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Fei-Fei Li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&amp; Justin Johnson &amp;</a:t>
            </a:r>
            <a:r>
              <a:rPr spc="-1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Serena</a:t>
            </a:r>
            <a:r>
              <a:rPr spc="-3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4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Yeung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April 25,</a:t>
            </a:r>
            <a:r>
              <a:rPr sz="3000" spc="-142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2019</a:t>
            </a:r>
            <a:endParaRPr sz="3000" baseline="-4166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99119" y="5562144"/>
            <a:ext cx="123888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2000" spc="-9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xfrm>
            <a:off x="7456513" y="4704893"/>
            <a:ext cx="159004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310"/>
              </a:lnSpc>
            </a:pPr>
            <a:r>
              <a:rPr lang="en-US" spc="-5" dirty="0">
                <a:latin typeface="Garamond" panose="02020404030301010803" pitchFamily="18" charset="0"/>
              </a:rPr>
              <a:t>April 25,</a:t>
            </a:r>
            <a:r>
              <a:rPr lang="en-US" spc="-90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xfrm>
            <a:off x="145224" y="4709647"/>
            <a:ext cx="44907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Fei-Fei Li </a:t>
            </a:r>
            <a:r>
              <a:rPr lang="en-US" dirty="0">
                <a:latin typeface="Garamond" panose="02020404030301010803" pitchFamily="18" charset="0"/>
              </a:rPr>
              <a:t>&amp; Justin Johnson &amp; </a:t>
            </a:r>
            <a:r>
              <a:rPr lang="en-US" spc="-5" dirty="0">
                <a:latin typeface="Garamond" panose="02020404030301010803" pitchFamily="18" charset="0"/>
              </a:rPr>
              <a:t>Serena</a:t>
            </a:r>
            <a:r>
              <a:rPr lang="en-US" spc="-145" dirty="0">
                <a:latin typeface="Garamond" panose="02020404030301010803" pitchFamily="18" charset="0"/>
              </a:rPr>
              <a:t> </a:t>
            </a:r>
            <a:r>
              <a:rPr lang="en-US" spc="-40" dirty="0">
                <a:latin typeface="Garamond" panose="02020404030301010803" pitchFamily="18" charset="0"/>
              </a:rPr>
              <a:t>Yeung</a:t>
            </a:r>
            <a:endParaRPr spc="-40" dirty="0">
              <a:latin typeface="Garamond" panose="02020404030301010803" pitchFamily="18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89947" y="5570691"/>
            <a:ext cx="56642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pPr marL="38100">
                <a:lnSpc>
                  <a:spcPts val="2310"/>
                </a:lnSpc>
              </a:pPr>
              <a:t>42</a:t>
            </a:fld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601B19-FEAF-494B-B389-0C36FB7A0571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15207" y="1136925"/>
            <a:ext cx="4695825" cy="3213735"/>
            <a:chOff x="1615206" y="279674"/>
            <a:chExt cx="4695825" cy="3213735"/>
          </a:xfrm>
        </p:grpSpPr>
        <p:sp>
          <p:nvSpPr>
            <p:cNvPr id="3" name="object 3"/>
            <p:cNvSpPr/>
            <p:nvPr/>
          </p:nvSpPr>
          <p:spPr>
            <a:xfrm>
              <a:off x="1656196" y="375649"/>
              <a:ext cx="0" cy="3076575"/>
            </a:xfrm>
            <a:custGeom>
              <a:avLst/>
              <a:gdLst/>
              <a:ahLst/>
              <a:cxnLst/>
              <a:rect l="l" t="t" r="r" b="b"/>
              <a:pathLst>
                <a:path h="3076575">
                  <a:moveTo>
                    <a:pt x="0" y="3076193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615206" y="279674"/>
              <a:ext cx="81979" cy="1054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656196" y="3451843"/>
              <a:ext cx="4558030" cy="0"/>
            </a:xfrm>
            <a:custGeom>
              <a:avLst/>
              <a:gdLst/>
              <a:ahLst/>
              <a:cxnLst/>
              <a:rect l="l" t="t" r="r" b="b"/>
              <a:pathLst>
                <a:path w="4558030">
                  <a:moveTo>
                    <a:pt x="0" y="0"/>
                  </a:moveTo>
                  <a:lnTo>
                    <a:pt x="455789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6204562" y="3410843"/>
              <a:ext cx="105499" cy="8199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659346" y="1479872"/>
              <a:ext cx="4632325" cy="1772285"/>
            </a:xfrm>
            <a:custGeom>
              <a:avLst/>
              <a:gdLst/>
              <a:ahLst/>
              <a:cxnLst/>
              <a:rect l="l" t="t" r="r" b="b"/>
              <a:pathLst>
                <a:path w="4632325" h="1772285">
                  <a:moveTo>
                    <a:pt x="0" y="1771721"/>
                  </a:moveTo>
                  <a:lnTo>
                    <a:pt x="8270" y="1742441"/>
                  </a:lnTo>
                  <a:lnTo>
                    <a:pt x="18522" y="1704937"/>
                  </a:lnTo>
                  <a:lnTo>
                    <a:pt x="30494" y="1660579"/>
                  </a:lnTo>
                  <a:lnTo>
                    <a:pt x="43926" y="1610733"/>
                  </a:lnTo>
                  <a:lnTo>
                    <a:pt x="58556" y="1556770"/>
                  </a:lnTo>
                  <a:lnTo>
                    <a:pt x="74125" y="1500056"/>
                  </a:lnTo>
                  <a:lnTo>
                    <a:pt x="90371" y="1441960"/>
                  </a:lnTo>
                  <a:lnTo>
                    <a:pt x="107035" y="1383851"/>
                  </a:lnTo>
                  <a:lnTo>
                    <a:pt x="123855" y="1327097"/>
                  </a:lnTo>
                  <a:lnTo>
                    <a:pt x="140571" y="1273066"/>
                  </a:lnTo>
                  <a:lnTo>
                    <a:pt x="156923" y="1223127"/>
                  </a:lnTo>
                  <a:lnTo>
                    <a:pt x="172649" y="1178647"/>
                  </a:lnTo>
                  <a:lnTo>
                    <a:pt x="191741" y="1124468"/>
                  </a:lnTo>
                  <a:lnTo>
                    <a:pt x="208888" y="1072204"/>
                  </a:lnTo>
                  <a:lnTo>
                    <a:pt x="225201" y="1022102"/>
                  </a:lnTo>
                  <a:lnTo>
                    <a:pt x="241793" y="974410"/>
                  </a:lnTo>
                  <a:lnTo>
                    <a:pt x="259775" y="929374"/>
                  </a:lnTo>
                  <a:lnTo>
                    <a:pt x="280260" y="887243"/>
                  </a:lnTo>
                  <a:lnTo>
                    <a:pt x="304359" y="848263"/>
                  </a:lnTo>
                  <a:lnTo>
                    <a:pt x="333185" y="812683"/>
                  </a:lnTo>
                  <a:lnTo>
                    <a:pt x="367849" y="780748"/>
                  </a:lnTo>
                  <a:lnTo>
                    <a:pt x="402931" y="756113"/>
                  </a:lnTo>
                  <a:lnTo>
                    <a:pt x="440099" y="735765"/>
                  </a:lnTo>
                  <a:lnTo>
                    <a:pt x="479715" y="718962"/>
                  </a:lnTo>
                  <a:lnTo>
                    <a:pt x="522138" y="704959"/>
                  </a:lnTo>
                  <a:lnTo>
                    <a:pt x="567729" y="693012"/>
                  </a:lnTo>
                  <a:lnTo>
                    <a:pt x="616849" y="682380"/>
                  </a:lnTo>
                  <a:lnTo>
                    <a:pt x="669858" y="672319"/>
                  </a:lnTo>
                  <a:lnTo>
                    <a:pt x="727116" y="662084"/>
                  </a:lnTo>
                  <a:lnTo>
                    <a:pt x="788984" y="650933"/>
                  </a:lnTo>
                  <a:lnTo>
                    <a:pt x="855823" y="638123"/>
                  </a:lnTo>
                  <a:lnTo>
                    <a:pt x="896243" y="630365"/>
                  </a:lnTo>
                  <a:lnTo>
                    <a:pt x="940062" y="622533"/>
                  </a:lnTo>
                  <a:lnTo>
                    <a:pt x="986854" y="614647"/>
                  </a:lnTo>
                  <a:lnTo>
                    <a:pt x="1036196" y="606726"/>
                  </a:lnTo>
                  <a:lnTo>
                    <a:pt x="1087662" y="598790"/>
                  </a:lnTo>
                  <a:lnTo>
                    <a:pt x="1140828" y="590858"/>
                  </a:lnTo>
                  <a:lnTo>
                    <a:pt x="1195268" y="582949"/>
                  </a:lnTo>
                  <a:lnTo>
                    <a:pt x="1250557" y="575083"/>
                  </a:lnTo>
                  <a:lnTo>
                    <a:pt x="1306272" y="567278"/>
                  </a:lnTo>
                  <a:lnTo>
                    <a:pt x="1361986" y="559554"/>
                  </a:lnTo>
                  <a:lnTo>
                    <a:pt x="1417276" y="551931"/>
                  </a:lnTo>
                  <a:lnTo>
                    <a:pt x="1471716" y="544427"/>
                  </a:lnTo>
                  <a:lnTo>
                    <a:pt x="1524881" y="537062"/>
                  </a:lnTo>
                  <a:lnTo>
                    <a:pt x="1576347" y="529856"/>
                  </a:lnTo>
                  <a:lnTo>
                    <a:pt x="1625689" y="522827"/>
                  </a:lnTo>
                  <a:lnTo>
                    <a:pt x="1672482" y="515995"/>
                  </a:lnTo>
                  <a:lnTo>
                    <a:pt x="1716301" y="509379"/>
                  </a:lnTo>
                  <a:lnTo>
                    <a:pt x="1756721" y="502998"/>
                  </a:lnTo>
                  <a:lnTo>
                    <a:pt x="1822106" y="492064"/>
                  </a:lnTo>
                  <a:lnTo>
                    <a:pt x="1880262" y="481737"/>
                  </a:lnTo>
                  <a:lnTo>
                    <a:pt x="1932518" y="471950"/>
                  </a:lnTo>
                  <a:lnTo>
                    <a:pt x="1980202" y="462636"/>
                  </a:lnTo>
                  <a:lnTo>
                    <a:pt x="2024642" y="453727"/>
                  </a:lnTo>
                  <a:lnTo>
                    <a:pt x="2067168" y="445156"/>
                  </a:lnTo>
                  <a:lnTo>
                    <a:pt x="2109108" y="436855"/>
                  </a:lnTo>
                  <a:lnTo>
                    <a:pt x="2151790" y="428757"/>
                  </a:lnTo>
                  <a:lnTo>
                    <a:pt x="2196543" y="420794"/>
                  </a:lnTo>
                  <a:lnTo>
                    <a:pt x="2244695" y="412899"/>
                  </a:lnTo>
                  <a:lnTo>
                    <a:pt x="2295749" y="405127"/>
                  </a:lnTo>
                  <a:lnTo>
                    <a:pt x="2348050" y="397581"/>
                  </a:lnTo>
                  <a:lnTo>
                    <a:pt x="2401193" y="390260"/>
                  </a:lnTo>
                  <a:lnTo>
                    <a:pt x="2454772" y="383164"/>
                  </a:lnTo>
                  <a:lnTo>
                    <a:pt x="2508382" y="376294"/>
                  </a:lnTo>
                  <a:lnTo>
                    <a:pt x="2561617" y="369649"/>
                  </a:lnTo>
                  <a:lnTo>
                    <a:pt x="2614071" y="363230"/>
                  </a:lnTo>
                  <a:lnTo>
                    <a:pt x="2665339" y="357035"/>
                  </a:lnTo>
                  <a:lnTo>
                    <a:pt x="2715015" y="351067"/>
                  </a:lnTo>
                  <a:lnTo>
                    <a:pt x="2762694" y="345324"/>
                  </a:lnTo>
                  <a:lnTo>
                    <a:pt x="2819645" y="338617"/>
                  </a:lnTo>
                  <a:lnTo>
                    <a:pt x="2874368" y="332482"/>
                  </a:lnTo>
                  <a:lnTo>
                    <a:pt x="2927217" y="326789"/>
                  </a:lnTo>
                  <a:lnTo>
                    <a:pt x="2978540" y="321403"/>
                  </a:lnTo>
                  <a:lnTo>
                    <a:pt x="3028691" y="316194"/>
                  </a:lnTo>
                  <a:lnTo>
                    <a:pt x="3078020" y="311028"/>
                  </a:lnTo>
                  <a:lnTo>
                    <a:pt x="3126879" y="305774"/>
                  </a:lnTo>
                  <a:lnTo>
                    <a:pt x="3175618" y="300299"/>
                  </a:lnTo>
                  <a:lnTo>
                    <a:pt x="3230860" y="294324"/>
                  </a:lnTo>
                  <a:lnTo>
                    <a:pt x="3285093" y="288961"/>
                  </a:lnTo>
                  <a:lnTo>
                    <a:pt x="3338385" y="283751"/>
                  </a:lnTo>
                  <a:lnTo>
                    <a:pt x="3390802" y="278234"/>
                  </a:lnTo>
                  <a:lnTo>
                    <a:pt x="3442411" y="271951"/>
                  </a:lnTo>
                  <a:lnTo>
                    <a:pt x="3493277" y="264443"/>
                  </a:lnTo>
                  <a:lnTo>
                    <a:pt x="3543467" y="255249"/>
                  </a:lnTo>
                  <a:lnTo>
                    <a:pt x="3592490" y="243867"/>
                  </a:lnTo>
                  <a:lnTo>
                    <a:pt x="3640135" y="230537"/>
                  </a:lnTo>
                  <a:lnTo>
                    <a:pt x="3686863" y="215916"/>
                  </a:lnTo>
                  <a:lnTo>
                    <a:pt x="3733133" y="200660"/>
                  </a:lnTo>
                  <a:lnTo>
                    <a:pt x="3779405" y="185426"/>
                  </a:lnTo>
                  <a:lnTo>
                    <a:pt x="3826138" y="170870"/>
                  </a:lnTo>
                  <a:lnTo>
                    <a:pt x="3873792" y="157649"/>
                  </a:lnTo>
                  <a:lnTo>
                    <a:pt x="3921744" y="145807"/>
                  </a:lnTo>
                  <a:lnTo>
                    <a:pt x="3969393" y="134776"/>
                  </a:lnTo>
                  <a:lnTo>
                    <a:pt x="4017197" y="124291"/>
                  </a:lnTo>
                  <a:lnTo>
                    <a:pt x="4065615" y="114092"/>
                  </a:lnTo>
                  <a:lnTo>
                    <a:pt x="4115106" y="103914"/>
                  </a:lnTo>
                  <a:lnTo>
                    <a:pt x="4166128" y="93496"/>
                  </a:lnTo>
                  <a:lnTo>
                    <a:pt x="4219141" y="82574"/>
                  </a:lnTo>
                  <a:lnTo>
                    <a:pt x="4270343" y="72047"/>
                  </a:lnTo>
                  <a:lnTo>
                    <a:pt x="4327292" y="60523"/>
                  </a:lnTo>
                  <a:lnTo>
                    <a:pt x="4387173" y="48529"/>
                  </a:lnTo>
                  <a:lnTo>
                    <a:pt x="4447172" y="36595"/>
                  </a:lnTo>
                  <a:lnTo>
                    <a:pt x="4504472" y="25247"/>
                  </a:lnTo>
                  <a:lnTo>
                    <a:pt x="4556261" y="15013"/>
                  </a:lnTo>
                  <a:lnTo>
                    <a:pt x="4599721" y="6421"/>
                  </a:lnTo>
                  <a:lnTo>
                    <a:pt x="4632040" y="0"/>
                  </a:lnTo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49749" y="1219955"/>
            <a:ext cx="963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Garamond" panose="02020404030301010803" pitchFamily="18" charset="0"/>
                <a:cs typeface="Arial"/>
              </a:rPr>
              <a:t>Accuracy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28790" y="4460175"/>
            <a:ext cx="456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Garamond" panose="02020404030301010803" pitchFamily="18" charset="0"/>
                <a:cs typeface="Arial"/>
              </a:rPr>
              <a:t>time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78619" y="1982651"/>
            <a:ext cx="708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9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T</a:t>
            </a:r>
            <a:r>
              <a:rPr sz="2400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rain</a:t>
            </a:r>
            <a:endParaRPr sz="24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901915" y="1146231"/>
            <a:ext cx="3427095" cy="852169"/>
          </a:xfrm>
          <a:prstGeom prst="rect">
            <a:avLst/>
          </a:prstGeom>
        </p:spPr>
        <p:txBody>
          <a:bodyPr vert="horz" wrap="square" lIns="0" tIns="1079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spc="-5" dirty="0"/>
              <a:t>No gap between train </a:t>
            </a:r>
            <a:r>
              <a:rPr sz="1800" dirty="0"/>
              <a:t>/ val</a:t>
            </a:r>
            <a:r>
              <a:rPr sz="1800" spc="-90" dirty="0"/>
              <a:t> </a:t>
            </a:r>
            <a:r>
              <a:rPr sz="1800" dirty="0"/>
              <a:t>means  </a:t>
            </a:r>
            <a:r>
              <a:rPr sz="1800" spc="-5" dirty="0"/>
              <a:t>underfitting: train </a:t>
            </a:r>
            <a:r>
              <a:rPr sz="1800" spc="-20" dirty="0"/>
              <a:t>longer, </a:t>
            </a:r>
            <a:r>
              <a:rPr sz="1800" spc="-5" dirty="0"/>
              <a:t>use </a:t>
            </a:r>
            <a:r>
              <a:rPr sz="1800" dirty="0"/>
              <a:t>a  </a:t>
            </a:r>
            <a:r>
              <a:rPr sz="1800" spc="-5" dirty="0"/>
              <a:t>bigger</a:t>
            </a:r>
            <a:r>
              <a:rPr sz="1800" spc="-10" dirty="0"/>
              <a:t> </a:t>
            </a:r>
            <a:r>
              <a:rPr sz="1800" dirty="0"/>
              <a:t>model</a:t>
            </a:r>
            <a:endParaRPr sz="1800"/>
          </a:p>
        </p:txBody>
      </p:sp>
      <p:sp>
        <p:nvSpPr>
          <p:cNvPr id="12" name="object 12"/>
          <p:cNvSpPr/>
          <p:nvPr/>
        </p:nvSpPr>
        <p:spPr>
          <a:xfrm>
            <a:off x="1666846" y="2419697"/>
            <a:ext cx="4610100" cy="1831975"/>
          </a:xfrm>
          <a:custGeom>
            <a:avLst/>
            <a:gdLst/>
            <a:ahLst/>
            <a:cxnLst/>
            <a:rect l="l" t="t" r="r" b="b"/>
            <a:pathLst>
              <a:path w="4610100" h="1831975">
                <a:moveTo>
                  <a:pt x="0" y="1831796"/>
                </a:moveTo>
                <a:lnTo>
                  <a:pt x="7086" y="1803100"/>
                </a:lnTo>
                <a:lnTo>
                  <a:pt x="15555" y="1766635"/>
                </a:lnTo>
                <a:lnTo>
                  <a:pt x="25359" y="1723637"/>
                </a:lnTo>
                <a:lnTo>
                  <a:pt x="36456" y="1675347"/>
                </a:lnTo>
                <a:lnTo>
                  <a:pt x="48798" y="1623002"/>
                </a:lnTo>
                <a:lnTo>
                  <a:pt x="62341" y="1567843"/>
                </a:lnTo>
                <a:lnTo>
                  <a:pt x="77041" y="1511106"/>
                </a:lnTo>
                <a:lnTo>
                  <a:pt x="92851" y="1454031"/>
                </a:lnTo>
                <a:lnTo>
                  <a:pt x="109727" y="1397857"/>
                </a:lnTo>
                <a:lnTo>
                  <a:pt x="127624" y="1343822"/>
                </a:lnTo>
                <a:lnTo>
                  <a:pt x="142769" y="1298262"/>
                </a:lnTo>
                <a:lnTo>
                  <a:pt x="157756" y="1249718"/>
                </a:lnTo>
                <a:lnTo>
                  <a:pt x="172900" y="1199011"/>
                </a:lnTo>
                <a:lnTo>
                  <a:pt x="188514" y="1146962"/>
                </a:lnTo>
                <a:lnTo>
                  <a:pt x="204909" y="1094391"/>
                </a:lnTo>
                <a:lnTo>
                  <a:pt x="222399" y="1042121"/>
                </a:lnTo>
                <a:lnTo>
                  <a:pt x="241296" y="990971"/>
                </a:lnTo>
                <a:lnTo>
                  <a:pt x="261915" y="941763"/>
                </a:lnTo>
                <a:lnTo>
                  <a:pt x="284566" y="895318"/>
                </a:lnTo>
                <a:lnTo>
                  <a:pt x="309564" y="852458"/>
                </a:lnTo>
                <a:lnTo>
                  <a:pt x="337220" y="814002"/>
                </a:lnTo>
                <a:lnTo>
                  <a:pt x="367849" y="780773"/>
                </a:lnTo>
                <a:lnTo>
                  <a:pt x="402398" y="752696"/>
                </a:lnTo>
                <a:lnTo>
                  <a:pt x="441132" y="728829"/>
                </a:lnTo>
                <a:lnTo>
                  <a:pt x="483332" y="708689"/>
                </a:lnTo>
                <a:lnTo>
                  <a:pt x="528283" y="691794"/>
                </a:lnTo>
                <a:lnTo>
                  <a:pt x="575267" y="677662"/>
                </a:lnTo>
                <a:lnTo>
                  <a:pt x="623567" y="665811"/>
                </a:lnTo>
                <a:lnTo>
                  <a:pt x="672467" y="655759"/>
                </a:lnTo>
                <a:lnTo>
                  <a:pt x="721250" y="647022"/>
                </a:lnTo>
                <a:lnTo>
                  <a:pt x="769199" y="639121"/>
                </a:lnTo>
                <a:lnTo>
                  <a:pt x="815597" y="631571"/>
                </a:lnTo>
                <a:lnTo>
                  <a:pt x="859727" y="623891"/>
                </a:lnTo>
                <a:lnTo>
                  <a:pt x="900873" y="615598"/>
                </a:lnTo>
                <a:lnTo>
                  <a:pt x="957105" y="604475"/>
                </a:lnTo>
                <a:lnTo>
                  <a:pt x="1008676" y="596769"/>
                </a:lnTo>
                <a:lnTo>
                  <a:pt x="1057259" y="591555"/>
                </a:lnTo>
                <a:lnTo>
                  <a:pt x="1104522" y="587911"/>
                </a:lnTo>
                <a:lnTo>
                  <a:pt x="1152137" y="584911"/>
                </a:lnTo>
                <a:lnTo>
                  <a:pt x="1201774" y="581634"/>
                </a:lnTo>
                <a:lnTo>
                  <a:pt x="1255104" y="577154"/>
                </a:lnTo>
                <a:lnTo>
                  <a:pt x="1313797" y="570548"/>
                </a:lnTo>
                <a:lnTo>
                  <a:pt x="1360479" y="564480"/>
                </a:lnTo>
                <a:lnTo>
                  <a:pt x="1410061" y="557920"/>
                </a:lnTo>
                <a:lnTo>
                  <a:pt x="1461967" y="550938"/>
                </a:lnTo>
                <a:lnTo>
                  <a:pt x="1515622" y="543600"/>
                </a:lnTo>
                <a:lnTo>
                  <a:pt x="1570450" y="535975"/>
                </a:lnTo>
                <a:lnTo>
                  <a:pt x="1625876" y="528129"/>
                </a:lnTo>
                <a:lnTo>
                  <a:pt x="1681326" y="520132"/>
                </a:lnTo>
                <a:lnTo>
                  <a:pt x="1736223" y="512050"/>
                </a:lnTo>
                <a:lnTo>
                  <a:pt x="1789992" y="503951"/>
                </a:lnTo>
                <a:lnTo>
                  <a:pt x="1842058" y="495903"/>
                </a:lnTo>
                <a:lnTo>
                  <a:pt x="1891846" y="487974"/>
                </a:lnTo>
                <a:lnTo>
                  <a:pt x="1944664" y="479135"/>
                </a:lnTo>
                <a:lnTo>
                  <a:pt x="1996530" y="469959"/>
                </a:lnTo>
                <a:lnTo>
                  <a:pt x="2047466" y="460557"/>
                </a:lnTo>
                <a:lnTo>
                  <a:pt x="2097494" y="451044"/>
                </a:lnTo>
                <a:lnTo>
                  <a:pt x="2146636" y="441530"/>
                </a:lnTo>
                <a:lnTo>
                  <a:pt x="2194915" y="432129"/>
                </a:lnTo>
                <a:lnTo>
                  <a:pt x="2242353" y="422952"/>
                </a:lnTo>
                <a:lnTo>
                  <a:pt x="2288972" y="414114"/>
                </a:lnTo>
                <a:lnTo>
                  <a:pt x="2334795" y="405725"/>
                </a:lnTo>
                <a:lnTo>
                  <a:pt x="2379845" y="397899"/>
                </a:lnTo>
                <a:lnTo>
                  <a:pt x="2433959" y="388954"/>
                </a:lnTo>
                <a:lnTo>
                  <a:pt x="2485242" y="380770"/>
                </a:lnTo>
                <a:lnTo>
                  <a:pt x="2534619" y="373172"/>
                </a:lnTo>
                <a:lnTo>
                  <a:pt x="2583013" y="365984"/>
                </a:lnTo>
                <a:lnTo>
                  <a:pt x="2631349" y="359031"/>
                </a:lnTo>
                <a:lnTo>
                  <a:pt x="2680550" y="352137"/>
                </a:lnTo>
                <a:lnTo>
                  <a:pt x="2731540" y="345127"/>
                </a:lnTo>
                <a:lnTo>
                  <a:pt x="2785244" y="337824"/>
                </a:lnTo>
                <a:lnTo>
                  <a:pt x="2830488" y="331953"/>
                </a:lnTo>
                <a:lnTo>
                  <a:pt x="2877376" y="326293"/>
                </a:lnTo>
                <a:lnTo>
                  <a:pt x="2925525" y="320754"/>
                </a:lnTo>
                <a:lnTo>
                  <a:pt x="2974552" y="315245"/>
                </a:lnTo>
                <a:lnTo>
                  <a:pt x="3024075" y="309676"/>
                </a:lnTo>
                <a:lnTo>
                  <a:pt x="3073710" y="303957"/>
                </a:lnTo>
                <a:lnTo>
                  <a:pt x="3123074" y="297997"/>
                </a:lnTo>
                <a:lnTo>
                  <a:pt x="3171786" y="291707"/>
                </a:lnTo>
                <a:lnTo>
                  <a:pt x="3219461" y="284996"/>
                </a:lnTo>
                <a:lnTo>
                  <a:pt x="3265718" y="277774"/>
                </a:lnTo>
                <a:lnTo>
                  <a:pt x="3316106" y="269041"/>
                </a:lnTo>
                <a:lnTo>
                  <a:pt x="3366216" y="259627"/>
                </a:lnTo>
                <a:lnTo>
                  <a:pt x="3415860" y="249688"/>
                </a:lnTo>
                <a:lnTo>
                  <a:pt x="3464856" y="239378"/>
                </a:lnTo>
                <a:lnTo>
                  <a:pt x="3513016" y="228852"/>
                </a:lnTo>
                <a:lnTo>
                  <a:pt x="3560158" y="218263"/>
                </a:lnTo>
                <a:lnTo>
                  <a:pt x="3606095" y="207768"/>
                </a:lnTo>
                <a:lnTo>
                  <a:pt x="3650643" y="197520"/>
                </a:lnTo>
                <a:lnTo>
                  <a:pt x="3693617" y="187674"/>
                </a:lnTo>
                <a:lnTo>
                  <a:pt x="3743696" y="175680"/>
                </a:lnTo>
                <a:lnTo>
                  <a:pt x="3787667" y="164189"/>
                </a:lnTo>
                <a:lnTo>
                  <a:pt x="3828619" y="152940"/>
                </a:lnTo>
                <a:lnTo>
                  <a:pt x="3869636" y="141670"/>
                </a:lnTo>
                <a:lnTo>
                  <a:pt x="3913804" y="130115"/>
                </a:lnTo>
                <a:lnTo>
                  <a:pt x="3964211" y="118012"/>
                </a:lnTo>
                <a:lnTo>
                  <a:pt x="4023941" y="105099"/>
                </a:lnTo>
                <a:lnTo>
                  <a:pt x="4065666" y="96795"/>
                </a:lnTo>
                <a:lnTo>
                  <a:pt x="4113543" y="87670"/>
                </a:lnTo>
                <a:lnTo>
                  <a:pt x="4166111" y="77945"/>
                </a:lnTo>
                <a:lnTo>
                  <a:pt x="4221912" y="67842"/>
                </a:lnTo>
                <a:lnTo>
                  <a:pt x="4279486" y="57583"/>
                </a:lnTo>
                <a:lnTo>
                  <a:pt x="4337372" y="47388"/>
                </a:lnTo>
                <a:lnTo>
                  <a:pt x="4394111" y="37481"/>
                </a:lnTo>
                <a:lnTo>
                  <a:pt x="4448244" y="28082"/>
                </a:lnTo>
                <a:lnTo>
                  <a:pt x="4498311" y="19413"/>
                </a:lnTo>
                <a:lnTo>
                  <a:pt x="4542851" y="11695"/>
                </a:lnTo>
                <a:lnTo>
                  <a:pt x="4580406" y="5150"/>
                </a:lnTo>
                <a:lnTo>
                  <a:pt x="4609515" y="0"/>
                </a:lnTo>
              </a:path>
            </a:pathLst>
          </a:custGeom>
          <a:ln w="38099">
            <a:solidFill>
              <a:srgbClr val="E69138"/>
            </a:solidFill>
          </a:ln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06389" y="3381252"/>
            <a:ext cx="4432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80" dirty="0">
                <a:solidFill>
                  <a:srgbClr val="E69138"/>
                </a:solidFill>
                <a:latin typeface="Garamond" panose="02020404030301010803" pitchFamily="18" charset="0"/>
                <a:cs typeface="Arial"/>
              </a:rPr>
              <a:t>V</a:t>
            </a:r>
            <a:r>
              <a:rPr sz="2400" spc="-5" dirty="0">
                <a:solidFill>
                  <a:srgbClr val="E69138"/>
                </a:solidFill>
                <a:latin typeface="Garamond" panose="02020404030301010803" pitchFamily="18" charset="0"/>
                <a:cs typeface="Arial"/>
              </a:rPr>
              <a:t>al</a:t>
            </a:r>
            <a:endParaRPr sz="24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7925" y="5574843"/>
            <a:ext cx="8875395" cy="273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  <a:tabLst>
                <a:tab pos="5253355" algn="l"/>
                <a:tab pos="7310755" algn="l"/>
              </a:tabLst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Fei-Fei Li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&amp; Justin Johnson &amp;</a:t>
            </a:r>
            <a:r>
              <a:rPr spc="-1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Serena</a:t>
            </a:r>
            <a:r>
              <a:rPr spc="-3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4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Yeung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April 25,</a:t>
            </a:r>
            <a:r>
              <a:rPr sz="3000" spc="-142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2019</a:t>
            </a:r>
            <a:endParaRPr sz="3000" baseline="-4166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99119" y="5562144"/>
            <a:ext cx="123888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2000" spc="-9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xfrm>
            <a:off x="7456513" y="4704893"/>
            <a:ext cx="159004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310"/>
              </a:lnSpc>
            </a:pPr>
            <a:r>
              <a:rPr lang="en-US" spc="-5" dirty="0">
                <a:latin typeface="Garamond" panose="02020404030301010803" pitchFamily="18" charset="0"/>
              </a:rPr>
              <a:t>April 25,</a:t>
            </a:r>
            <a:r>
              <a:rPr lang="en-US" spc="-90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xfrm>
            <a:off x="145224" y="4709647"/>
            <a:ext cx="44907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Fei-Fei Li </a:t>
            </a:r>
            <a:r>
              <a:rPr lang="en-US" dirty="0">
                <a:latin typeface="Garamond" panose="02020404030301010803" pitchFamily="18" charset="0"/>
              </a:rPr>
              <a:t>&amp; Justin Johnson &amp; </a:t>
            </a:r>
            <a:r>
              <a:rPr lang="en-US" spc="-5" dirty="0">
                <a:latin typeface="Garamond" panose="02020404030301010803" pitchFamily="18" charset="0"/>
              </a:rPr>
              <a:t>Serena</a:t>
            </a:r>
            <a:r>
              <a:rPr lang="en-US" spc="-145" dirty="0">
                <a:latin typeface="Garamond" panose="02020404030301010803" pitchFamily="18" charset="0"/>
              </a:rPr>
              <a:t> </a:t>
            </a:r>
            <a:r>
              <a:rPr lang="en-US" spc="-40" dirty="0">
                <a:latin typeface="Garamond" panose="02020404030301010803" pitchFamily="18" charset="0"/>
              </a:rPr>
              <a:t>Yeung</a:t>
            </a:r>
            <a:endParaRPr spc="-40" dirty="0">
              <a:latin typeface="Garamond" panose="02020404030301010803" pitchFamily="18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89947" y="5570691"/>
            <a:ext cx="56642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pPr marL="38100">
                <a:lnSpc>
                  <a:spcPts val="2310"/>
                </a:lnSpc>
              </a:pPr>
              <a:t>43</a:t>
            </a:fld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0313C3-5899-4BD7-86DD-F7309DBA0472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3674" y="2128480"/>
            <a:ext cx="6379210" cy="209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8800" indent="-546735">
              <a:spcBef>
                <a:spcPts val="100"/>
              </a:spcBef>
              <a:buAutoNum type="arabicPeriod"/>
              <a:tabLst>
                <a:tab pos="558800" algn="l"/>
                <a:tab pos="559435" algn="l"/>
              </a:tabLst>
            </a:pPr>
            <a:r>
              <a:rPr sz="3000" spc="-25" dirty="0">
                <a:latin typeface="Garamond" panose="02020404030301010803" pitchFamily="18" charset="0"/>
                <a:cs typeface="Arial"/>
              </a:rPr>
              <a:t>Train </a:t>
            </a:r>
            <a:r>
              <a:rPr sz="3000" dirty="0">
                <a:latin typeface="Garamond" panose="02020404030301010803" pitchFamily="18" charset="0"/>
                <a:cs typeface="Arial"/>
              </a:rPr>
              <a:t>multiple </a:t>
            </a:r>
            <a:r>
              <a:rPr sz="3000" spc="-5" dirty="0">
                <a:latin typeface="Garamond" panose="02020404030301010803" pitchFamily="18" charset="0"/>
                <a:cs typeface="Arial"/>
              </a:rPr>
              <a:t>independent</a:t>
            </a:r>
            <a:r>
              <a:rPr sz="3000" spc="-75" dirty="0">
                <a:latin typeface="Garamond" panose="02020404030301010803" pitchFamily="18" charset="0"/>
                <a:cs typeface="Arial"/>
              </a:rPr>
              <a:t> </a:t>
            </a:r>
            <a:r>
              <a:rPr sz="3000" dirty="0">
                <a:latin typeface="Garamond" panose="02020404030301010803" pitchFamily="18" charset="0"/>
                <a:cs typeface="Arial"/>
              </a:rPr>
              <a:t>models</a:t>
            </a:r>
          </a:p>
          <a:p>
            <a:pPr marL="558800" indent="-546735">
              <a:buAutoNum type="arabicPeriod"/>
              <a:tabLst>
                <a:tab pos="558800" algn="l"/>
                <a:tab pos="559435" algn="l"/>
              </a:tabLst>
            </a:pPr>
            <a:r>
              <a:rPr sz="3000" spc="-5" dirty="0">
                <a:latin typeface="Garamond" panose="02020404030301010803" pitchFamily="18" charset="0"/>
                <a:cs typeface="Arial"/>
              </a:rPr>
              <a:t>At test time average their</a:t>
            </a:r>
            <a:r>
              <a:rPr sz="3000" spc="-75" dirty="0">
                <a:latin typeface="Garamond" panose="02020404030301010803" pitchFamily="18" charset="0"/>
                <a:cs typeface="Arial"/>
              </a:rPr>
              <a:t> </a:t>
            </a:r>
            <a:r>
              <a:rPr sz="3000" dirty="0">
                <a:latin typeface="Garamond" panose="02020404030301010803" pitchFamily="18" charset="0"/>
                <a:cs typeface="Arial"/>
              </a:rPr>
              <a:t>results</a:t>
            </a:r>
          </a:p>
          <a:p>
            <a:pPr marL="558800">
              <a:spcBef>
                <a:spcPts val="60"/>
              </a:spcBef>
            </a:pPr>
            <a:r>
              <a:rPr sz="1400" spc="-35" dirty="0">
                <a:latin typeface="Garamond" panose="02020404030301010803" pitchFamily="18" charset="0"/>
                <a:cs typeface="Arial"/>
              </a:rPr>
              <a:t>(Take </a:t>
            </a:r>
            <a:r>
              <a:rPr sz="1400" spc="-5" dirty="0">
                <a:latin typeface="Garamond" panose="02020404030301010803" pitchFamily="18" charset="0"/>
                <a:cs typeface="Arial"/>
              </a:rPr>
              <a:t>average of predicted probability distributions, then </a:t>
            </a:r>
            <a:r>
              <a:rPr sz="1400" dirty="0">
                <a:latin typeface="Garamond" panose="02020404030301010803" pitchFamily="18" charset="0"/>
                <a:cs typeface="Arial"/>
              </a:rPr>
              <a:t>choose</a:t>
            </a:r>
            <a:r>
              <a:rPr sz="1400" spc="-25" dirty="0">
                <a:latin typeface="Garamond" panose="02020404030301010803" pitchFamily="18" charset="0"/>
                <a:cs typeface="Arial"/>
              </a:rPr>
              <a:t> </a:t>
            </a:r>
            <a:r>
              <a:rPr sz="1400" spc="-5" dirty="0">
                <a:latin typeface="Garamond" panose="02020404030301010803" pitchFamily="18" charset="0"/>
                <a:cs typeface="Arial"/>
              </a:rPr>
              <a:t>argmax)</a:t>
            </a:r>
            <a:endParaRPr sz="1400" dirty="0">
              <a:latin typeface="Garamond" panose="02020404030301010803" pitchFamily="18" charset="0"/>
              <a:cs typeface="Arial"/>
            </a:endParaRPr>
          </a:p>
          <a:p>
            <a:pPr>
              <a:lnSpc>
                <a:spcPct val="100000"/>
              </a:lnSpc>
            </a:pPr>
            <a:endParaRPr sz="1500" dirty="0">
              <a:latin typeface="Garamond" panose="02020404030301010803" pitchFamily="18" charset="0"/>
              <a:cs typeface="Arial"/>
            </a:endParaRPr>
          </a:p>
          <a:p>
            <a:pPr>
              <a:lnSpc>
                <a:spcPct val="100000"/>
              </a:lnSpc>
            </a:pPr>
            <a:endParaRPr sz="1550" dirty="0">
              <a:latin typeface="Garamond" panose="02020404030301010803" pitchFamily="18" charset="0"/>
              <a:cs typeface="Arial"/>
            </a:endParaRPr>
          </a:p>
          <a:p>
            <a:pPr marL="101600"/>
            <a:r>
              <a:rPr sz="3000" spc="-10" dirty="0">
                <a:latin typeface="Garamond" panose="02020404030301010803" pitchFamily="18" charset="0"/>
                <a:cs typeface="Arial"/>
              </a:rPr>
              <a:t>Enjoy </a:t>
            </a:r>
            <a:r>
              <a:rPr sz="3000" spc="-5" dirty="0">
                <a:latin typeface="Garamond" panose="02020404030301010803" pitchFamily="18" charset="0"/>
                <a:cs typeface="Arial"/>
              </a:rPr>
              <a:t>2% extra</a:t>
            </a:r>
            <a:r>
              <a:rPr sz="3000" spc="-20" dirty="0">
                <a:latin typeface="Garamond" panose="02020404030301010803" pitchFamily="18" charset="0"/>
                <a:cs typeface="Arial"/>
              </a:rPr>
              <a:t> </a:t>
            </a:r>
            <a:r>
              <a:rPr sz="3000" spc="-5" dirty="0">
                <a:latin typeface="Garamond" panose="02020404030301010803" pitchFamily="18" charset="0"/>
                <a:cs typeface="Arial"/>
              </a:rPr>
              <a:t>performance</a:t>
            </a:r>
            <a:endParaRPr sz="3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7925" y="5574843"/>
            <a:ext cx="8875395" cy="273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  <a:tabLst>
                <a:tab pos="5253355" algn="l"/>
                <a:tab pos="7310755" algn="l"/>
              </a:tabLst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Fei-Fei Li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&amp; Justin Johnson &amp;</a:t>
            </a:r>
            <a:r>
              <a:rPr spc="-1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Serena</a:t>
            </a:r>
            <a:r>
              <a:rPr spc="-3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4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Yeung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April 24,</a:t>
            </a:r>
            <a:r>
              <a:rPr sz="3000" spc="-142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2018</a:t>
            </a:r>
            <a:endParaRPr sz="3000" baseline="-4166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99119" y="5562144"/>
            <a:ext cx="123888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2000" spc="-9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7456513" y="4704893"/>
            <a:ext cx="159004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310"/>
              </a:lnSpc>
            </a:pPr>
            <a:r>
              <a:rPr lang="en-US" spc="-5" dirty="0">
                <a:latin typeface="Garamond" panose="02020404030301010803" pitchFamily="18" charset="0"/>
              </a:rPr>
              <a:t>April 25,</a:t>
            </a:r>
            <a:r>
              <a:rPr lang="en-US" spc="-90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145224" y="4709647"/>
            <a:ext cx="44907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Fei-Fei Li </a:t>
            </a:r>
            <a:r>
              <a:rPr lang="en-US" dirty="0">
                <a:latin typeface="Garamond" panose="02020404030301010803" pitchFamily="18" charset="0"/>
              </a:rPr>
              <a:t>&amp; Justin Johnson &amp; </a:t>
            </a:r>
            <a:r>
              <a:rPr lang="en-US" spc="-5" dirty="0">
                <a:latin typeface="Garamond" panose="02020404030301010803" pitchFamily="18" charset="0"/>
              </a:rPr>
              <a:t>Serena</a:t>
            </a:r>
            <a:r>
              <a:rPr lang="en-US" spc="-145" dirty="0">
                <a:latin typeface="Garamond" panose="02020404030301010803" pitchFamily="18" charset="0"/>
              </a:rPr>
              <a:t> </a:t>
            </a:r>
            <a:r>
              <a:rPr lang="en-US" spc="-40" dirty="0">
                <a:latin typeface="Garamond" panose="02020404030301010803" pitchFamily="18" charset="0"/>
              </a:rPr>
              <a:t>Yeung</a:t>
            </a:r>
            <a:endParaRPr spc="-40" dirty="0">
              <a:latin typeface="Garamond" panose="02020404030301010803" pitchFamily="18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6831154" y="4713440"/>
            <a:ext cx="424815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3505">
              <a:lnSpc>
                <a:spcPts val="2310"/>
              </a:lnSpc>
            </a:pPr>
            <a:fld id="{81D60167-4931-47E6-BA6A-407CBD079E47}" type="slidenum">
              <a:rPr lang="en-US" smtClean="0">
                <a:latin typeface="Garamond" panose="02020404030301010803" pitchFamily="18" charset="0"/>
              </a:rPr>
              <a:pPr marL="103505">
                <a:lnSpc>
                  <a:spcPts val="2310"/>
                </a:lnSpc>
              </a:pPr>
              <a:t>44</a:t>
            </a:fld>
            <a:endParaRPr dirty="0">
              <a:latin typeface="Garamond" panose="02020404030301010803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3573" y="944591"/>
            <a:ext cx="8783781" cy="689932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Model</a:t>
            </a:r>
            <a:r>
              <a:rPr spc="-90" dirty="0"/>
              <a:t> </a:t>
            </a:r>
            <a:r>
              <a:rPr spc="-5" dirty="0"/>
              <a:t>Ensembles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2AA06F-6E83-4B2A-BEC4-BD69BDBC0AEE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28" y="944591"/>
            <a:ext cx="8869745" cy="689932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Model </a:t>
            </a:r>
            <a:r>
              <a:rPr spc="-10" dirty="0"/>
              <a:t>Ensembles: </a:t>
            </a:r>
            <a:r>
              <a:rPr spc="-40" dirty="0"/>
              <a:t>Tips </a:t>
            </a:r>
            <a:r>
              <a:rPr spc="-5" dirty="0"/>
              <a:t>and</a:t>
            </a:r>
            <a:r>
              <a:rPr spc="-160" dirty="0"/>
              <a:t> </a:t>
            </a:r>
            <a:r>
              <a:rPr spc="-25" dirty="0"/>
              <a:t>Tricks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2822" y="1679542"/>
            <a:ext cx="7063740" cy="761746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spc="-5" dirty="0">
                <a:latin typeface="Garamond" panose="02020404030301010803" pitchFamily="18" charset="0"/>
                <a:cs typeface="Arial"/>
              </a:rPr>
              <a:t>Instead of training independent </a:t>
            </a:r>
            <a:r>
              <a:rPr sz="2400" dirty="0">
                <a:latin typeface="Garamond" panose="02020404030301010803" pitchFamily="18" charset="0"/>
                <a:cs typeface="Arial"/>
              </a:rPr>
              <a:t>models,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use</a:t>
            </a:r>
            <a:r>
              <a:rPr sz="2400" spc="-95" dirty="0">
                <a:latin typeface="Garamond" panose="02020404030301010803" pitchFamily="18" charset="0"/>
                <a:cs typeface="Arial"/>
              </a:rPr>
              <a:t> </a:t>
            </a:r>
            <a:r>
              <a:rPr sz="2400" dirty="0">
                <a:latin typeface="Garamond" panose="02020404030301010803" pitchFamily="18" charset="0"/>
                <a:cs typeface="Arial"/>
              </a:rPr>
              <a:t>multiple  snapshots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of </a:t>
            </a:r>
            <a:r>
              <a:rPr sz="2400" dirty="0">
                <a:latin typeface="Garamond" panose="02020404030301010803" pitchFamily="18" charset="0"/>
                <a:cs typeface="Arial"/>
              </a:rPr>
              <a:t>a single model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during</a:t>
            </a:r>
            <a:r>
              <a:rPr sz="2400" spc="-55" dirty="0"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training!</a:t>
            </a:r>
            <a:endParaRPr sz="24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1757" y="2710292"/>
            <a:ext cx="2673562" cy="21966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50" y="5041107"/>
            <a:ext cx="3838575" cy="3949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85"/>
              </a:spcBef>
            </a:pPr>
            <a:r>
              <a:rPr sz="800" spc="-5" dirty="0">
                <a:latin typeface="Garamond" panose="02020404030301010803" pitchFamily="18" charset="0"/>
                <a:cs typeface="Arial"/>
              </a:rPr>
              <a:t>Loshchilov and </a:t>
            </a:r>
            <a:r>
              <a:rPr sz="800" spc="-10" dirty="0">
                <a:latin typeface="Garamond" panose="02020404030301010803" pitchFamily="18" charset="0"/>
                <a:cs typeface="Arial"/>
              </a:rPr>
              <a:t>Hutter, </a:t>
            </a:r>
            <a:r>
              <a:rPr sz="800" dirty="0">
                <a:latin typeface="Garamond" panose="02020404030301010803" pitchFamily="18" charset="0"/>
                <a:cs typeface="Arial"/>
              </a:rPr>
              <a:t>“SGDR: </a:t>
            </a:r>
            <a:r>
              <a:rPr sz="800" spc="-5" dirty="0">
                <a:latin typeface="Garamond" panose="02020404030301010803" pitchFamily="18" charset="0"/>
                <a:cs typeface="Arial"/>
              </a:rPr>
              <a:t>Stochastic gradient descent with </a:t>
            </a:r>
            <a:r>
              <a:rPr sz="800" dirty="0">
                <a:latin typeface="Garamond" panose="02020404030301010803" pitchFamily="18" charset="0"/>
                <a:cs typeface="Arial"/>
              </a:rPr>
              <a:t>restarts”, </a:t>
            </a:r>
            <a:r>
              <a:rPr sz="800" spc="-5" dirty="0">
                <a:latin typeface="Garamond" panose="02020404030301010803" pitchFamily="18" charset="0"/>
                <a:cs typeface="Arial"/>
              </a:rPr>
              <a:t>arXiv 2016  Huang et al, </a:t>
            </a:r>
            <a:r>
              <a:rPr sz="800" dirty="0">
                <a:latin typeface="Garamond" panose="02020404030301010803" pitchFamily="18" charset="0"/>
                <a:cs typeface="Arial"/>
              </a:rPr>
              <a:t>“Snapshot </a:t>
            </a:r>
            <a:r>
              <a:rPr sz="800" spc="-5" dirty="0">
                <a:latin typeface="Garamond" panose="02020404030301010803" pitchFamily="18" charset="0"/>
                <a:cs typeface="Arial"/>
              </a:rPr>
              <a:t>ensembles: train 1, get </a:t>
            </a:r>
            <a:r>
              <a:rPr sz="800" dirty="0">
                <a:latin typeface="Garamond" panose="02020404030301010803" pitchFamily="18" charset="0"/>
                <a:cs typeface="Arial"/>
              </a:rPr>
              <a:t>M </a:t>
            </a:r>
            <a:r>
              <a:rPr sz="800" spc="-5" dirty="0">
                <a:latin typeface="Garamond" panose="02020404030301010803" pitchFamily="18" charset="0"/>
                <a:cs typeface="Arial"/>
              </a:rPr>
              <a:t>for free”, ICLR</a:t>
            </a:r>
            <a:r>
              <a:rPr sz="800" spc="-35" dirty="0">
                <a:latin typeface="Garamond" panose="02020404030301010803" pitchFamily="18" charset="0"/>
                <a:cs typeface="Arial"/>
              </a:rPr>
              <a:t> </a:t>
            </a:r>
            <a:r>
              <a:rPr sz="800" spc="-5" dirty="0">
                <a:latin typeface="Garamond" panose="02020404030301010803" pitchFamily="18" charset="0"/>
                <a:cs typeface="Arial"/>
              </a:rPr>
              <a:t>2017</a:t>
            </a:r>
            <a:endParaRPr sz="800" dirty="0">
              <a:latin typeface="Garamond" panose="02020404030301010803" pitchFamily="18" charset="0"/>
              <a:cs typeface="Arial"/>
            </a:endParaRPr>
          </a:p>
          <a:p>
            <a:pPr marL="12700">
              <a:spcBef>
                <a:spcPts val="15"/>
              </a:spcBef>
            </a:pPr>
            <a:r>
              <a:rPr sz="800" spc="-5" dirty="0">
                <a:latin typeface="Garamond" panose="02020404030301010803" pitchFamily="18" charset="0"/>
                <a:cs typeface="Arial"/>
              </a:rPr>
              <a:t>Figures </a:t>
            </a:r>
            <a:r>
              <a:rPr sz="800" dirty="0">
                <a:latin typeface="Garamond" panose="02020404030301010803" pitchFamily="18" charset="0"/>
                <a:cs typeface="Arial"/>
              </a:rPr>
              <a:t>copyright </a:t>
            </a:r>
            <a:r>
              <a:rPr sz="800" spc="-10" dirty="0">
                <a:latin typeface="Garamond" panose="02020404030301010803" pitchFamily="18" charset="0"/>
                <a:cs typeface="Arial"/>
              </a:rPr>
              <a:t>Yixuan </a:t>
            </a:r>
            <a:r>
              <a:rPr sz="800" spc="-5" dirty="0">
                <a:latin typeface="Garamond" panose="02020404030301010803" pitchFamily="18" charset="0"/>
                <a:cs typeface="Arial"/>
              </a:rPr>
              <a:t>Li and </a:t>
            </a:r>
            <a:r>
              <a:rPr sz="800" spc="-10" dirty="0">
                <a:latin typeface="Garamond" panose="02020404030301010803" pitchFamily="18" charset="0"/>
                <a:cs typeface="Arial"/>
              </a:rPr>
              <a:t>Geoff </a:t>
            </a:r>
            <a:r>
              <a:rPr sz="800" spc="-5" dirty="0">
                <a:latin typeface="Garamond" panose="02020404030301010803" pitchFamily="18" charset="0"/>
                <a:cs typeface="Arial"/>
              </a:rPr>
              <a:t>Pleiss, 2017. Reproduced with</a:t>
            </a:r>
            <a:r>
              <a:rPr sz="800" spc="-40" dirty="0">
                <a:latin typeface="Garamond" panose="02020404030301010803" pitchFamily="18" charset="0"/>
                <a:cs typeface="Arial"/>
              </a:rPr>
              <a:t> </a:t>
            </a:r>
            <a:r>
              <a:rPr sz="800" spc="-5" dirty="0">
                <a:latin typeface="Garamond" panose="02020404030301010803" pitchFamily="18" charset="0"/>
                <a:cs typeface="Arial"/>
              </a:rPr>
              <a:t>permission.</a:t>
            </a:r>
            <a:endParaRPr sz="8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7925" y="5574843"/>
            <a:ext cx="8875395" cy="273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  <a:tabLst>
                <a:tab pos="5253355" algn="l"/>
                <a:tab pos="7310755" algn="l"/>
              </a:tabLst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Fei-Fei Li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&amp; Justin Johnson &amp;</a:t>
            </a:r>
            <a:r>
              <a:rPr spc="-1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Serena</a:t>
            </a:r>
            <a:r>
              <a:rPr spc="-3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4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Yeung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April 24,</a:t>
            </a:r>
            <a:r>
              <a:rPr sz="3000" spc="-142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2018</a:t>
            </a:r>
            <a:endParaRPr sz="3000" baseline="-4166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99119" y="5562144"/>
            <a:ext cx="123888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2000" spc="-9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7456513" y="4704893"/>
            <a:ext cx="159004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310"/>
              </a:lnSpc>
            </a:pPr>
            <a:r>
              <a:rPr lang="en-US" spc="-5" dirty="0">
                <a:latin typeface="Garamond" panose="02020404030301010803" pitchFamily="18" charset="0"/>
              </a:rPr>
              <a:t>April 25,</a:t>
            </a:r>
            <a:r>
              <a:rPr lang="en-US" spc="-90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45224" y="4709647"/>
            <a:ext cx="44907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Fei-Fei Li </a:t>
            </a:r>
            <a:r>
              <a:rPr lang="en-US" dirty="0">
                <a:latin typeface="Garamond" panose="02020404030301010803" pitchFamily="18" charset="0"/>
              </a:rPr>
              <a:t>&amp; Justin Johnson &amp; </a:t>
            </a:r>
            <a:r>
              <a:rPr lang="en-US" spc="-5" dirty="0">
                <a:latin typeface="Garamond" panose="02020404030301010803" pitchFamily="18" charset="0"/>
              </a:rPr>
              <a:t>Serena</a:t>
            </a:r>
            <a:r>
              <a:rPr lang="en-US" spc="-145" dirty="0">
                <a:latin typeface="Garamond" panose="02020404030301010803" pitchFamily="18" charset="0"/>
              </a:rPr>
              <a:t> </a:t>
            </a:r>
            <a:r>
              <a:rPr lang="en-US" spc="-40" dirty="0">
                <a:latin typeface="Garamond" panose="02020404030301010803" pitchFamily="18" charset="0"/>
              </a:rPr>
              <a:t>Yeung</a:t>
            </a:r>
            <a:endParaRPr spc="-40" dirty="0">
              <a:latin typeface="Garamond" panose="02020404030301010803" pitchFamily="18" charset="0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6831154" y="4713440"/>
            <a:ext cx="424815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3505">
              <a:lnSpc>
                <a:spcPts val="2310"/>
              </a:lnSpc>
            </a:pPr>
            <a:fld id="{81D60167-4931-47E6-BA6A-407CBD079E47}" type="slidenum">
              <a:rPr lang="en-US" smtClean="0">
                <a:latin typeface="Garamond" panose="02020404030301010803" pitchFamily="18" charset="0"/>
              </a:rPr>
              <a:pPr marL="103505">
                <a:lnSpc>
                  <a:spcPts val="2310"/>
                </a:lnSpc>
              </a:pPr>
              <a:t>45</a:t>
            </a:fld>
            <a:endParaRPr dirty="0">
              <a:latin typeface="Garamond" panose="020204040303010108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F556CF-E2E3-4AB1-BD1B-08898CE89D83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210" y="944591"/>
            <a:ext cx="8743580" cy="689932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Model </a:t>
            </a:r>
            <a:r>
              <a:rPr spc="-10" dirty="0"/>
              <a:t>Ensembles: </a:t>
            </a:r>
            <a:r>
              <a:rPr spc="-40" dirty="0"/>
              <a:t>Tips </a:t>
            </a:r>
            <a:r>
              <a:rPr spc="-5" dirty="0"/>
              <a:t>and</a:t>
            </a:r>
            <a:r>
              <a:rPr spc="-160" dirty="0"/>
              <a:t> </a:t>
            </a:r>
            <a:r>
              <a:rPr spc="-25" dirty="0"/>
              <a:t>Tricks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2822" y="1679542"/>
            <a:ext cx="7063740" cy="761746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spc="-5" dirty="0">
                <a:latin typeface="Garamond" panose="02020404030301010803" pitchFamily="18" charset="0"/>
                <a:cs typeface="Arial"/>
              </a:rPr>
              <a:t>Instead of training independent </a:t>
            </a:r>
            <a:r>
              <a:rPr sz="2400" dirty="0">
                <a:latin typeface="Garamond" panose="02020404030301010803" pitchFamily="18" charset="0"/>
                <a:cs typeface="Arial"/>
              </a:rPr>
              <a:t>models,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use</a:t>
            </a:r>
            <a:r>
              <a:rPr sz="2400" spc="-95" dirty="0">
                <a:latin typeface="Garamond" panose="02020404030301010803" pitchFamily="18" charset="0"/>
                <a:cs typeface="Arial"/>
              </a:rPr>
              <a:t> </a:t>
            </a:r>
            <a:r>
              <a:rPr sz="2400" dirty="0">
                <a:latin typeface="Garamond" panose="02020404030301010803" pitchFamily="18" charset="0"/>
                <a:cs typeface="Arial"/>
              </a:rPr>
              <a:t>multiple  snapshots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of </a:t>
            </a:r>
            <a:r>
              <a:rPr sz="2400" dirty="0">
                <a:latin typeface="Garamond" panose="02020404030301010803" pitchFamily="18" charset="0"/>
                <a:cs typeface="Arial"/>
              </a:rPr>
              <a:t>a single model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during</a:t>
            </a:r>
            <a:r>
              <a:rPr sz="2400" spc="-55" dirty="0"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training!</a:t>
            </a:r>
            <a:endParaRPr sz="24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1737" y="2710294"/>
            <a:ext cx="5502070" cy="21966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21470" y="2732434"/>
            <a:ext cx="2489103" cy="22125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4910" y="4933704"/>
            <a:ext cx="2722245" cy="452881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latin typeface="Garamond" panose="02020404030301010803" pitchFamily="18" charset="0"/>
                <a:cs typeface="Arial"/>
              </a:rPr>
              <a:t>Cyclic learning </a:t>
            </a:r>
            <a:r>
              <a:rPr sz="1400" dirty="0">
                <a:latin typeface="Garamond" panose="02020404030301010803" pitchFamily="18" charset="0"/>
                <a:cs typeface="Arial"/>
              </a:rPr>
              <a:t>rate schedules</a:t>
            </a:r>
            <a:r>
              <a:rPr sz="1400" spc="-100" dirty="0">
                <a:latin typeface="Garamond" panose="02020404030301010803" pitchFamily="18" charset="0"/>
                <a:cs typeface="Arial"/>
              </a:rPr>
              <a:t> </a:t>
            </a:r>
            <a:r>
              <a:rPr sz="1400" dirty="0">
                <a:latin typeface="Garamond" panose="02020404030301010803" pitchFamily="18" charset="0"/>
                <a:cs typeface="Arial"/>
              </a:rPr>
              <a:t>can  make </a:t>
            </a:r>
            <a:r>
              <a:rPr sz="1400" spc="-5" dirty="0">
                <a:latin typeface="Garamond" panose="02020404030301010803" pitchFamily="18" charset="0"/>
                <a:cs typeface="Arial"/>
              </a:rPr>
              <a:t>this work even</a:t>
            </a:r>
            <a:r>
              <a:rPr sz="1400" spc="-35" dirty="0">
                <a:latin typeface="Garamond" panose="02020404030301010803" pitchFamily="18" charset="0"/>
                <a:cs typeface="Arial"/>
              </a:rPr>
              <a:t> </a:t>
            </a:r>
            <a:r>
              <a:rPr sz="1400" spc="-5" dirty="0">
                <a:latin typeface="Garamond" panose="02020404030301010803" pitchFamily="18" charset="0"/>
                <a:cs typeface="Arial"/>
              </a:rPr>
              <a:t>better!</a:t>
            </a:r>
            <a:endParaRPr sz="14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7925" y="5574843"/>
            <a:ext cx="8875395" cy="273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  <a:tabLst>
                <a:tab pos="5253355" algn="l"/>
                <a:tab pos="7310755" algn="l"/>
              </a:tabLst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Fei-Fei Li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&amp; Justin Johnson &amp;</a:t>
            </a:r>
            <a:r>
              <a:rPr spc="-1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Serena</a:t>
            </a:r>
            <a:r>
              <a:rPr spc="-3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4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Yeung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April 24,</a:t>
            </a:r>
            <a:r>
              <a:rPr sz="3000" spc="-142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2018</a:t>
            </a:r>
            <a:endParaRPr sz="3000" baseline="-4166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99119" y="5562144"/>
            <a:ext cx="123888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2000" spc="-9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7456513" y="4704893"/>
            <a:ext cx="159004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310"/>
              </a:lnSpc>
            </a:pPr>
            <a:r>
              <a:rPr lang="en-US" spc="-5" dirty="0">
                <a:latin typeface="Garamond" panose="02020404030301010803" pitchFamily="18" charset="0"/>
              </a:rPr>
              <a:t>April 25,</a:t>
            </a:r>
            <a:r>
              <a:rPr lang="en-US" spc="-90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145224" y="4709647"/>
            <a:ext cx="44907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Fei-Fei Li </a:t>
            </a:r>
            <a:r>
              <a:rPr lang="en-US" dirty="0">
                <a:latin typeface="Garamond" panose="02020404030301010803" pitchFamily="18" charset="0"/>
              </a:rPr>
              <a:t>&amp; Justin Johnson &amp; </a:t>
            </a:r>
            <a:r>
              <a:rPr lang="en-US" spc="-5" dirty="0">
                <a:latin typeface="Garamond" panose="02020404030301010803" pitchFamily="18" charset="0"/>
              </a:rPr>
              <a:t>Serena</a:t>
            </a:r>
            <a:r>
              <a:rPr lang="en-US" spc="-145" dirty="0">
                <a:latin typeface="Garamond" panose="02020404030301010803" pitchFamily="18" charset="0"/>
              </a:rPr>
              <a:t> </a:t>
            </a:r>
            <a:r>
              <a:rPr lang="en-US" spc="-40" dirty="0">
                <a:latin typeface="Garamond" panose="02020404030301010803" pitchFamily="18" charset="0"/>
              </a:rPr>
              <a:t>Yeung</a:t>
            </a:r>
            <a:endParaRPr spc="-40" dirty="0">
              <a:latin typeface="Garamond" panose="02020404030301010803" pitchFamily="18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22545" y="5570691"/>
            <a:ext cx="30797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58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550" y="5041107"/>
            <a:ext cx="3838575" cy="3949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85"/>
              </a:spcBef>
            </a:pPr>
            <a:r>
              <a:rPr sz="800" spc="-5" dirty="0">
                <a:latin typeface="Garamond" panose="02020404030301010803" pitchFamily="18" charset="0"/>
                <a:cs typeface="Arial"/>
              </a:rPr>
              <a:t>Loshchilov and </a:t>
            </a:r>
            <a:r>
              <a:rPr sz="800" spc="-10" dirty="0">
                <a:latin typeface="Garamond" panose="02020404030301010803" pitchFamily="18" charset="0"/>
                <a:cs typeface="Arial"/>
              </a:rPr>
              <a:t>Hutter, </a:t>
            </a:r>
            <a:r>
              <a:rPr sz="800" dirty="0">
                <a:latin typeface="Garamond" panose="02020404030301010803" pitchFamily="18" charset="0"/>
                <a:cs typeface="Arial"/>
              </a:rPr>
              <a:t>“SGDR: </a:t>
            </a:r>
            <a:r>
              <a:rPr sz="800" spc="-5" dirty="0">
                <a:latin typeface="Garamond" panose="02020404030301010803" pitchFamily="18" charset="0"/>
                <a:cs typeface="Arial"/>
              </a:rPr>
              <a:t>Stochastic gradient descent with </a:t>
            </a:r>
            <a:r>
              <a:rPr sz="800" dirty="0">
                <a:latin typeface="Garamond" panose="02020404030301010803" pitchFamily="18" charset="0"/>
                <a:cs typeface="Arial"/>
              </a:rPr>
              <a:t>restarts”, </a:t>
            </a:r>
            <a:r>
              <a:rPr sz="800" spc="-5" dirty="0">
                <a:latin typeface="Garamond" panose="02020404030301010803" pitchFamily="18" charset="0"/>
                <a:cs typeface="Arial"/>
              </a:rPr>
              <a:t>arXiv 2016  Huang et al, </a:t>
            </a:r>
            <a:r>
              <a:rPr sz="800" dirty="0">
                <a:latin typeface="Garamond" panose="02020404030301010803" pitchFamily="18" charset="0"/>
                <a:cs typeface="Arial"/>
              </a:rPr>
              <a:t>“Snapshot </a:t>
            </a:r>
            <a:r>
              <a:rPr sz="800" spc="-5" dirty="0">
                <a:latin typeface="Garamond" panose="02020404030301010803" pitchFamily="18" charset="0"/>
                <a:cs typeface="Arial"/>
              </a:rPr>
              <a:t>ensembles: train 1, get </a:t>
            </a:r>
            <a:r>
              <a:rPr sz="800" dirty="0">
                <a:latin typeface="Garamond" panose="02020404030301010803" pitchFamily="18" charset="0"/>
                <a:cs typeface="Arial"/>
              </a:rPr>
              <a:t>M </a:t>
            </a:r>
            <a:r>
              <a:rPr sz="800" spc="-5" dirty="0">
                <a:latin typeface="Garamond" panose="02020404030301010803" pitchFamily="18" charset="0"/>
                <a:cs typeface="Arial"/>
              </a:rPr>
              <a:t>for free”, ICLR</a:t>
            </a:r>
            <a:r>
              <a:rPr sz="800" spc="-35" dirty="0">
                <a:latin typeface="Garamond" panose="02020404030301010803" pitchFamily="18" charset="0"/>
                <a:cs typeface="Arial"/>
              </a:rPr>
              <a:t> </a:t>
            </a:r>
            <a:r>
              <a:rPr sz="800" spc="-5" dirty="0">
                <a:latin typeface="Garamond" panose="02020404030301010803" pitchFamily="18" charset="0"/>
                <a:cs typeface="Arial"/>
              </a:rPr>
              <a:t>2017</a:t>
            </a:r>
            <a:endParaRPr sz="800" dirty="0">
              <a:latin typeface="Garamond" panose="02020404030301010803" pitchFamily="18" charset="0"/>
              <a:cs typeface="Arial"/>
            </a:endParaRPr>
          </a:p>
          <a:p>
            <a:pPr marL="12700">
              <a:spcBef>
                <a:spcPts val="15"/>
              </a:spcBef>
            </a:pPr>
            <a:r>
              <a:rPr sz="800" spc="-5" dirty="0">
                <a:latin typeface="Garamond" panose="02020404030301010803" pitchFamily="18" charset="0"/>
                <a:cs typeface="Arial"/>
              </a:rPr>
              <a:t>Figures </a:t>
            </a:r>
            <a:r>
              <a:rPr sz="800" dirty="0">
                <a:latin typeface="Garamond" panose="02020404030301010803" pitchFamily="18" charset="0"/>
                <a:cs typeface="Arial"/>
              </a:rPr>
              <a:t>copyright </a:t>
            </a:r>
            <a:r>
              <a:rPr sz="800" spc="-10" dirty="0">
                <a:latin typeface="Garamond" panose="02020404030301010803" pitchFamily="18" charset="0"/>
                <a:cs typeface="Arial"/>
              </a:rPr>
              <a:t>Yixuan </a:t>
            </a:r>
            <a:r>
              <a:rPr sz="800" spc="-5" dirty="0">
                <a:latin typeface="Garamond" panose="02020404030301010803" pitchFamily="18" charset="0"/>
                <a:cs typeface="Arial"/>
              </a:rPr>
              <a:t>Li and </a:t>
            </a:r>
            <a:r>
              <a:rPr sz="800" spc="-10" dirty="0">
                <a:latin typeface="Garamond" panose="02020404030301010803" pitchFamily="18" charset="0"/>
                <a:cs typeface="Arial"/>
              </a:rPr>
              <a:t>Geoff </a:t>
            </a:r>
            <a:r>
              <a:rPr sz="800" spc="-5" dirty="0">
                <a:latin typeface="Garamond" panose="02020404030301010803" pitchFamily="18" charset="0"/>
                <a:cs typeface="Arial"/>
              </a:rPr>
              <a:t>Pleiss, 2017. Reproduced with</a:t>
            </a:r>
            <a:r>
              <a:rPr sz="800" spc="-40" dirty="0">
                <a:latin typeface="Garamond" panose="02020404030301010803" pitchFamily="18" charset="0"/>
                <a:cs typeface="Arial"/>
              </a:rPr>
              <a:t> </a:t>
            </a:r>
            <a:r>
              <a:rPr sz="800" spc="-5" dirty="0">
                <a:latin typeface="Garamond" panose="02020404030301010803" pitchFamily="18" charset="0"/>
                <a:cs typeface="Arial"/>
              </a:rPr>
              <a:t>permission.</a:t>
            </a:r>
            <a:endParaRPr sz="8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E55142-69DC-4EDD-856C-D943834CA78B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57925" y="5574843"/>
            <a:ext cx="8875395" cy="273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  <a:tabLst>
                <a:tab pos="5253355" algn="l"/>
                <a:tab pos="7310755" algn="l"/>
              </a:tabLst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Fei-Fei Li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&amp; Justin Johnson &amp;</a:t>
            </a:r>
            <a:r>
              <a:rPr spc="-1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Serena</a:t>
            </a:r>
            <a:r>
              <a:rPr spc="-3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4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Yeung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	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April 25,</a:t>
            </a:r>
            <a:r>
              <a:rPr sz="3000" spc="-142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2019</a:t>
            </a:r>
            <a:endParaRPr sz="3000" baseline="-4166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99119" y="5562144"/>
            <a:ext cx="123888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7</a:t>
            </a:r>
            <a:r>
              <a:rPr sz="2000" spc="-9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-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7456513" y="4704893"/>
            <a:ext cx="159004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310"/>
              </a:lnSpc>
            </a:pPr>
            <a:r>
              <a:rPr lang="en-US" spc="-5" dirty="0">
                <a:latin typeface="Garamond" panose="02020404030301010803" pitchFamily="18" charset="0"/>
              </a:rPr>
              <a:t>April 25,</a:t>
            </a:r>
            <a:r>
              <a:rPr lang="en-US" spc="-90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145224" y="4709647"/>
            <a:ext cx="44907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Fei-Fei Li </a:t>
            </a:r>
            <a:r>
              <a:rPr lang="en-US" dirty="0">
                <a:latin typeface="Garamond" panose="02020404030301010803" pitchFamily="18" charset="0"/>
              </a:rPr>
              <a:t>&amp; Justin Johnson &amp; </a:t>
            </a:r>
            <a:r>
              <a:rPr lang="en-US" spc="-5" dirty="0">
                <a:latin typeface="Garamond" panose="02020404030301010803" pitchFamily="18" charset="0"/>
              </a:rPr>
              <a:t>Serena</a:t>
            </a:r>
            <a:r>
              <a:rPr lang="en-US" spc="-145" dirty="0">
                <a:latin typeface="Garamond" panose="02020404030301010803" pitchFamily="18" charset="0"/>
              </a:rPr>
              <a:t> </a:t>
            </a:r>
            <a:r>
              <a:rPr lang="en-US" spc="-40" dirty="0">
                <a:latin typeface="Garamond" panose="02020404030301010803" pitchFamily="18" charset="0"/>
              </a:rPr>
              <a:t>Yeung</a:t>
            </a:r>
            <a:endParaRPr spc="-40" dirty="0">
              <a:latin typeface="Garamond" panose="02020404030301010803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89947" y="5570691"/>
            <a:ext cx="566420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10"/>
              </a:lnSpc>
            </a:pPr>
            <a:fld id="{81D60167-4931-47E6-BA6A-407CBD079E47}" type="slidenum">
              <a:rPr sz="200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pPr marL="38100">
                <a:lnSpc>
                  <a:spcPts val="2310"/>
                </a:lnSpc>
              </a:pPr>
              <a:t>47</a:t>
            </a:fld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373" y="1690984"/>
            <a:ext cx="4965065" cy="2775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665" indent="-355600">
              <a:spcBef>
                <a:spcPts val="100"/>
              </a:spcBef>
              <a:buChar char="-"/>
              <a:tabLst>
                <a:tab pos="367665" algn="l"/>
                <a:tab pos="368300" algn="l"/>
              </a:tabLst>
            </a:pPr>
            <a:r>
              <a:rPr sz="3000" spc="-5" dirty="0">
                <a:latin typeface="Garamond" panose="02020404030301010803" pitchFamily="18" charset="0"/>
                <a:cs typeface="Arial"/>
              </a:rPr>
              <a:t>Improve </a:t>
            </a:r>
            <a:r>
              <a:rPr sz="3000" dirty="0">
                <a:latin typeface="Garamond" panose="02020404030301010803" pitchFamily="18" charset="0"/>
                <a:cs typeface="Arial"/>
              </a:rPr>
              <a:t>your </a:t>
            </a:r>
            <a:r>
              <a:rPr sz="3000" spc="-5" dirty="0">
                <a:latin typeface="Garamond" panose="02020404030301010803" pitchFamily="18" charset="0"/>
                <a:cs typeface="Arial"/>
              </a:rPr>
              <a:t>training</a:t>
            </a:r>
            <a:r>
              <a:rPr sz="3000" spc="-110" dirty="0">
                <a:latin typeface="Garamond" panose="02020404030301010803" pitchFamily="18" charset="0"/>
                <a:cs typeface="Arial"/>
              </a:rPr>
              <a:t> </a:t>
            </a:r>
            <a:r>
              <a:rPr sz="3000" spc="-5" dirty="0">
                <a:latin typeface="Garamond" panose="02020404030301010803" pitchFamily="18" charset="0"/>
                <a:cs typeface="Arial"/>
              </a:rPr>
              <a:t>error:</a:t>
            </a:r>
            <a:endParaRPr sz="3000" dirty="0">
              <a:latin typeface="Garamond" panose="02020404030301010803" pitchFamily="18" charset="0"/>
              <a:cs typeface="Arial"/>
            </a:endParaRPr>
          </a:p>
          <a:p>
            <a:pPr marL="824865" lvl="1" indent="-330835">
              <a:lnSpc>
                <a:spcPts val="2865"/>
              </a:lnSpc>
              <a:spcBef>
                <a:spcPts val="20"/>
              </a:spcBef>
              <a:buChar char="-"/>
              <a:tabLst>
                <a:tab pos="824865" algn="l"/>
                <a:tab pos="825500" algn="l"/>
              </a:tabLst>
            </a:pPr>
            <a:r>
              <a:rPr sz="2400" spc="-5" dirty="0">
                <a:latin typeface="Garamond" panose="02020404030301010803" pitchFamily="18" charset="0"/>
                <a:cs typeface="Arial"/>
              </a:rPr>
              <a:t>Optimizers</a:t>
            </a:r>
            <a:endParaRPr sz="2400" dirty="0">
              <a:latin typeface="Garamond" panose="02020404030301010803" pitchFamily="18" charset="0"/>
              <a:cs typeface="Arial"/>
            </a:endParaRPr>
          </a:p>
          <a:p>
            <a:pPr marL="824865" lvl="1" indent="-330835">
              <a:lnSpc>
                <a:spcPts val="2840"/>
              </a:lnSpc>
              <a:buChar char="-"/>
              <a:tabLst>
                <a:tab pos="824865" algn="l"/>
                <a:tab pos="825500" algn="l"/>
              </a:tabLst>
            </a:pPr>
            <a:r>
              <a:rPr sz="2400" spc="-5" dirty="0">
                <a:latin typeface="Garamond" panose="02020404030301010803" pitchFamily="18" charset="0"/>
                <a:cs typeface="Arial"/>
              </a:rPr>
              <a:t>Learning </a:t>
            </a:r>
            <a:r>
              <a:rPr sz="2400" dirty="0">
                <a:latin typeface="Garamond" panose="02020404030301010803" pitchFamily="18" charset="0"/>
                <a:cs typeface="Arial"/>
              </a:rPr>
              <a:t>rate</a:t>
            </a:r>
            <a:r>
              <a:rPr sz="2400" spc="-25" dirty="0">
                <a:latin typeface="Garamond" panose="02020404030301010803" pitchFamily="18" charset="0"/>
                <a:cs typeface="Arial"/>
              </a:rPr>
              <a:t> </a:t>
            </a:r>
            <a:r>
              <a:rPr sz="2400" dirty="0">
                <a:latin typeface="Garamond" panose="02020404030301010803" pitchFamily="18" charset="0"/>
                <a:cs typeface="Arial"/>
              </a:rPr>
              <a:t>schedules</a:t>
            </a:r>
          </a:p>
          <a:p>
            <a:pPr marL="367665" indent="-355600">
              <a:lnSpc>
                <a:spcPts val="3575"/>
              </a:lnSpc>
              <a:buChar char="-"/>
              <a:tabLst>
                <a:tab pos="367665" algn="l"/>
                <a:tab pos="368300" algn="l"/>
              </a:tabLst>
            </a:pPr>
            <a:r>
              <a:rPr sz="3000" spc="-5" dirty="0">
                <a:latin typeface="Garamond" panose="02020404030301010803" pitchFamily="18" charset="0"/>
                <a:cs typeface="Arial"/>
              </a:rPr>
              <a:t>Improve </a:t>
            </a:r>
            <a:r>
              <a:rPr sz="3000" dirty="0">
                <a:latin typeface="Garamond" panose="02020404030301010803" pitchFamily="18" charset="0"/>
                <a:cs typeface="Arial"/>
              </a:rPr>
              <a:t>your </a:t>
            </a:r>
            <a:r>
              <a:rPr sz="3000" spc="-5" dirty="0">
                <a:latin typeface="Garamond" panose="02020404030301010803" pitchFamily="18" charset="0"/>
                <a:cs typeface="Arial"/>
              </a:rPr>
              <a:t>test</a:t>
            </a:r>
            <a:r>
              <a:rPr sz="3000" spc="-50" dirty="0">
                <a:latin typeface="Garamond" panose="02020404030301010803" pitchFamily="18" charset="0"/>
                <a:cs typeface="Arial"/>
              </a:rPr>
              <a:t> </a:t>
            </a:r>
            <a:r>
              <a:rPr sz="3000" spc="-5" dirty="0">
                <a:latin typeface="Garamond" panose="02020404030301010803" pitchFamily="18" charset="0"/>
                <a:cs typeface="Arial"/>
              </a:rPr>
              <a:t>error:</a:t>
            </a:r>
            <a:endParaRPr sz="3000" dirty="0">
              <a:latin typeface="Garamond" panose="02020404030301010803" pitchFamily="18" charset="0"/>
              <a:cs typeface="Arial"/>
            </a:endParaRPr>
          </a:p>
          <a:p>
            <a:pPr marL="824865" lvl="1" indent="-356235">
              <a:buSzPct val="125000"/>
              <a:buChar char="-"/>
              <a:tabLst>
                <a:tab pos="824865" algn="l"/>
                <a:tab pos="825500" algn="l"/>
              </a:tabLst>
            </a:pPr>
            <a:r>
              <a:rPr sz="2400" spc="-5" dirty="0">
                <a:latin typeface="Garamond" panose="02020404030301010803" pitchFamily="18" charset="0"/>
                <a:cs typeface="Arial"/>
              </a:rPr>
              <a:t>Regularization</a:t>
            </a:r>
            <a:endParaRPr sz="2400" dirty="0">
              <a:latin typeface="Garamond" panose="02020404030301010803" pitchFamily="18" charset="0"/>
              <a:cs typeface="Arial"/>
            </a:endParaRPr>
          </a:p>
          <a:p>
            <a:pPr marL="824865" lvl="1" indent="-330835">
              <a:spcBef>
                <a:spcPts val="25"/>
              </a:spcBef>
              <a:buChar char="-"/>
              <a:tabLst>
                <a:tab pos="824865" algn="l"/>
                <a:tab pos="825500" algn="l"/>
              </a:tabLst>
            </a:pPr>
            <a:r>
              <a:rPr sz="2400" spc="-5" dirty="0">
                <a:latin typeface="Garamond" panose="02020404030301010803" pitchFamily="18" charset="0"/>
                <a:cs typeface="Arial"/>
              </a:rPr>
              <a:t>Choosing</a:t>
            </a:r>
            <a:r>
              <a:rPr sz="2400" spc="-25" dirty="0">
                <a:latin typeface="Garamond" panose="02020404030301010803" pitchFamily="18" charset="0"/>
                <a:cs typeface="Arial"/>
              </a:rPr>
              <a:t> </a:t>
            </a:r>
            <a:r>
              <a:rPr lang="en-US" sz="2400" spc="-5" dirty="0">
                <a:latin typeface="Garamond" panose="02020404030301010803" pitchFamily="18" charset="0"/>
                <a:cs typeface="Arial"/>
              </a:rPr>
              <a:t>h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yperparameters</a:t>
            </a:r>
            <a:endParaRPr lang="en-US" sz="2400" spc="-5" dirty="0">
              <a:latin typeface="Garamond" panose="02020404030301010803" pitchFamily="18" charset="0"/>
              <a:cs typeface="Arial"/>
            </a:endParaRPr>
          </a:p>
          <a:p>
            <a:pPr marL="824865" lvl="1" indent="-330835">
              <a:spcBef>
                <a:spcPts val="25"/>
              </a:spcBef>
              <a:buChar char="-"/>
              <a:tabLst>
                <a:tab pos="824865" algn="l"/>
                <a:tab pos="825500" algn="l"/>
              </a:tabLst>
            </a:pPr>
            <a:r>
              <a:rPr lang="en-US" sz="2400" spc="-5" dirty="0">
                <a:latin typeface="Garamond" panose="02020404030301010803" pitchFamily="18" charset="0"/>
                <a:cs typeface="Arial"/>
              </a:rPr>
              <a:t>Model ensembles</a:t>
            </a:r>
            <a:endParaRPr sz="24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19ED98B-1079-4656-A5AC-C4D71E7C3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Summary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5CB10E-4F2B-45DF-9117-31887AD5DD65}"/>
              </a:ext>
            </a:extLst>
          </p:cNvPr>
          <p:cNvSpPr txBox="1"/>
          <p:nvPr/>
        </p:nvSpPr>
        <p:spPr>
          <a:xfrm>
            <a:off x="0" y="6604084"/>
            <a:ext cx="31245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Adapted from Fei-Fei Li, Justin Johnson, Serena Yeung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5571</TotalTime>
  <Words>3349</Words>
  <Application>Microsoft Macintosh PowerPoint</Application>
  <PresentationFormat>On-screen Show (4:3)</PresentationFormat>
  <Paragraphs>455</Paragraphs>
  <Slides>47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Arial</vt:lpstr>
      <vt:lpstr>Garamond</vt:lpstr>
      <vt:lpstr>Times New Roman</vt:lpstr>
      <vt:lpstr>1_Office Theme</vt:lpstr>
      <vt:lpstr>3_Default Design</vt:lpstr>
      <vt:lpstr>2_Office Theme</vt:lpstr>
      <vt:lpstr>PowerPoint Presentation</vt:lpstr>
      <vt:lpstr>Convergence of training</vt:lpstr>
      <vt:lpstr>Successful training</vt:lpstr>
      <vt:lpstr>Loss surfaces </vt:lpstr>
      <vt:lpstr>Convexity </vt:lpstr>
      <vt:lpstr>The loss surface</vt:lpstr>
      <vt:lpstr>The loss surface</vt:lpstr>
      <vt:lpstr>Conditions for convergence</vt:lpstr>
      <vt:lpstr>Convergence and convergence rate</vt:lpstr>
      <vt:lpstr>Convergence and convergence rate</vt:lpstr>
      <vt:lpstr>With non-optimal step size</vt:lpstr>
      <vt:lpstr>Optimization strategies</vt:lpstr>
      <vt:lpstr>Getting to the minimum</vt:lpstr>
      <vt:lpstr>Optimization</vt:lpstr>
      <vt:lpstr>Optimization:  Problems with SGD</vt:lpstr>
      <vt:lpstr>Optimization:  Problems with SGD</vt:lpstr>
      <vt:lpstr>Optimization:  Problems with SGD</vt:lpstr>
      <vt:lpstr>PowerPoint Presentation</vt:lpstr>
      <vt:lpstr>SGD + Momentum</vt:lpstr>
      <vt:lpstr>AdaGrad</vt:lpstr>
      <vt:lpstr>AdaGrad</vt:lpstr>
      <vt:lpstr>AdaGrad</vt:lpstr>
      <vt:lpstr>RMSProp (Root Mean Squared Propagation)</vt:lpstr>
      <vt:lpstr>Adam</vt:lpstr>
      <vt:lpstr>Optimizers comparison</vt:lpstr>
      <vt:lpstr>Visualization</vt:lpstr>
      <vt:lpstr>SGD, SGD+Momentum, Adagrad, RMSProp, Adam all have learning rate as a hyperparameter.</vt:lpstr>
      <vt:lpstr>PowerPoint Presentation</vt:lpstr>
      <vt:lpstr>PowerPoint Presentation</vt:lpstr>
      <vt:lpstr>SGD, SGD+Momentum, Adagrad, RMSProp, Adam all have learning rate as a hyperparameter.</vt:lpstr>
      <vt:lpstr>PowerPoint Presentation</vt:lpstr>
      <vt:lpstr>PowerPoint Presentation</vt:lpstr>
      <vt:lpstr>Loss</vt:lpstr>
      <vt:lpstr>Choosing Hyperparameters</vt:lpstr>
      <vt:lpstr>Choosing Hyperparameters</vt:lpstr>
      <vt:lpstr>Choosing Hyperparameters</vt:lpstr>
      <vt:lpstr>Choosing Hyperparameters</vt:lpstr>
      <vt:lpstr>Choosing Hyperparameters</vt:lpstr>
      <vt:lpstr>Choosing Hyperparameters</vt:lpstr>
      <vt:lpstr>Look at learning curves!</vt:lpstr>
      <vt:lpstr>Accuracy still going up, you  need to train longer</vt:lpstr>
      <vt:lpstr>Huge train / val gap means  overfitting! Increase regularization,  get more data</vt:lpstr>
      <vt:lpstr>No gap between train / val means  underfitting: train longer, use a  bigger model</vt:lpstr>
      <vt:lpstr>Model Ensembles</vt:lpstr>
      <vt:lpstr>Model Ensembles: Tips and Tricks</vt:lpstr>
      <vt:lpstr>Model Ensembles: Tips and Tricks</vt:lpstr>
      <vt:lpstr>Summary</vt:lpstr>
    </vt:vector>
  </TitlesOfParts>
  <Company>University of Pittsburgh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1678: Intro to Deep Learning</dc:title>
  <dc:creator>Adriana I. Kovashka</dc:creator>
  <cp:lastModifiedBy>Fan, Heng</cp:lastModifiedBy>
  <cp:revision>391</cp:revision>
  <dcterms:created xsi:type="dcterms:W3CDTF">2015-04-17T19:15:42Z</dcterms:created>
  <dcterms:modified xsi:type="dcterms:W3CDTF">2026-02-10T16:06:16Z</dcterms:modified>
</cp:coreProperties>
</file>